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【つかみ／45秒】</a:t>
            </a:r>
          </a:p>
          <a:p>
            <a:r>
              <a:t>オープンキャンパスへようこそ。福山大学 経済学部 国際経済学科です。</a:t>
            </a:r>
          </a:p>
          <a:p/>
          <a:p>
            <a:r>
              <a:t>まず、この写真を指してください。</a:t>
            </a:r>
          </a:p>
          <a:p>
            <a:r>
              <a:t>「これは去年、うちの2年生がニュージーランドで撮った写真です。この写真の話は、あとでもう一度出てきます。」</a:t>
            </a:r>
          </a:p>
          <a:p>
            <a:r>
              <a:t>※14枚目で「これが9人です」と答え合わせをします。人物が写っていない写真を使う場合は、</a:t>
            </a:r>
          </a:p>
          <a:p>
            <a:r>
              <a:t>　14枚目のセリフを「表紙でお見せした写真、覚えていますか。そこへ行ったのがこの9人です」に変えてください。</a:t>
            </a:r>
          </a:p>
          <a:p>
            <a:r>
              <a:t>——ここで種を蒔いておくと、14枚目の答え合わせで空気が変わります。必ず言ってください。</a:t>
            </a:r>
          </a:p>
          <a:p/>
          <a:p>
            <a:r>
              <a:t>自分の名前は、次の自己紹介スライドで名乗ります。ここでは学科名だけで十分です。</a:t>
            </a:r>
          </a:p>
          <a:p>
            <a:r>
              <a:t>保護者の方が後方にいる場合は、この時点で一度、後方にも目線を送ってください。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【場をあたためる／60秒】</a:t>
            </a:r>
          </a:p>
          <a:p>
            <a:r>
              <a:t>Slido が使える会場なら、旧版どおりアイコン投票にしてください。使えなければ、この3択で挙手を取ります。</a:t>
            </a:r>
          </a:p>
          <a:p/>
          <a:p>
            <a:r>
              <a:t>コツは3つ。</a:t>
            </a:r>
          </a:p>
          <a:p>
            <a:r>
              <a:t>1. 自分が先に手を挙げて見本を見せる。</a:t>
            </a:r>
          </a:p>
          <a:p>
            <a:r>
              <a:t>2. 「正直、まだねむい」で必ず笑いが起きます。ここで一度笑わせておくと、後半の質問が出やすくなります。</a:t>
            </a:r>
          </a:p>
          <a:p>
            <a:r>
              <a:t>3. 保護者にも振る。「保護者の方も、ぜひ」。ここで保護者を"観客"から"参加者"に変えておくのが狙いです。</a:t>
            </a:r>
          </a:p>
          <a:p/>
          <a:p>
            <a:r>
              <a:t>余裕があれば「今日ここに来た理由」も拾ってください。ただし**拾うのは2〜3人まで**。</a:t>
            </a:r>
          </a:p>
          <a:p>
            <a:r>
              <a:t>全員に振ると冒頭で簡単に1分超過します。時間がなければ拾わなくて構いません。</a:t>
            </a:r>
          </a:p>
          <a:p>
            <a:r>
              <a:t>拾った言葉を使うのは18枚目（英語が苦手でも大丈夫）です。使い先はそこ1枚に固定してあります。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【地図を渡す＋伏線を張る／45秒】</a:t>
            </a:r>
          </a:p>
          <a:p>
            <a:r>
              <a:t>口頭で必ず言う3文。スライドには書いていません。</a:t>
            </a:r>
          </a:p>
          <a:p>
            <a:r>
              <a:t>1「◯分ほどで終わります。時計は見なくて大丈夫です。」——**持ち時間に合わせて実際の数字を入れること。**</a:t>
            </a:r>
          </a:p>
          <a:p>
            <a:r>
              <a:t>　フル26枚は約29分です。20分枠なら、進行表.mdの「20分コース」に従って事前に7枚を非表示にしてください。</a:t>
            </a:r>
          </a:p>
          <a:p>
            <a:r>
              <a:t>2「途中でも、気になったところで手を挙げてください。」——実際に声に出して一度言うこと。言っておくだけで質問の出る確率が変わります。</a:t>
            </a:r>
          </a:p>
          <a:p>
            <a:r>
              <a:t>3「今日いちばん話したいのは、真ん中の②です。①はその前フリだと思って聞いてください。」</a:t>
            </a:r>
          </a:p>
          <a:p/>
          <a:p>
            <a:r>
              <a:t>そのうえで、帯の一文を読み上げます。</a:t>
            </a:r>
          </a:p>
          <a:p>
            <a:r>
              <a:t>「今日、数字を1つだけ覚えて帰ってください。何の数字かは、②のところで言います。」</a:t>
            </a:r>
          </a:p>
          <a:p>
            <a:r>
              <a:t>——これが2本目の伏線（1本目は表紙の写真）です。16枚目の「95万円」で必ず回収してください。</a:t>
            </a:r>
          </a:p>
          <a:p>
            <a:r>
              <a:t>答えを先に言わないこと。ここで言うと山場が消えます。</a:t>
            </a:r>
          </a:p>
          <a:p/>
          <a:p>
            <a:r>
              <a:t>保護者向けには、③を指して「お金の話は最後にきちんとします」と一言添えると、最後まで残る理由になります。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【人柄を見せる／2分30秒】</a:t>
            </a:r>
          </a:p>
          <a:p>
            <a:r>
              <a:t>名前の読みはスライドに書いていません。ここで口頭で名乗ってください。</a:t>
            </a:r>
          </a:p>
          <a:p>
            <a:r>
              <a:t>肩書きより、現場の話をしてください。「毎年フィンランドに飛んで、まちのお金の流れを調べています。」</a:t>
            </a:r>
          </a:p>
          <a:p/>
          <a:p>
            <a:r>
              <a:t>あげ太くんは実物を持参して、ここで出してください。ここが本日いちばん笑いが取れる場所です。</a:t>
            </a:r>
          </a:p>
          <a:p>
            <a:r>
              <a:t>笑わせたあとに、そのまま研究室訪問の誘い文句につなげます。</a:t>
            </a:r>
          </a:p>
          <a:p>
            <a:r>
              <a:t>「研究室にはEUの傘とフィンランドの国旗があります。あげ太くんもいます。いつでも見に来てください。」</a:t>
            </a:r>
          </a:p>
          <a:p/>
          <a:p>
            <a:r>
              <a:t>締めのひとことで、次のクイズへ橋を架けます。</a:t>
            </a:r>
          </a:p>
          <a:p>
            <a:r>
              <a:t>「では質問です。なぜ広島の大学の教員が、北欧のお金の研究をしているんでしょう？</a:t>
            </a:r>
          </a:p>
          <a:p>
            <a:r>
              <a:t> ——その答えの前に、そもそも経済学って何の学問だと思いますか？」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【全員を参加させる／45秒】</a:t>
            </a:r>
          </a:p>
          <a:p>
            <a:r>
              <a:t>必ず3回とも挙手を取ってください。A、B、C の順に、一つずつ。</a:t>
            </a:r>
          </a:p>
          <a:p>
            <a:r>
              <a:t>挙手が少なくても粘ること。「じゃあ、まだ手を挙げていない人？」まで言うと、ほぼ全員が参加します。</a:t>
            </a:r>
          </a:p>
          <a:p/>
          <a:p>
            <a:r>
              <a:t>いちばん多かった選択肢を口に出して受け止めます。「Aが多いですね。よくある答えです。」</a:t>
            </a:r>
          </a:p>
          <a:p>
            <a:r>
              <a:t>——ここで「不正解」とは言わないこと。次の1枚で優しくひっくり返します。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【学問の入口を開く／60秒】</a:t>
            </a:r>
          </a:p>
          <a:p>
            <a:r>
              <a:t>まず一度はっきり否定してから定義に入ると、耳が向きます。</a:t>
            </a:r>
          </a:p>
          <a:p>
            <a:r>
              <a:t>「経済学＝お金もうけ、ではありません。限られたものを、どう配るか。それを数字で考える学問です。」</a:t>
            </a:r>
          </a:p>
          <a:p/>
          <a:p>
            <a:r>
              <a:t>3つの例は、指しながらテンポよく読んでください。ここは速くて構いません。</a:t>
            </a:r>
          </a:p>
          <a:p>
            <a:r>
              <a:t>口頭で4つ目を足します。「それから、会社の海外進出も経済学です。ぜんぶ守備範囲です。」</a:t>
            </a:r>
          </a:p>
          <a:p/>
          <a:p>
            <a:r>
              <a:t>最後に、さっきの問いを回収します。</a:t>
            </a:r>
          </a:p>
          <a:p>
            <a:r>
              <a:t>「なぜ広島の教員が北欧のお金を研究するのか。世界と地域はつながっているからです。</a:t>
            </a:r>
          </a:p>
          <a:p>
            <a:r>
              <a:t> だから、うちの学科の名前は"国際"経済学科です。」</a:t>
            </a:r>
          </a:p>
          <a:p/>
          <a:p>
            <a:r>
              <a:t>※時間が押しているときは、この1枚は速足で通過して構いません（クイズとセットなので、削るなら2枚同時に）。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【区切り／10秒】</a:t>
            </a:r>
          </a:p>
          <a:p>
            <a:r>
              <a:t>読み上げる必要はありません。1〜2秒見せて、すぐ次へ。</a:t>
            </a:r>
          </a:p>
          <a:p>
            <a:r>
              <a:t>区切りスライドは「話の切れ目」を体で分からせるための装置です。ここで一度、間を取ってください。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【学科の骨格／80秒】</a:t>
            </a:r>
          </a:p>
          <a:p>
            <a:r>
              <a:t>01は「40名」を強調。「学年で40人です。高校の1クラスと同じくらいの人数です。」</a:t>
            </a:r>
          </a:p>
          <a:p>
            <a:r>
              <a:t>——保護者にはここが効きます。面倒見の良さの根拠になります。</a:t>
            </a:r>
          </a:p>
          <a:p/>
          <a:p>
            <a:r>
              <a:t>02は「勉強」と「トレーニング」の対比だけ言えば十分。中身は18枚目で詳しくやります。</a:t>
            </a:r>
          </a:p>
          <a:p/>
          <a:p>
            <a:r>
              <a:t>03は「これは次に詳しく話します」と言って、Big Jump への導線にしてください。</a:t>
            </a:r>
          </a:p>
          <a:p>
            <a:r>
              <a:t>3枚のカードを全部読み上げないこと。指しながら、キーワードだけ拾います。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【信頼をつくる／65秒】</a:t>
            </a:r>
          </a:p>
          <a:p>
            <a:r>
              <a:t>機関名は具体的に、ゆっくり読んでください。ここは具体名を出すほど効きます。</a:t>
            </a:r>
          </a:p>
          <a:p>
            <a:r>
              <a:t>アジア開発銀行、世界銀行、内閣府、外資系投資銀行。</a:t>
            </a:r>
          </a:p>
          <a:p/>
          <a:p>
            <a:r>
              <a:t>「40人の学年に対して、専任の教員が8人います」と人数比で言うと、少人数教育の実感が伝わります。</a:t>
            </a:r>
          </a:p>
          <a:p/>
          <a:p>
            <a:r>
              <a:t>※教員一覧が当日の配布物に載っているかは未確認です。**現物を確認してから言うこと。**</a:t>
            </a:r>
          </a:p>
          <a:p>
            <a:r>
              <a:t>　載っていれば「配ったチラシの◯面に、8人の顔ぶれが載っています」と面まで言って手元を見させる。</a:t>
            </a:r>
          </a:p>
          <a:p>
            <a:r>
              <a:t>　載っていなければ「名前と専門は、このあと個別にお伝えします」にとどめ、チラシを指さないこと。</a:t>
            </a:r>
          </a:p>
          <a:p/>
          <a:p>
            <a:r>
              <a:t>※旧版にあった教員一覧の表は、この会場では読めないので外しました。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【本題の宣言／15秒】</a:t>
            </a:r>
          </a:p>
          <a:p>
            <a:r>
              <a:t>ここで一度、はっきり間を取ってください。</a:t>
            </a:r>
          </a:p>
          <a:p>
            <a:r>
              <a:t>「ここからが、今日の本題です。」</a:t>
            </a:r>
          </a:p>
          <a:p>
            <a:r>
              <a:t>——この一言のために区切りを入れています。急がないこと。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【今日の山場／2分20秒】</a:t>
            </a:r>
          </a:p>
          <a:p>
            <a:r>
              <a:t>この1枚だけは、時間をかけてください。まず一言。</a:t>
            </a:r>
          </a:p>
          <a:p>
            <a:r>
              <a:t>「いきなり『留学しろ』とは言いません。1段ずつ上ります。」</a:t>
            </a:r>
          </a:p>
          <a:p>
            <a:r>
              <a:t>そのうえで左から順に、指しながら話します。</a:t>
            </a:r>
          </a:p>
          <a:p/>
          <a:p>
            <a:r>
              <a:t>1年生：Big Jump の派遣はまだありません。まず検定を受けます。その受験料を大学が出します。3万円。</a:t>
            </a:r>
          </a:p>
          <a:p>
            <a:r>
              <a:t>　　　（1年次から参加できるバリ島研修は別にあります。聞かれたら答えてください。）</a:t>
            </a:r>
          </a:p>
          <a:p>
            <a:r>
              <a:t>2年生：5週間、オーストラリアかニュージーランドへ。研修費30万円。ただしこれは選抜で、10名程度です。</a:t>
            </a:r>
          </a:p>
          <a:p>
            <a:r>
              <a:t>3年生：半年から1年の留学。最大62万円。こちらも選抜で10名程度です。条件は16枚目で正直に話します。</a:t>
            </a:r>
          </a:p>
          <a:p>
            <a:r>
              <a:t>4年生：それを、就職活動で使います。</a:t>
            </a:r>
          </a:p>
          <a:p/>
          <a:p>
            <a:r>
              <a:t>締めのひとこと：「階段になっているのがポイントです。いきなり留学しろとは言いません。」</a:t>
            </a:r>
          </a:p>
          <a:p/>
          <a:p>
            <a:r>
              <a:t>【時間がないときの保険】</a:t>
            </a:r>
          </a:p>
          <a:p>
            <a:r>
              <a:t>押しているなら、12・13・15を飛ばして 11 →（14枚目の写真）→ 16枚目「お金の話」とつないでください。</a:t>
            </a:r>
          </a:p>
          <a:p>
            <a:r>
              <a:t>**14枚目だけは、何があっても飛ばさないこと。** 表紙で約束した写真の答え合わせが、そこにしかありません。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【1段目／70秒】</a:t>
            </a:r>
          </a:p>
          <a:p>
            <a:r>
              <a:t>「英検・TOEFL・IELTSの受験料が、戻ってきます。」——具体を言うこと。</a:t>
            </a:r>
          </a:p>
          <a:p/>
          <a:p>
            <a:r>
              <a:t>※「1年生は海外に行かない」とは言わないこと。1年次から参加できるバリ島研修が別にあります。</a:t>
            </a:r>
          </a:p>
          <a:p>
            <a:r>
              <a:t>　ここで話しているのは Big Jump の派遣のことです。聞かれたら「バリ島研修は1年生から行けます」と答えてください。</a:t>
            </a:r>
          </a:p>
          <a:p/>
          <a:p>
            <a:r>
              <a:t>そのうえで一言添えます。「英語が得意でなくても、まず受けてみるところから始められます。」</a:t>
            </a:r>
          </a:p>
          <a:p>
            <a:r>
              <a:t>ここは"苦手な子でも入れる入口"を見せる場所です。</a:t>
            </a:r>
          </a:p>
          <a:p/>
          <a:p>
            <a:r>
              <a:t>下の注記は、質問が出たときだけ触れてください。自分から読み上げる必要はありません。</a:t>
            </a:r>
          </a:p>
          <a:p>
            <a:r>
              <a:t>【削る優先度：3番目】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【2段目／70秒】</a:t>
            </a:r>
          </a:p>
          <a:p>
            <a:r>
              <a:t>「5週間」の長さの感覚を伝えてください。「夏休みより、少し長いくらいです。」</a:t>
            </a:r>
          </a:p>
          <a:p/>
          <a:p>
            <a:r>
              <a:t>ホームステイである点に必ず触れること。「学校の外でも、英語を使うことになります。」</a:t>
            </a:r>
          </a:p>
          <a:p>
            <a:r>
              <a:t>——ここが語学研修とただの旅行の違いです。</a:t>
            </a:r>
          </a:p>
          <a:p/>
          <a:p>
            <a:r>
              <a:t>保護者は「知らない家に泊まる」ところが気になります。ただし**手配の方法や引率体制は、この場で断定しないこと。**</a:t>
            </a:r>
          </a:p>
          <a:p>
            <a:r>
              <a:t>聞かれたら「受入体制は大学が整えています。手配や引率の具体的なところは、このあと担当から正確にお答えします」と返してください。</a:t>
            </a:r>
          </a:p>
          <a:p>
            <a:r>
              <a:t>【削る優先度：4番目】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【伏線の回収／80秒・空気が変わる1枚】</a:t>
            </a:r>
          </a:p>
          <a:p>
            <a:r>
              <a:t>表紙の写真の答え合わせをします。</a:t>
            </a:r>
          </a:p>
          <a:p>
            <a:r>
              <a:t>「最初にお見せした写真、覚えていますか。これが去年、実際に行った2年生9人です。」</a:t>
            </a:r>
          </a:p>
          <a:p/>
          <a:p>
            <a:r>
              <a:t>訪問したのはオークランド・ウェリントン・クライストチャーチの3都市です（口頭で補ってください）。</a:t>
            </a:r>
          </a:p>
          <a:p>
            <a:r>
              <a:t>写真はキウイフルーツ農園への企業訪問です。締めのひとこと：</a:t>
            </a:r>
          </a:p>
          <a:p>
            <a:r>
              <a:t>「教室の英語が、仕事の現場の英語に変わる瞬間です。」</a:t>
            </a:r>
          </a:p>
          <a:p/>
          <a:p>
            <a:r>
              <a:t>制度の説明が続いたあとなので、この写真1枚で空気が変わります。</a:t>
            </a:r>
          </a:p>
          <a:p>
            <a:r>
              <a:t>急いで次に行かず、少し長めに見せて、黙る時間をつくってください。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【3段目・保護者に効く1枚／100秒】</a:t>
            </a:r>
          </a:p>
          <a:p>
            <a:r>
              <a:t>62万円は、必ず内訳まで言ってください。授業料半額相当の42万円免除と、留学奨学金20万円。</a:t>
            </a:r>
          </a:p>
          <a:p>
            <a:r>
              <a:t>数字は具体的なほど信用されます。</a:t>
            </a:r>
          </a:p>
          <a:p/>
          <a:p>
            <a:r>
              <a:t>3つ目の「留学中も就活をオンラインで個別指導」は、保護者向けの最重要ポイントです。</a:t>
            </a:r>
          </a:p>
          <a:p>
            <a:r>
              <a:t>「留学すると就職活動に出遅れるのでは」という不安に、これが答えになります。</a:t>
            </a:r>
          </a:p>
          <a:p>
            <a:r>
              <a:t>ここは保護者席のほうを向いて言ってください。</a:t>
            </a:r>
          </a:p>
          <a:p/>
          <a:p>
            <a:r>
              <a:t>※「授業料半額」は今日2回出てきます。ここは**留学に行っている期間の分**、24枚目は**入試の優遇**で、別の制度です。</a:t>
            </a:r>
          </a:p>
          <a:p>
            <a:r>
              <a:t>　併用できるかは未確認。聞かれたら「別々の制度です。併用できるかは要項で確認してお答えします」と返し、断定しないこと。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【誠実さで信用を取る1枚／100秒・今日の山場】</a:t>
            </a:r>
          </a:p>
          <a:p/>
          <a:p>
            <a:r>
              <a:t>【伏線回収・いちばん最初に必ず言う】</a:t>
            </a:r>
          </a:p>
          <a:p>
            <a:r>
              <a:t>「最初に、今日は数字を1つだけ覚えて帰ってくださいと言いました。その数字が、これです。」</a:t>
            </a:r>
          </a:p>
          <a:p>
            <a:r>
              <a:t>——そう言ってから95万円を出す。**出したあと3秒黙る**（沈黙を置く3か所のひとつ）。</a:t>
            </a:r>
          </a:p>
          <a:p/>
          <a:p>
            <a:r>
              <a:t>そのうえで「お金の話を、正直にします」と前置きし、すぐに条件を言います。</a:t>
            </a:r>
          </a:p>
          <a:p>
            <a:r>
              <a:t>「3万円は全員が対象の制度です。30万円と62万円は選抜で、それぞれ10名程度です。」</a:t>
            </a:r>
          </a:p>
          <a:p/>
          <a:p>
            <a:r>
              <a:t>続けて規模感だけを言います。</a:t>
            </a:r>
          </a:p>
          <a:p>
            <a:r>
              <a:t>「1学年40人の学科に対して、枠がそれぞれ10名程度ある、という規模です。」</a:t>
            </a:r>
          </a:p>
          <a:p>
            <a:r>
              <a:t>——**「決して狭き門ではありません」「ほぼ全員行けます」とは言わないこと。**倍率も選抜基準も未確認です。</a:t>
            </a:r>
          </a:p>
          <a:p>
            <a:r>
              <a:t>　倍率を聞かれたら「年度で変わるので、要項で確認してお返しします」。</a:t>
            </a:r>
          </a:p>
          <a:p/>
          <a:p>
            <a:r>
              <a:t>盛らないことが大事です。ここで正直に条件を言うから、このあとの入試の話が信用されます。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【4段目／70秒】</a:t>
            </a:r>
          </a:p>
          <a:p>
            <a:r>
              <a:t>「行って終わりにはしません」がこの1枚のポイントです。</a:t>
            </a:r>
          </a:p>
          <a:p/>
          <a:p>
            <a:r>
              <a:t>修了証が出るので、就職活動で「留学しました」と口で言うだけでなく、書類で示せます。</a:t>
            </a:r>
          </a:p>
          <a:p>
            <a:r>
              <a:t>——保護者はここを聞いています。</a:t>
            </a:r>
          </a:p>
          <a:p/>
          <a:p>
            <a:r>
              <a:t>「卒業論文を英語で書くゼミもあります」と、事実だけを一言添えてください。他学科との比較は口にしないこと。</a:t>
            </a:r>
          </a:p>
          <a:p>
            <a:r>
              <a:t>【削る優先度：5番目】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【いちばん刺さる1枚／85秒・絶対に削らない】</a:t>
            </a:r>
          </a:p>
          <a:p>
            <a:r>
              <a:t>（2枚目で「英語が話せるようになりたい」系の答えが出ていれば、</a:t>
            </a:r>
          </a:p>
          <a:p>
            <a:r>
              <a:t>　「さっき○○と言ってくれた方」と拾ってから本文に入る。出ていなければそのまま本文へ）</a:t>
            </a:r>
          </a:p>
          <a:p/>
          <a:p>
            <a:r>
              <a:t>ゆっくり話してください。</a:t>
            </a:r>
          </a:p>
          <a:p/>
          <a:p>
            <a:r>
              <a:t>「入学してくる学生も、英語が得意な人ばかりではありません。</a:t>
            </a:r>
          </a:p>
          <a:p>
            <a:r>
              <a:t> むしろ『苦手だけど話せたらいいな』が多数派です。」</a:t>
            </a:r>
          </a:p>
          <a:p/>
          <a:p>
            <a:r>
              <a:t>ここまで金額の話が続いたあとなので、「制度は分かったけれど、自分には無理だ」と</a:t>
            </a:r>
          </a:p>
          <a:p>
            <a:r>
              <a:t>思ってしまった生徒を、この1枚で拾い直します。</a:t>
            </a:r>
          </a:p>
          <a:p/>
          <a:p>
            <a:r>
              <a:t>最後に一言。「TOEICのスコアと海外経験は、採用の場でそのまま評価されます。</a:t>
            </a:r>
          </a:p>
          <a:p>
            <a:r>
              <a:t>苦手を、そのまま強みに変えられる4年間です。」</a:t>
            </a:r>
          </a:p>
          <a:p/>
          <a:p>
            <a:r>
              <a:t>【時間がどれだけ押しても、この1枚は残してください。】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【学科名の"地域"を回収／70秒】</a:t>
            </a:r>
          </a:p>
          <a:p>
            <a:r>
              <a:t>表紙の「地域をフィールドに学び、世界とつながる。」を、ここで回収します。</a:t>
            </a:r>
          </a:p>
          <a:p/>
          <a:p>
            <a:r>
              <a:t>「ばらのまち福山を、英語でプレゼンした学生がいます。</a:t>
            </a:r>
          </a:p>
          <a:p>
            <a:r>
              <a:t> 地元を深く知っていることが、そのまま海外で話せるネタになる。」</a:t>
            </a:r>
          </a:p>
          <a:p/>
          <a:p>
            <a:r>
              <a:t>会場には福山以外から来ている高校生もいます。最後にこう振ってください。</a:t>
            </a:r>
          </a:p>
          <a:p>
            <a:r>
              <a:t>「みなさんの地元にも、同じように語れるものが必ずあります。それを探しに来てください。」</a:t>
            </a:r>
          </a:p>
          <a:p>
            <a:r>
              <a:t>——ここが、生徒がいちばん自分ごとにできる場所です。</a:t>
            </a:r>
          </a:p>
          <a:p>
            <a:r>
              <a:t>【削る優先度：2番目】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【区切り／10秒】</a:t>
            </a:r>
          </a:p>
          <a:p>
            <a:r>
              <a:t>「最後に、出口の話をします」とだけ言って進んでください。</a:t>
            </a:r>
          </a:p>
          <a:p>
            <a:r>
              <a:t>保護者がいちばん聞きたいブロックです。ここで姿勢が変わります。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【根拠を示す／70秒】</a:t>
            </a:r>
          </a:p>
          <a:p>
            <a:r>
              <a:t>「全15学科中トップ、全学平均は20.3%」。この2つを並べて言うと、数字が効きます。</a:t>
            </a:r>
          </a:p>
          <a:p/>
          <a:p>
            <a:r>
              <a:t>出所も口頭で一度言ってください。</a:t>
            </a:r>
          </a:p>
          <a:p>
            <a:r>
              <a:t>「福山大学での学修を振り返るアンケート、令和7年度の報告書です。」</a:t>
            </a:r>
          </a:p>
          <a:p>
            <a:r>
              <a:t>根拠を示すと、保護者に信用されます。</a:t>
            </a:r>
          </a:p>
          <a:p/>
          <a:p>
            <a:r>
              <a:t>あわせて口頭で補足（スライドには載せていません）。**限定を落とさないこと。**</a:t>
            </a:r>
          </a:p>
          <a:p>
            <a:r>
              <a:t>「外国語の運用能力と、外国語の授業への満足度についても、卒業生の自己評価は経済学部でいちばん高い結果でした。</a:t>
            </a:r>
          </a:p>
          <a:p>
            <a:r>
              <a:t>　チャレンジ精神・意欲は、学部内で伸びがいちばん大きい結果でした。」</a:t>
            </a:r>
          </a:p>
          <a:p>
            <a:r>
              <a:t>——「自己評価のアンケートです」と一言添えてください。実測した語学力ではありません。</a:t>
            </a:r>
          </a:p>
          <a:p/>
          <a:p>
            <a:r>
              <a:t>※旧版のグラフにあった他学科（税務会計学科10.5%）は外しています。</a:t>
            </a:r>
          </a:p>
          <a:p>
            <a:r>
              <a:t> 同じ日に説明会を開いている学科なので、並べて低く見せない配慮です。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【出口を見せる／65秒】</a:t>
            </a:r>
          </a:p>
          <a:p>
            <a:r>
              <a:t>リード文が要点です。経済学部の他学科と同じ就職先を土台にして、そこへ語学系の選択肢が乗る、という構造。</a:t>
            </a:r>
          </a:p>
          <a:p>
            <a:r>
              <a:t>「就職の幅が狭くなるのでは」という保護者の不安への答えになります。</a:t>
            </a:r>
          </a:p>
          <a:p/>
          <a:p>
            <a:r>
              <a:t>TOEICは、企業が英語力を判定する事実上の基準です、と一言添えてください。</a:t>
            </a:r>
          </a:p>
          <a:p/>
          <a:p>
            <a:r>
              <a:t>※国際経済学科の直近の具体的な就職先（社名）は未確認です。社名は口に出さないでください。</a:t>
            </a:r>
          </a:p>
          <a:p>
            <a:r>
              <a:t> 質問が出たら「入試広報室で確認して、後日お答えします」と答えてください。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【次のスライドへの伏線／60秒】</a:t>
            </a:r>
          </a:p>
          <a:p>
            <a:r>
              <a:t>英検とHSKの行を指して、こう言っておいてください。</a:t>
            </a:r>
          </a:p>
          <a:p>
            <a:r>
              <a:t>「準2級、HSK3級というのは、このあと出てくる入試の出願要件と同じ数字です。」</a:t>
            </a:r>
          </a:p>
          <a:p>
            <a:r>
              <a:t>——ここで一度言っておくと、次の入試のスライドが一発で理解されます。</a:t>
            </a:r>
          </a:p>
          <a:p/>
          <a:p>
            <a:r>
              <a:t>※パネルの「全員」は、制度の対象範囲のことです。支給には条件（英検準2級レベルの取得など）があります。</a:t>
            </a:r>
          </a:p>
          <a:p>
            <a:r>
              <a:t>　自分から長く説明する必要はありませんが、聞かれたら</a:t>
            </a:r>
          </a:p>
          <a:p>
            <a:r>
              <a:t>　「学科の全員が対象の制度ですが、支給には条件があります。正確な条件は最新の募集要項で」と返してください。</a:t>
            </a:r>
          </a:p>
          <a:p/>
          <a:p>
            <a:r>
              <a:t>【削る優先度：1番目】次のスライドで同じ数字がもう一度出るので、押していれば飛ばせます。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【本日いちばん実際的な話／100秒】</a:t>
            </a:r>
          </a:p>
          <a:p>
            <a:r>
              <a:t>目の前の生徒に引きつけて、ただし**言い切らないこと。**</a:t>
            </a:r>
          </a:p>
          <a:p>
            <a:r>
              <a:t>「いま英検準2級を持っている人は、語学の条件はもう満たしています。」——ここで2秒黙る。</a:t>
            </a:r>
          </a:p>
          <a:p>
            <a:r>
              <a:t>「あとは、みなさんの高校が対象校かどうかです。そこは必ず要項と、高校の先生に確認してください。」</a:t>
            </a:r>
          </a:p>
          <a:p>
            <a:r>
              <a:t>※指定校推薦なので「もう出願資格があります」「受けられます」は禁句です。</a:t>
            </a:r>
          </a:p>
          <a:p>
            <a:r>
              <a:t>　今日は対象校でない高校の生徒・保護者も来ています。</a:t>
            </a:r>
          </a:p>
          <a:p/>
          <a:p>
            <a:r>
              <a:t>そのうえで保護者へ（スライドには書いていません、口頭で1回だけ）。</a:t>
            </a:r>
          </a:p>
          <a:p>
            <a:r>
              <a:t>「自宅から通えば、下宿代もかかりません。都市部で一人暮らし＋授業料全額と比べると、差は相当大きくなります。</a:t>
            </a:r>
          </a:p>
          <a:p>
            <a:r>
              <a:t> 浮いた分を、留学や海外研修に回す。それがこの学科の考え方です。」</a:t>
            </a:r>
          </a:p>
          <a:p/>
          <a:p>
            <a:r>
              <a:t>※未確認事項：評定平均、専願かどうか、学校長推薦の要否、筆記試験免除の有無、**免除の対象年次と継続条件**、入学金の扱い。</a:t>
            </a:r>
          </a:p>
          <a:p>
            <a:r>
              <a:t> 「4年間ずっと半額ですか」は必ず聞かれます。**答えないこと。**</a:t>
            </a:r>
          </a:p>
          <a:p>
            <a:r>
              <a:t> 「そこは年度で変わる部分なので、私の記憶ではお答えせず、要項の数字でお返しします」と返してください。</a:t>
            </a:r>
          </a:p>
          <a:p/>
          <a:p>
            <a:r>
              <a:t>※「授業料半額」は今日2回出てきます。15枚目は留学中の分、ここは入試の優遇で、別の制度です。</a:t>
            </a:r>
          </a:p>
          <a:p>
            <a:r>
              <a:t> 併用できるかは未確認。「両方使えます」とは言わないこと。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【持ち帰るものを1つに絞る／70秒】</a:t>
            </a:r>
          </a:p>
          <a:p>
            <a:r>
              <a:t>3行を読み上げるだけで十分です。付け足さないこと。</a:t>
            </a:r>
          </a:p>
          <a:p/>
          <a:p>
            <a:r>
              <a:t>特に3行目「まずは検定から」で終わらせてください。</a:t>
            </a:r>
          </a:p>
          <a:p>
            <a:r>
              <a:t>今日この場から帰って、明日できることが1つある——という形にするのが狙いです。</a:t>
            </a:r>
          </a:p>
          <a:p/>
          <a:p>
            <a:r>
              <a:t>保護者には「お子さんが英検を受けると言い出したら、それがスタートです」と添えると、</a:t>
            </a:r>
          </a:p>
          <a:p>
            <a:r>
              <a:t>家に帰ってからの会話が生まれます。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【締め／45秒】</a:t>
            </a:r>
          </a:p>
          <a:p>
            <a:r>
              <a:t>最後に必ず一度、「何か質問はありますか」と聞いてください。5秒は待つこと。</a:t>
            </a:r>
          </a:p>
          <a:p>
            <a:r>
              <a:t>出なければ「あとで個別に聞きに来てもらってもかまいません」で締めます。</a:t>
            </a:r>
          </a:p>
          <a:p/>
          <a:p>
            <a:r>
              <a:t>そのあと、必ず物理的な次の一歩を指してください。</a:t>
            </a:r>
          </a:p>
          <a:p>
            <a:r>
              <a:t>※ただし**当日の運営表を確認し、自分が実際にいる場所と時間だけを具体的に言うこと。**</a:t>
            </a:r>
          </a:p>
          <a:p>
            <a:r>
              <a:t>　個別相談ブースの有無・場所、研究室開放、Bloomberg端末の見学可否は当日の運営次第です。</a:t>
            </a:r>
          </a:p>
          <a:p>
            <a:r>
              <a:t>　未確認なら「このあとも会場内にいますので、声をかけてください」にとどめてください。</a:t>
            </a:r>
          </a:p>
          <a:p>
            <a:r>
              <a:t>——OCは"次の行動"まで案内して、はじめて完結します。</a:t>
            </a:r>
          </a:p>
          <a:p/>
          <a:p>
            <a:r>
              <a:t>保護者には最後に一言。「保護者の方からのご質問も、遠慮なくどうぞ。」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83879" y="0"/>
            <a:ext cx="4008089" cy="6858000"/>
          </a:xfrm>
          <a:prstGeom prst="rect">
            <a:avLst/>
          </a:prstGeom>
          <a:solidFill>
            <a:srgbClr val="16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83879" y="0"/>
            <a:ext cx="109728" cy="685800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49640" y="566928"/>
            <a:ext cx="33222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C9DCF0"/>
                </a:solidFill>
                <a:latin typeface="Meiryo"/>
                <a:ea typeface="Meiryo"/>
                <a:cs typeface="Meiryo"/>
              </a:rPr>
              <a:t>［写真を差し込む位置］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969264"/>
            <a:ext cx="3322289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C9DCF0"/>
                </a:solidFill>
                <a:latin typeface="Meiryo"/>
                <a:ea typeface="Meiryo"/>
                <a:cs typeface="Meiryo"/>
              </a:rPr>
              <a:t>2025年度TOP10プログラムで渡航した2年生9名の写真をここに配置。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C9DCF0"/>
                </a:solidFill>
                <a:latin typeface="Meiryo"/>
                <a:ea typeface="Meiryo"/>
                <a:cs typeface="Meiryo"/>
              </a:rPr>
              <a:t>14枚目で「これが9人です」と答え合わせをするので、必ず人物が写っているものを選ぶこと。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5257800"/>
            <a:ext cx="3322289" cy="11887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E2ECF7"/>
                </a:solidFill>
                <a:latin typeface="Meiryo"/>
                <a:ea typeface="Meiryo"/>
                <a:cs typeface="Meiryo"/>
              </a:rPr>
              <a:t>2025年度 TOP10プログラム</a:t>
            </a:r>
          </a:p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E2ECF7"/>
                </a:solidFill>
                <a:latin typeface="Meiryo"/>
                <a:ea typeface="Meiryo"/>
                <a:cs typeface="Meiryo"/>
              </a:rPr>
              <a:t>ニュージーランド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914400"/>
            <a:ext cx="6766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spc="200">
                <a:solidFill>
                  <a:srgbClr val="F2B01E"/>
                </a:solidFill>
                <a:latin typeface="Meiryo"/>
                <a:ea typeface="Meiryo"/>
                <a:cs typeface="Meiryo"/>
              </a:rPr>
              <a:t>OPEN CAMPUS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6766559" cy="1307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38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地域をフィールドに学び、</a:t>
            </a:r>
          </a:p>
          <a:p>
            <a:pPr algn="l">
              <a:lnSpc>
                <a:spcPct val="126000"/>
              </a:lnSpc>
            </a:pPr>
            <a:r>
              <a:rPr sz="38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世界とつながる。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191256"/>
            <a:ext cx="1737360" cy="82296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6766559" cy="587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0" i="0">
                <a:solidFill>
                  <a:srgbClr val="DCE8F5"/>
                </a:solidFill>
                <a:latin typeface="Meiryo"/>
                <a:ea typeface="Meiryo"/>
                <a:cs typeface="Meiryo"/>
              </a:rPr>
              <a:t>福山大学 経済学部 国際経済学科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49824"/>
            <a:ext cx="67665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BBD0E6"/>
                </a:solidFill>
                <a:latin typeface="Meiryo"/>
                <a:ea typeface="Meiryo"/>
                <a:cs typeface="Meiryo"/>
              </a:rPr>
              <a:t>学科紹介 ― Big Jump プログラム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70448"/>
            <a:ext cx="67665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BBD0E6"/>
                </a:solidFill>
                <a:latin typeface="Meiryo"/>
                <a:ea typeface="Meiryo"/>
                <a:cs typeface="Meiryo"/>
              </a:rPr>
              <a:t>2026年8月23日（日）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4630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21792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 i="0" spc="240">
                <a:solidFill>
                  <a:srgbClr val="5C4204"/>
                </a:solidFill>
                <a:latin typeface="Meiryo"/>
                <a:ea typeface="Meiryo"/>
                <a:cs typeface="Meiryo"/>
              </a:rPr>
              <a:t>ICE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10454609" cy="770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4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いまの気持ちを、教えてください。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406904"/>
            <a:ext cx="3314181" cy="2240280"/>
          </a:xfrm>
          <a:prstGeom prst="rect">
            <a:avLst/>
          </a:prstGeom>
          <a:solidFill>
            <a:srgbClr val="FFFFFF"/>
          </a:solidFill>
          <a:ln w="1778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96586" y="2662936"/>
            <a:ext cx="658368" cy="65836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6586" y="2754376"/>
            <a:ext cx="658368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8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04184"/>
            <a:ext cx="2856981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わくわく</a:t>
            </a:r>
          </a:p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している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8893" y="2406904"/>
            <a:ext cx="3314181" cy="2240280"/>
          </a:xfrm>
          <a:prstGeom prst="rect">
            <a:avLst/>
          </a:prstGeom>
          <a:solidFill>
            <a:srgbClr val="FFFFFF"/>
          </a:solidFill>
          <a:ln w="1778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6800" y="2662936"/>
            <a:ext cx="658368" cy="65836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6800" y="2754376"/>
            <a:ext cx="658368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8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493" y="3504184"/>
            <a:ext cx="2856981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とりあえず</a:t>
            </a:r>
          </a:p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来てみた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9107" y="2406904"/>
            <a:ext cx="3314181" cy="2240280"/>
          </a:xfrm>
          <a:prstGeom prst="rect">
            <a:avLst/>
          </a:prstGeom>
          <a:solidFill>
            <a:srgbClr val="FFFFFF"/>
          </a:solidFill>
          <a:ln w="1778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37014" y="2662936"/>
            <a:ext cx="658368" cy="65836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7014" y="2754376"/>
            <a:ext cx="658368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8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7707" y="3504184"/>
            <a:ext cx="2856981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正直、まだ</a:t>
            </a:r>
          </a:p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ねむい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921504"/>
            <a:ext cx="10454609" cy="786384"/>
          </a:xfrm>
          <a:prstGeom prst="rect">
            <a:avLst/>
          </a:prstGeom>
          <a:solidFill>
            <a:srgbClr val="FF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921504"/>
            <a:ext cx="100584" cy="78638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5049520"/>
            <a:ext cx="981452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5C4204"/>
                </a:solidFill>
                <a:latin typeface="Meiryo"/>
                <a:ea typeface="Meiryo"/>
                <a:cs typeface="Meiryo"/>
              </a:rPr>
              <a:t>手を挙げてください。― 保護者の方も、ぜひ。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spc="22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54609" cy="725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今日話すこと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13560"/>
            <a:ext cx="1417320" cy="6858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93036"/>
            <a:ext cx="10454609" cy="750315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193036"/>
            <a:ext cx="100584" cy="750315"/>
          </a:xfrm>
          <a:prstGeom prst="rect">
            <a:avLst/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52728" y="2348484"/>
            <a:ext cx="439419" cy="439419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414397"/>
            <a:ext cx="439419" cy="3251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8568" y="2339340"/>
            <a:ext cx="8607521" cy="4577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どんな学科か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162808"/>
            <a:ext cx="10454609" cy="750315"/>
          </a:xfrm>
          <a:prstGeom prst="rect">
            <a:avLst/>
          </a:prstGeom>
          <a:solidFill>
            <a:srgbClr val="FF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162808"/>
            <a:ext cx="100584" cy="750315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52728" y="3318255"/>
            <a:ext cx="439419" cy="439419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3384169"/>
            <a:ext cx="439419" cy="3251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1" i="0">
                <a:solidFill>
                  <a:srgbClr val="5C4204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3309112"/>
            <a:ext cx="8607521" cy="4577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Big Jump ― 今日の本題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132579"/>
            <a:ext cx="10454609" cy="750315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132579"/>
            <a:ext cx="100584" cy="750315"/>
          </a:xfrm>
          <a:prstGeom prst="rect">
            <a:avLst/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52728" y="4288027"/>
            <a:ext cx="439419" cy="439419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2728" y="4353941"/>
            <a:ext cx="439419" cy="3251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4278884"/>
            <a:ext cx="8607521" cy="4577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進路と、授業料 半額免除の入試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5065776"/>
            <a:ext cx="10454609" cy="786384"/>
          </a:xfrm>
          <a:prstGeom prst="rect">
            <a:avLst/>
          </a:prstGeom>
          <a:solidFill>
            <a:srgbClr val="FF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5065776"/>
            <a:ext cx="100584" cy="78638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97864" y="5193792"/>
            <a:ext cx="981452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5C4204"/>
                </a:solidFill>
                <a:latin typeface="Meiryo"/>
                <a:ea typeface="Meiryo"/>
                <a:cs typeface="Meiryo"/>
              </a:rPr>
              <a:t>今日、数字を1つだけ覚えて帰ってください。何の数字かは、②で言います。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spc="22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MEET THE TEACHER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54609" cy="725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鈴木 伸 講師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13560"/>
            <a:ext cx="1417320" cy="6858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65689" y="1874519"/>
            <a:ext cx="3657600" cy="2971800"/>
          </a:xfrm>
          <a:prstGeom prst="rect">
            <a:avLst/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65689" y="1874519"/>
            <a:ext cx="100584" cy="297180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76585" y="3886200"/>
            <a:ext cx="3035808" cy="7772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研究室にて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6585" y="2112263"/>
            <a:ext cx="3035808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9BABBC"/>
                </a:solidFill>
                <a:latin typeface="Meiryo"/>
                <a:ea typeface="Meiryo"/>
                <a:cs typeface="Meiryo"/>
              </a:rPr>
              <a:t>［写真を差し込む位置］　研究室の写真（EUの傘・フィンランド国旗）をここに配置</a:t>
            </a:r>
          </a:p>
        </p:txBody>
      </p:sp>
      <p:sp>
        <p:nvSpPr>
          <p:cNvPr id="10" name="Oval 9"/>
          <p:cNvSpPr/>
          <p:nvPr/>
        </p:nvSpPr>
        <p:spPr>
          <a:xfrm>
            <a:off x="886968" y="2321052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2193036"/>
            <a:ext cx="6092921" cy="899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専門は 財政学・地域経済学・環境経済学</a:t>
            </a:r>
          </a:p>
        </p:txBody>
      </p:sp>
      <p:sp>
        <p:nvSpPr>
          <p:cNvPr id="12" name="Oval 11"/>
          <p:cNvSpPr/>
          <p:nvPr/>
        </p:nvSpPr>
        <p:spPr>
          <a:xfrm>
            <a:off x="886968" y="3448812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320796"/>
            <a:ext cx="6092921" cy="472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北欧フィンランドで、まちのお金を調査</a:t>
            </a:r>
          </a:p>
        </p:txBody>
      </p:sp>
      <p:sp>
        <p:nvSpPr>
          <p:cNvPr id="14" name="Oval 13"/>
          <p:cNvSpPr/>
          <p:nvPr/>
        </p:nvSpPr>
        <p:spPr>
          <a:xfrm>
            <a:off x="886968" y="4149852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021836"/>
            <a:ext cx="6092921" cy="472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島根県海士町など国内の地域にも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074920"/>
            <a:ext cx="10454609" cy="786384"/>
          </a:xfrm>
          <a:prstGeom prst="rect">
            <a:avLst/>
          </a:prstGeom>
          <a:solidFill>
            <a:srgbClr val="FF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5074920"/>
            <a:ext cx="100584" cy="78638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97864" y="5202936"/>
            <a:ext cx="981452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5C4204"/>
                </a:solidFill>
                <a:latin typeface="Meiryo"/>
                <a:ea typeface="Meiryo"/>
                <a:cs typeface="Meiryo"/>
              </a:rPr>
              <a:t>マイブームは、おしゃべり唐揚げ「あげ太くん」です。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4630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21792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 i="0" spc="240">
                <a:solidFill>
                  <a:srgbClr val="5C4204"/>
                </a:solidFill>
                <a:latin typeface="Meiryo"/>
                <a:ea typeface="Meiryo"/>
                <a:cs typeface="Meiryo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10454609" cy="672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38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経済学は、何を考える学問でしょう？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309368"/>
            <a:ext cx="3314181" cy="2240280"/>
          </a:xfrm>
          <a:prstGeom prst="rect">
            <a:avLst/>
          </a:prstGeom>
          <a:solidFill>
            <a:srgbClr val="FFFFFF"/>
          </a:solidFill>
          <a:ln w="1778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96586" y="2565400"/>
            <a:ext cx="658368" cy="65836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6586" y="2656840"/>
            <a:ext cx="658368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8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06648"/>
            <a:ext cx="2856981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お金の</a:t>
            </a:r>
          </a:p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もうけ方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8893" y="2309368"/>
            <a:ext cx="3314181" cy="2240280"/>
          </a:xfrm>
          <a:prstGeom prst="rect">
            <a:avLst/>
          </a:prstGeom>
          <a:solidFill>
            <a:srgbClr val="FFFFFF"/>
          </a:solidFill>
          <a:ln w="1778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6800" y="2565400"/>
            <a:ext cx="658368" cy="65836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6800" y="2656840"/>
            <a:ext cx="658368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8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493" y="3406648"/>
            <a:ext cx="2856981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限られたものの</a:t>
            </a:r>
          </a:p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配り方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9107" y="2309368"/>
            <a:ext cx="3314181" cy="2240280"/>
          </a:xfrm>
          <a:prstGeom prst="rect">
            <a:avLst/>
          </a:prstGeom>
          <a:solidFill>
            <a:srgbClr val="FFFFFF"/>
          </a:solidFill>
          <a:ln w="1778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37014" y="2565400"/>
            <a:ext cx="658368" cy="65836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7014" y="2656840"/>
            <a:ext cx="658368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8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7707" y="3406648"/>
            <a:ext cx="2856981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会社の</a:t>
            </a:r>
          </a:p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つくり方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823968"/>
            <a:ext cx="10454609" cy="786384"/>
          </a:xfrm>
          <a:prstGeom prst="rect">
            <a:avLst/>
          </a:prstGeom>
          <a:solidFill>
            <a:srgbClr val="FF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823968"/>
            <a:ext cx="100584" cy="78638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951984"/>
            <a:ext cx="981452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5C4204"/>
                </a:solidFill>
                <a:latin typeface="Meiryo"/>
                <a:ea typeface="Meiryo"/>
                <a:cs typeface="Meiryo"/>
              </a:rPr>
              <a:t>Aだと思う人？ Bだと思う人？ Cだと思う人？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spc="22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54609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答えは B。限られたものを、どう配るか。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22120"/>
            <a:ext cx="1417320" cy="6858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1596"/>
            <a:ext cx="10454609" cy="560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 i="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経済学は「お金もうけ」の学問ではありません。</a:t>
            </a:r>
          </a:p>
        </p:txBody>
      </p:sp>
      <p:sp>
        <p:nvSpPr>
          <p:cNvPr id="7" name="Oval 6"/>
          <p:cNvSpPr/>
          <p:nvPr/>
        </p:nvSpPr>
        <p:spPr>
          <a:xfrm>
            <a:off x="886968" y="3138678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2999994"/>
            <a:ext cx="1007056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だから、まちづくりも経済学</a:t>
            </a:r>
          </a:p>
        </p:txBody>
      </p:sp>
      <p:sp>
        <p:nvSpPr>
          <p:cNvPr id="9" name="Oval 8"/>
          <p:cNvSpPr/>
          <p:nvPr/>
        </p:nvSpPr>
        <p:spPr>
          <a:xfrm>
            <a:off x="886968" y="3875278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3736594"/>
            <a:ext cx="1007056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電気やエネルギーも経済学</a:t>
            </a:r>
          </a:p>
        </p:txBody>
      </p:sp>
      <p:sp>
        <p:nvSpPr>
          <p:cNvPr id="11" name="Oval 10"/>
          <p:cNvSpPr/>
          <p:nvPr/>
        </p:nvSpPr>
        <p:spPr>
          <a:xfrm>
            <a:off x="886968" y="4611878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4473194"/>
            <a:ext cx="1007056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税金の使いみちも経済学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074920"/>
            <a:ext cx="10454609" cy="953008"/>
          </a:xfrm>
          <a:prstGeom prst="rect">
            <a:avLst/>
          </a:prstGeom>
          <a:solidFill>
            <a:srgbClr val="FF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5074920"/>
            <a:ext cx="100584" cy="953008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7864" y="5202936"/>
            <a:ext cx="9814529" cy="715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5C4204"/>
                </a:solidFill>
                <a:latin typeface="Meiryo"/>
                <a:ea typeface="Meiryo"/>
                <a:cs typeface="Meiryo"/>
              </a:rPr>
              <a:t>世界と地域は、つながっている。だから北欧のお金の話が、福山の話になります。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29260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3A6699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105911"/>
            <a:ext cx="1737360" cy="82296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508247"/>
            <a:ext cx="10424160" cy="853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48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国際経済学科って、どんな学科？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946904"/>
            <a:ext cx="155448" cy="155448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4800600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i="0">
                <a:solidFill>
                  <a:srgbClr val="CFE0F2"/>
                </a:solidFill>
                <a:latin typeface="Meiryo"/>
                <a:ea typeface="Meiryo"/>
                <a:cs typeface="Meiryo"/>
              </a:rPr>
              <a:t>経済学 × 外国語 × 海外体験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5495544"/>
            <a:ext cx="155448" cy="155448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5349240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i="0">
                <a:solidFill>
                  <a:srgbClr val="CFE0F2"/>
                </a:solidFill>
                <a:latin typeface="Meiryo"/>
                <a:ea typeface="Meiryo"/>
                <a:cs typeface="Meiryo"/>
              </a:rPr>
              <a:t>定員40名の少人数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spc="22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54609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3つの特徴 ― 経済学 × 外国語 × 海外体験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22120"/>
            <a:ext cx="1417320" cy="6858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1596"/>
            <a:ext cx="3301989" cy="3796284"/>
          </a:xfrm>
          <a:prstGeom prst="rect">
            <a:avLst/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101596"/>
            <a:ext cx="3301989" cy="9144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2430780"/>
            <a:ext cx="1097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 i="0" spc="12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3015996"/>
            <a:ext cx="2680197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定員は40名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3689604"/>
            <a:ext cx="2680197" cy="19339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学年で40人。高校の1クラスと同じ規模です。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4989" y="2101596"/>
            <a:ext cx="3301989" cy="3796284"/>
          </a:xfrm>
          <a:prstGeom prst="rect">
            <a:avLst/>
          </a:prstGeom>
          <a:solidFill>
            <a:srgbClr val="E1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4989" y="2101596"/>
            <a:ext cx="3301989" cy="91440"/>
          </a:xfrm>
          <a:prstGeom prst="rect">
            <a:avLst/>
          </a:prstGeom>
          <a:solidFill>
            <a:srgbClr val="0A61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5885" y="2430780"/>
            <a:ext cx="1097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 i="0" spc="120">
                <a:solidFill>
                  <a:srgbClr val="0A6156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5885" y="3015996"/>
            <a:ext cx="2680197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経済学 × 外国語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5885" y="3689604"/>
            <a:ext cx="2680197" cy="19339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英語と中国語を、毎日つかって覚えます。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1299" y="2101596"/>
            <a:ext cx="3301989" cy="3796284"/>
          </a:xfrm>
          <a:prstGeom prst="rect">
            <a:avLst/>
          </a:prstGeom>
          <a:solidFill>
            <a:srgbClr val="FF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1299" y="2101596"/>
            <a:ext cx="3301989" cy="9144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2195" y="2430780"/>
            <a:ext cx="1097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 i="0" spc="120">
                <a:solidFill>
                  <a:srgbClr val="5C4204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2195" y="3015996"/>
            <a:ext cx="2680197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海外体験を支援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2195" y="3689604"/>
            <a:ext cx="2680197" cy="19339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費用の補助と、経験豊富な教員の助言。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spc="22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FACULTY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54609" cy="725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8人の教員と、話せる4言語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13560"/>
            <a:ext cx="1417320" cy="6858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238756"/>
            <a:ext cx="4800600" cy="3124200"/>
          </a:xfrm>
          <a:prstGeom prst="rect">
            <a:avLst/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5954"/>
            <a:ext cx="4800600" cy="17708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1400" b="1" i="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8人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365752"/>
            <a:ext cx="4251960" cy="832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3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専任教員</a:t>
            </a:r>
          </a:p>
          <a:p>
            <a:pPr algn="ctr">
              <a:lnSpc>
                <a:spcPct val="130000"/>
              </a:lnSpc>
            </a:pPr>
            <a:r>
              <a:rPr sz="23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（教授4・准教授1・講師3）</a:t>
            </a:r>
          </a:p>
        </p:txBody>
      </p:sp>
      <p:sp>
        <p:nvSpPr>
          <p:cNvPr id="9" name="Oval 8"/>
          <p:cNvSpPr/>
          <p:nvPr/>
        </p:nvSpPr>
        <p:spPr>
          <a:xfrm>
            <a:off x="6099048" y="2459736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2321052"/>
            <a:ext cx="485848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世界銀行・アジア開発銀行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8" y="3232912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4228"/>
            <a:ext cx="485848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内閣府・外資系投資銀行</a:t>
            </a:r>
          </a:p>
        </p:txBody>
      </p:sp>
      <p:sp>
        <p:nvSpPr>
          <p:cNvPr id="13" name="Oval 12"/>
          <p:cNvSpPr/>
          <p:nvPr/>
        </p:nvSpPr>
        <p:spPr>
          <a:xfrm>
            <a:off x="6099048" y="4006088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3867404"/>
            <a:ext cx="4858481" cy="97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英語・中国語・韓国語・スペイン語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00700"/>
            <a:ext cx="1045460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41505F"/>
                </a:solidFill>
                <a:latin typeface="Meiryo"/>
                <a:ea typeface="Meiryo"/>
                <a:cs typeface="Meiryo"/>
              </a:rPr>
              <a:t>上記の機関での勤務経験を持つ教員が在籍しています（2026年8月時点）。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29260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3A6699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073399"/>
            <a:ext cx="1737360" cy="82296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75735"/>
            <a:ext cx="10424160" cy="885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50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Big Jump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946904"/>
            <a:ext cx="155448" cy="155448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4800600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i="0">
                <a:solidFill>
                  <a:srgbClr val="CFE0F2"/>
                </a:solidFill>
                <a:latin typeface="Meiryo"/>
                <a:ea typeface="Meiryo"/>
                <a:cs typeface="Meiryo"/>
              </a:rPr>
              <a:t>4年間で、段階的に世界へ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5495544"/>
            <a:ext cx="155448" cy="155448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5349240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i="0">
                <a:solidFill>
                  <a:srgbClr val="CFE0F2"/>
                </a:solidFill>
                <a:latin typeface="Meiryo"/>
                <a:ea typeface="Meiryo"/>
                <a:cs typeface="Meiryo"/>
              </a:rPr>
              <a:t>大学が、費用面から背中を押します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spc="22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BIG JUMP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54609" cy="725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4年間の階段 ― 1段ずつ、上ります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13560"/>
            <a:ext cx="1417320" cy="6858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638044"/>
            <a:ext cx="2435344" cy="26700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638044"/>
            <a:ext cx="2435344" cy="676656"/>
          </a:xfrm>
          <a:prstGeom prst="rect">
            <a:avLst/>
          </a:prstGeom>
          <a:solidFill>
            <a:srgbClr val="2E7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84348"/>
            <a:ext cx="2435344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1年生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570732"/>
            <a:ext cx="2033008" cy="451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英語の土台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271" y="4576572"/>
            <a:ext cx="2106160" cy="566928"/>
          </a:xfrm>
          <a:prstGeom prst="roundRect">
            <a:avLst>
              <a:gd name="adj" fmla="val 50000"/>
            </a:avLst>
          </a:prstGeom>
          <a:solidFill>
            <a:srgbClr val="0A61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2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検定料 3万円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41768" y="2489708"/>
            <a:ext cx="2435344" cy="2818384"/>
          </a:xfrm>
          <a:prstGeom prst="rect">
            <a:avLst/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41768" y="2489708"/>
            <a:ext cx="2435344" cy="676656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1768" y="2636012"/>
            <a:ext cx="2435344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2年生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2936" y="3422396"/>
            <a:ext cx="2033008" cy="847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海外語学研修 5週間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6360" y="4576572"/>
            <a:ext cx="2106160" cy="566928"/>
          </a:xfrm>
          <a:prstGeom prst="roundRect">
            <a:avLst>
              <a:gd name="adj" fmla="val 50000"/>
            </a:avLst>
          </a:prstGeom>
          <a:solidFill>
            <a:srgbClr val="B3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研修費 30万円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4856" y="2341372"/>
            <a:ext cx="2435344" cy="2966720"/>
          </a:xfrm>
          <a:prstGeom prst="rect">
            <a:avLst/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4856" y="2341372"/>
            <a:ext cx="2435344" cy="676656"/>
          </a:xfrm>
          <a:prstGeom prst="rect">
            <a:avLst/>
          </a:prstGeom>
          <a:solidFill>
            <a:srgbClr val="0B4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4856" y="2487676"/>
            <a:ext cx="2435344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3年生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6024" y="3274060"/>
            <a:ext cx="2033008" cy="847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長期留学 半年〜1年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79448" y="4576572"/>
            <a:ext cx="2106160" cy="566928"/>
          </a:xfrm>
          <a:prstGeom prst="roundRect">
            <a:avLst>
              <a:gd name="adj" fmla="val 50000"/>
            </a:avLst>
          </a:prstGeom>
          <a:solidFill>
            <a:srgbClr val="B3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23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最大 62万円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87945" y="2193036"/>
            <a:ext cx="2435344" cy="3115056"/>
          </a:xfrm>
          <a:prstGeom prst="rect">
            <a:avLst/>
          </a:prstGeom>
          <a:solidFill>
            <a:srgbClr val="FF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87945" y="2193036"/>
            <a:ext cx="2435344" cy="676656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7945" y="2339340"/>
            <a:ext cx="2435344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1" i="0">
                <a:solidFill>
                  <a:srgbClr val="5C4204"/>
                </a:solidFill>
                <a:latin typeface="Meiryo"/>
                <a:ea typeface="Meiryo"/>
                <a:cs typeface="Meiryo"/>
              </a:rPr>
              <a:t>4年生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13" y="3125724"/>
            <a:ext cx="2033008" cy="451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キャリアへ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37" y="4576572"/>
            <a:ext cx="2106160" cy="566928"/>
          </a:xfrm>
          <a:prstGeom prst="roundRect">
            <a:avLst>
              <a:gd name="adj" fmla="val 50000"/>
            </a:avLst>
          </a:prstGeom>
          <a:solidFill>
            <a:srgbClr val="B3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修了証を授与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00700"/>
            <a:ext cx="1045460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41505F"/>
                </a:solidFill>
                <a:latin typeface="Meiryo"/>
                <a:ea typeface="Meiryo"/>
                <a:cs typeface="Meiryo"/>
              </a:rPr>
              <a:t>※金額・人数・派遣先はチラシ掲載時点。最新の募集要項をご確認ください。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spc="22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BIG JUMP ／ 1年生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54609" cy="725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まず、英語力の土台をつくる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13560"/>
            <a:ext cx="1417320" cy="6858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3036"/>
            <a:ext cx="10454609" cy="560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 i="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1年生は、まず英語の土台からです。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886968" y="3230118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3091434"/>
            <a:ext cx="1007056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対象の検定：TOEFL／IELTS／英検</a:t>
            </a:r>
          </a:p>
        </p:txBody>
      </p:sp>
      <p:sp>
        <p:nvSpPr>
          <p:cNvPr id="9" name="Oval 8"/>
          <p:cNvSpPr/>
          <p:nvPr/>
        </p:nvSpPr>
        <p:spPr>
          <a:xfrm>
            <a:off x="886968" y="3966717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3828034"/>
            <a:ext cx="1007056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検定料を 一人3万円まで補助</a:t>
            </a:r>
          </a:p>
        </p:txBody>
      </p:sp>
      <p:sp>
        <p:nvSpPr>
          <p:cNvPr id="11" name="Oval 10"/>
          <p:cNvSpPr/>
          <p:nvPr/>
        </p:nvSpPr>
        <p:spPr>
          <a:xfrm>
            <a:off x="886968" y="4703317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4564634"/>
            <a:ext cx="1007056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留学に必要な語学力を、授業でつける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03520"/>
            <a:ext cx="1045460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41505F"/>
                </a:solidFill>
                <a:latin typeface="Meiryo"/>
                <a:ea typeface="Meiryo"/>
                <a:cs typeface="Meiryo"/>
              </a:rPr>
              <a:t>※学科の全員が対象ですが、支給には「英検準2級レベルの取得」などの条件があります。最新の募集要項でご確認ください。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spc="22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BIG JUMP ／ 2年生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54609" cy="725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海外語学研修 ― はじめての5週間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13560"/>
            <a:ext cx="1417320" cy="6858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3036"/>
            <a:ext cx="5989320" cy="560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 i="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夏休みより少し長い5週間。</a:t>
            </a:r>
          </a:p>
        </p:txBody>
      </p:sp>
      <p:sp>
        <p:nvSpPr>
          <p:cNvPr id="7" name="Oval 6"/>
          <p:cNvSpPr/>
          <p:nvPr/>
        </p:nvSpPr>
        <p:spPr>
          <a:xfrm>
            <a:off x="886968" y="3164586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3036570"/>
            <a:ext cx="5605272" cy="472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行き先（予定）：豪州／NZ</a:t>
            </a:r>
          </a:p>
        </p:txBody>
      </p:sp>
      <p:sp>
        <p:nvSpPr>
          <p:cNvPr id="9" name="Oval 8"/>
          <p:cNvSpPr/>
          <p:nvPr/>
        </p:nvSpPr>
        <p:spPr>
          <a:xfrm>
            <a:off x="886968" y="3902201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3774185"/>
            <a:ext cx="5605272" cy="899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ホームステイ。生活ごと英語になります</a:t>
            </a:r>
          </a:p>
        </p:txBody>
      </p:sp>
      <p:sp>
        <p:nvSpPr>
          <p:cNvPr id="11" name="Oval 10"/>
          <p:cNvSpPr/>
          <p:nvPr/>
        </p:nvSpPr>
        <p:spPr>
          <a:xfrm>
            <a:off x="886968" y="5066537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4938522"/>
            <a:ext cx="5605272" cy="472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目標：IELTS 5.5〜6.5（CEFR B2）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80" y="2193036"/>
            <a:ext cx="4053809" cy="361340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69480" y="2193036"/>
            <a:ext cx="4053809" cy="82296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2088" y="2558796"/>
            <a:ext cx="3468593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研修費の補助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2088" y="3198876"/>
            <a:ext cx="346859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41505F"/>
                </a:solidFill>
                <a:latin typeface="Meiryo"/>
                <a:ea typeface="Meiryo"/>
                <a:cs typeface="Meiryo"/>
              </a:rPr>
              <a:t>一人あたり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2088" y="3546348"/>
            <a:ext cx="3468593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 i="0">
                <a:solidFill>
                  <a:srgbClr val="B34A33"/>
                </a:solidFill>
                <a:latin typeface="Meiryo"/>
                <a:ea typeface="Meiryo"/>
                <a:cs typeface="Meiryo"/>
              </a:rPr>
              <a:t>30万円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4259580"/>
            <a:ext cx="346859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41505F"/>
                </a:solidFill>
                <a:latin typeface="Meiryo"/>
                <a:ea typeface="Meiryo"/>
                <a:cs typeface="Meiryo"/>
              </a:rPr>
              <a:t>対象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4607052"/>
            <a:ext cx="3468593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 i="0">
                <a:solidFill>
                  <a:srgbClr val="B34A33"/>
                </a:solidFill>
                <a:latin typeface="Meiryo"/>
                <a:ea typeface="Meiryo"/>
                <a:cs typeface="Meiryo"/>
              </a:rPr>
              <a:t>選抜 10名程度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spc="22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TOP10 PROGRAM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54609" cy="725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実際に、行ってきました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13560"/>
            <a:ext cx="1417320" cy="6858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93036"/>
            <a:ext cx="5669280" cy="3659124"/>
          </a:xfrm>
          <a:prstGeom prst="rect">
            <a:avLst/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193036"/>
            <a:ext cx="100584" cy="3659124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4892040"/>
            <a:ext cx="5047488" cy="7772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ニュージーランド・企業訪問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2430780"/>
            <a:ext cx="5047488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9BABBC"/>
                </a:solidFill>
                <a:latin typeface="Meiryo"/>
                <a:ea typeface="Meiryo"/>
                <a:cs typeface="Meiryo"/>
              </a:rPr>
              <a:t>［写真を差し込む位置］　旧版のNZ写真（キウイフルーツ農園の企業訪問／リンカーン大学）をここに配置。 大きく1枚だけ使うこと。</a:t>
            </a:r>
          </a:p>
        </p:txBody>
      </p:sp>
      <p:sp>
        <p:nvSpPr>
          <p:cNvPr id="10" name="Oval 9"/>
          <p:cNvSpPr/>
          <p:nvPr/>
        </p:nvSpPr>
        <p:spPr>
          <a:xfrm>
            <a:off x="7013448" y="2404872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9208" y="2266188"/>
            <a:ext cx="394408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2年生 9名（選抜）</a:t>
            </a:r>
          </a:p>
        </p:txBody>
      </p:sp>
      <p:sp>
        <p:nvSpPr>
          <p:cNvPr id="12" name="Oval 11"/>
          <p:cNvSpPr/>
          <p:nvPr/>
        </p:nvSpPr>
        <p:spPr>
          <a:xfrm>
            <a:off x="7013448" y="3196336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9208" y="3057652"/>
            <a:ext cx="394408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NZ 3都市を訪問</a:t>
            </a:r>
          </a:p>
        </p:txBody>
      </p:sp>
      <p:sp>
        <p:nvSpPr>
          <p:cNvPr id="14" name="Oval 13"/>
          <p:cNvSpPr/>
          <p:nvPr/>
        </p:nvSpPr>
        <p:spPr>
          <a:xfrm>
            <a:off x="7013448" y="3987799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3849116"/>
            <a:ext cx="394408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語学研修・企業訪問</a:t>
            </a:r>
          </a:p>
        </p:txBody>
      </p:sp>
      <p:sp>
        <p:nvSpPr>
          <p:cNvPr id="16" name="Oval 15"/>
          <p:cNvSpPr/>
          <p:nvPr/>
        </p:nvSpPr>
        <p:spPr>
          <a:xfrm>
            <a:off x="7013448" y="4779264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9208" y="4640580"/>
            <a:ext cx="394408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ホームステイ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spc="22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BIG JUMP ／ 3年生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54609" cy="725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長期留学 ― 半年から1年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13560"/>
            <a:ext cx="1417320" cy="6858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3036"/>
            <a:ext cx="5989320" cy="560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 i="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いちばん大きな一段です。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886968" y="3175254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3036570"/>
            <a:ext cx="5605272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派遣先（予定）：12ヶ国・25大学</a:t>
            </a:r>
          </a:p>
        </p:txBody>
      </p:sp>
      <p:sp>
        <p:nvSpPr>
          <p:cNvPr id="9" name="Oval 8"/>
          <p:cNvSpPr/>
          <p:nvPr/>
        </p:nvSpPr>
        <p:spPr>
          <a:xfrm>
            <a:off x="886968" y="3948430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3809746"/>
            <a:ext cx="5605272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期間：約6ヶ月〜約1年間</a:t>
            </a:r>
          </a:p>
        </p:txBody>
      </p:sp>
      <p:sp>
        <p:nvSpPr>
          <p:cNvPr id="11" name="Oval 10"/>
          <p:cNvSpPr/>
          <p:nvPr/>
        </p:nvSpPr>
        <p:spPr>
          <a:xfrm>
            <a:off x="886968" y="4721606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4582922"/>
            <a:ext cx="5605272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留学中も就活を個別指導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80" y="2193036"/>
            <a:ext cx="4053809" cy="3078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69480" y="2193036"/>
            <a:ext cx="4053809" cy="82296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2088" y="2558796"/>
            <a:ext cx="3468593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最大62万円の内訳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2088" y="3198876"/>
            <a:ext cx="346859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41505F"/>
                </a:solidFill>
                <a:latin typeface="Meiryo"/>
                <a:ea typeface="Meiryo"/>
                <a:cs typeface="Meiryo"/>
              </a:rPr>
              <a:t>留学中の授業料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2088" y="3546348"/>
            <a:ext cx="3468593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 i="0">
                <a:solidFill>
                  <a:srgbClr val="B34A33"/>
                </a:solidFill>
                <a:latin typeface="Meiryo"/>
                <a:ea typeface="Meiryo"/>
                <a:cs typeface="Meiryo"/>
              </a:rPr>
              <a:t>半額相当 42万円 免除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4212336"/>
            <a:ext cx="346859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41505F"/>
                </a:solidFill>
                <a:latin typeface="Meiryo"/>
                <a:ea typeface="Meiryo"/>
                <a:cs typeface="Meiryo"/>
              </a:rPr>
              <a:t>留学奨学金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4559808"/>
            <a:ext cx="3468593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 i="0">
                <a:solidFill>
                  <a:srgbClr val="B34A33"/>
                </a:solidFill>
                <a:latin typeface="Meiryo"/>
                <a:ea typeface="Meiryo"/>
                <a:cs typeface="Meiryo"/>
              </a:rPr>
              <a:t>20万円 支給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00700"/>
            <a:ext cx="1045460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41505F"/>
                </a:solidFill>
                <a:latin typeface="Meiryo"/>
                <a:ea typeface="Meiryo"/>
                <a:cs typeface="Meiryo"/>
              </a:rPr>
              <a:t>※1年間派遣の場合。選抜・10名程度。金額はチラシ掲載時点のものです。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spc="22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54609" cy="725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お金の話を、正直にします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13560"/>
            <a:ext cx="1417320" cy="6858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238756"/>
            <a:ext cx="4800600" cy="2827020"/>
          </a:xfrm>
          <a:prstGeom prst="rect">
            <a:avLst/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1636"/>
            <a:ext cx="4800600" cy="1417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9000" b="1" i="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95万円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969512"/>
            <a:ext cx="4251960" cy="931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4年間の3段すべてを受けた場合の合計</a:t>
            </a:r>
          </a:p>
        </p:txBody>
      </p:sp>
      <p:sp>
        <p:nvSpPr>
          <p:cNvPr id="9" name="Oval 8"/>
          <p:cNvSpPr/>
          <p:nvPr/>
        </p:nvSpPr>
        <p:spPr>
          <a:xfrm>
            <a:off x="6099048" y="2449068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2321052"/>
            <a:ext cx="4858481" cy="472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1年 検定料 3万円（条件あり）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8" y="3131820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03804"/>
            <a:ext cx="4858481" cy="899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2年 研修費 30万円（選抜10名）</a:t>
            </a:r>
          </a:p>
        </p:txBody>
      </p:sp>
      <p:sp>
        <p:nvSpPr>
          <p:cNvPr id="13" name="Oval 12"/>
          <p:cNvSpPr/>
          <p:nvPr/>
        </p:nvSpPr>
        <p:spPr>
          <a:xfrm>
            <a:off x="6099048" y="4241291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4113275"/>
            <a:ext cx="4858481" cy="899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3年 留学 最大62万円（選抜10名）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03520"/>
            <a:ext cx="1045460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41505F"/>
                </a:solidFill>
                <a:latin typeface="Meiryo"/>
                <a:ea typeface="Meiryo"/>
                <a:cs typeface="Meiryo"/>
              </a:rPr>
              <a:t>※1学年の定員は40名。研修・留学の枠はそれぞれ10名程度です。金額・人数は「Big Jump（Top10 Ver.2.0）」チラシ掲載時点のもの。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spc="22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BIG JUMP ／ 4年生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54609" cy="725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行って終わりには、しません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13560"/>
            <a:ext cx="1417320" cy="6858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3036"/>
            <a:ext cx="10454609" cy="560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 i="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帰ってきてからのフォローまでが Big Jump 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886968" y="3235452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3091434"/>
            <a:ext cx="10070561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留学後に プログラム修了証 を授与</a:t>
            </a:r>
          </a:p>
        </p:txBody>
      </p:sp>
      <p:sp>
        <p:nvSpPr>
          <p:cNvPr id="9" name="Oval 8"/>
          <p:cNvSpPr/>
          <p:nvPr/>
        </p:nvSpPr>
        <p:spPr>
          <a:xfrm>
            <a:off x="886968" y="3989832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3845814"/>
            <a:ext cx="10070561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就活で、実力を書類で示せます</a:t>
            </a:r>
          </a:p>
        </p:txBody>
      </p:sp>
      <p:sp>
        <p:nvSpPr>
          <p:cNvPr id="11" name="Oval 10"/>
          <p:cNvSpPr/>
          <p:nvPr/>
        </p:nvSpPr>
        <p:spPr>
          <a:xfrm>
            <a:off x="886968" y="4744212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4600194"/>
            <a:ext cx="10070561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卒業論文を英語で書くゼミも</a:t>
            </a:r>
          </a:p>
        </p:txBody>
      </p:sp>
      <p:sp>
        <p:nvSpPr>
          <p:cNvPr id="13" name="Oval 12"/>
          <p:cNvSpPr/>
          <p:nvPr/>
        </p:nvSpPr>
        <p:spPr>
          <a:xfrm>
            <a:off x="886968" y="5498592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5354574"/>
            <a:ext cx="10070561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後輩に体験を発表する側にまわります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spc="22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ENGLISH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54609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「英語が苦手」からのスタートで大丈夫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22120"/>
            <a:ext cx="1417320" cy="6858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65689" y="1874519"/>
            <a:ext cx="3657600" cy="3931920"/>
          </a:xfrm>
          <a:prstGeom prst="rect">
            <a:avLst/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65689" y="1874519"/>
            <a:ext cx="100584" cy="393192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76585" y="4846320"/>
            <a:ext cx="3035808" cy="7772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語学研修（NZ）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6585" y="2112263"/>
            <a:ext cx="3035808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9BABBC"/>
                </a:solidFill>
                <a:latin typeface="Meiryo"/>
                <a:ea typeface="Meiryo"/>
                <a:cs typeface="Meiryo"/>
              </a:rPr>
              <a:t>［写真を差し込む位置］　旧版のNZ語学研修の授業風景をここに配置</a:t>
            </a:r>
          </a:p>
        </p:txBody>
      </p:sp>
      <p:sp>
        <p:nvSpPr>
          <p:cNvPr id="10" name="Oval 9"/>
          <p:cNvSpPr/>
          <p:nvPr/>
        </p:nvSpPr>
        <p:spPr>
          <a:xfrm>
            <a:off x="886968" y="2250948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2101596"/>
            <a:ext cx="6092921" cy="543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得意な学生ばかりではありません</a:t>
            </a:r>
          </a:p>
        </p:txBody>
      </p:sp>
      <p:sp>
        <p:nvSpPr>
          <p:cNvPr id="12" name="Oval 11"/>
          <p:cNvSpPr/>
          <p:nvPr/>
        </p:nvSpPr>
        <p:spPr>
          <a:xfrm>
            <a:off x="886968" y="3023108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2873756"/>
            <a:ext cx="6092921" cy="543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「苦手だけど話せたら」が多数派</a:t>
            </a:r>
          </a:p>
        </p:txBody>
      </p:sp>
      <p:sp>
        <p:nvSpPr>
          <p:cNvPr id="14" name="Oval 13"/>
          <p:cNvSpPr/>
          <p:nvPr/>
        </p:nvSpPr>
        <p:spPr>
          <a:xfrm>
            <a:off x="886968" y="3795267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3645916"/>
            <a:ext cx="6092921" cy="543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高校は勉強、大学はトレーニング</a:t>
            </a:r>
          </a:p>
        </p:txBody>
      </p:sp>
      <p:sp>
        <p:nvSpPr>
          <p:cNvPr id="16" name="Oval 15"/>
          <p:cNvSpPr/>
          <p:nvPr/>
        </p:nvSpPr>
        <p:spPr>
          <a:xfrm>
            <a:off x="886968" y="4567427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4418075"/>
            <a:ext cx="6092921" cy="1041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留学生とキャンパスで日常的に交流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spc="22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GLOCAL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54609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学べるのは、海外のことだけじゃない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22120"/>
            <a:ext cx="1417320" cy="6858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65689" y="1874519"/>
            <a:ext cx="3657600" cy="3931920"/>
          </a:xfrm>
          <a:prstGeom prst="rect">
            <a:avLst/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65689" y="1874519"/>
            <a:ext cx="100584" cy="393192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76585" y="4846320"/>
            <a:ext cx="3035808" cy="7772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Japan Fiesta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6585" y="2112263"/>
            <a:ext cx="3035808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9BABBC"/>
                </a:solidFill>
                <a:latin typeface="Meiryo"/>
                <a:ea typeface="Meiryo"/>
                <a:cs typeface="Meiryo"/>
              </a:rPr>
              <a:t>［写真を差し込む位置］　Japan Fiesta（デニム折り紙・ばら）の写真をここに配置</a:t>
            </a:r>
          </a:p>
        </p:txBody>
      </p:sp>
      <p:sp>
        <p:nvSpPr>
          <p:cNvPr id="10" name="Oval 9"/>
          <p:cNvSpPr/>
          <p:nvPr/>
        </p:nvSpPr>
        <p:spPr>
          <a:xfrm>
            <a:off x="886968" y="2245614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2101596"/>
            <a:ext cx="6092921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事前に備後デニムとばらのまちを学ぶ</a:t>
            </a:r>
          </a:p>
        </p:txBody>
      </p:sp>
      <p:sp>
        <p:nvSpPr>
          <p:cNvPr id="12" name="Oval 11"/>
          <p:cNvSpPr/>
          <p:nvPr/>
        </p:nvSpPr>
        <p:spPr>
          <a:xfrm>
            <a:off x="886968" y="3480054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336036"/>
            <a:ext cx="6092921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現地でデニム折り紙をつくって交流</a:t>
            </a:r>
          </a:p>
        </p:txBody>
      </p:sp>
      <p:sp>
        <p:nvSpPr>
          <p:cNvPr id="14" name="Oval 13"/>
          <p:cNvSpPr/>
          <p:nvPr/>
        </p:nvSpPr>
        <p:spPr>
          <a:xfrm>
            <a:off x="886968" y="4234434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090416"/>
            <a:ext cx="6092921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「ばらのまち福山」を英語で発表</a:t>
            </a:r>
          </a:p>
        </p:txBody>
      </p:sp>
      <p:sp>
        <p:nvSpPr>
          <p:cNvPr id="16" name="Oval 15"/>
          <p:cNvSpPr/>
          <p:nvPr/>
        </p:nvSpPr>
        <p:spPr>
          <a:xfrm>
            <a:off x="886968" y="4988814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4844796"/>
            <a:ext cx="6092921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7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地元の話が、世界で話せる引き出しに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5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29260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3E8F84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073399"/>
            <a:ext cx="1737360" cy="82296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75735"/>
            <a:ext cx="10424160" cy="885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50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卒業後の進路と、入試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946904"/>
            <a:ext cx="155448" cy="155448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4800600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i="0">
                <a:solidFill>
                  <a:srgbClr val="CFE0F2"/>
                </a:solidFill>
                <a:latin typeface="Meiryo"/>
                <a:ea typeface="Meiryo"/>
                <a:cs typeface="Meiryo"/>
              </a:rPr>
              <a:t>出口の話をします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5495544"/>
            <a:ext cx="155448" cy="155448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5349240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i="0">
                <a:solidFill>
                  <a:srgbClr val="CFE0F2"/>
                </a:solidFill>
                <a:latin typeface="Meiryo"/>
                <a:ea typeface="Meiryo"/>
                <a:cs typeface="Meiryo"/>
              </a:rPr>
              <a:t>授業料 半額免除の入試まで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spc="22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STUDENT SATISFACTION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54609" cy="725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卒業生アンケートの結果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13560"/>
            <a:ext cx="1417320" cy="6858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3036"/>
            <a:ext cx="1045460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 i="0">
                <a:solidFill>
                  <a:srgbClr val="0B4C9E"/>
                </a:solidFill>
                <a:latin typeface="Meiryo"/>
                <a:ea typeface="Meiryo"/>
                <a:cs typeface="Meiryo"/>
              </a:rPr>
              <a:t>「学生生活に100%満足」と答えた卒業生の割合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93949"/>
            <a:ext cx="3154680" cy="5501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26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国際経済学科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9392" y="2869692"/>
            <a:ext cx="5169377" cy="494283"/>
          </a:xfrm>
          <a:prstGeom prst="rect">
            <a:avLst/>
          </a:prstGeom>
          <a:solidFill>
            <a:srgbClr val="B3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13361" y="2819654"/>
            <a:ext cx="1874519" cy="717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600" b="1" i="0">
                <a:solidFill>
                  <a:srgbClr val="B34A33"/>
                </a:solidFill>
                <a:latin typeface="Meiryo"/>
                <a:ea typeface="Meiryo"/>
                <a:cs typeface="Meiryo"/>
              </a:rPr>
              <a:t>45.5%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99129"/>
            <a:ext cx="3154680" cy="5501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2600" b="0" i="0">
                <a:solidFill>
                  <a:srgbClr val="41505F"/>
                </a:solidFill>
                <a:latin typeface="Meiryo"/>
                <a:ea typeface="Meiryo"/>
                <a:cs typeface="Meiryo"/>
              </a:rPr>
              <a:t>経済学科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3674872"/>
            <a:ext cx="2454034" cy="494283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98018" y="3690874"/>
            <a:ext cx="187451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i="0">
                <a:solidFill>
                  <a:srgbClr val="41505F"/>
                </a:solidFill>
                <a:latin typeface="Meiryo"/>
                <a:ea typeface="Meiryo"/>
                <a:cs typeface="Meiryo"/>
              </a:rPr>
              <a:t>21.6%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04309"/>
            <a:ext cx="3154680" cy="5501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2600" b="0" i="0">
                <a:solidFill>
                  <a:srgbClr val="41505F"/>
                </a:solidFill>
                <a:latin typeface="Meiryo"/>
                <a:ea typeface="Meiryo"/>
                <a:cs typeface="Meiryo"/>
              </a:rPr>
              <a:t>全学平均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4480052"/>
            <a:ext cx="2306337" cy="494283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0321" y="4496054"/>
            <a:ext cx="187451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i="0">
                <a:solidFill>
                  <a:srgbClr val="41505F"/>
                </a:solidFill>
                <a:latin typeface="Meiryo"/>
                <a:ea typeface="Meiryo"/>
                <a:cs typeface="Meiryo"/>
              </a:rPr>
              <a:t>20.3%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303520"/>
            <a:ext cx="1045460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41505F"/>
                </a:solidFill>
                <a:latin typeface="Meiryo"/>
                <a:ea typeface="Meiryo"/>
                <a:cs typeface="Meiryo"/>
              </a:rPr>
              <a:t>出所：2025年度（令和7年度）「福山大学での学修を振り返るアンケート」実施報告書。全15学科中トップ。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spc="22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CAREER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54609" cy="725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こんな道に進めます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13560"/>
            <a:ext cx="1417320" cy="6858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3036"/>
            <a:ext cx="10454609" cy="1074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 i="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経済学科・税務会計学科と共通の就職先に、語学の選択肢が加わります。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886968" y="3755136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3605784"/>
            <a:ext cx="10070561" cy="543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民間企業の国際部門</a:t>
            </a:r>
          </a:p>
        </p:txBody>
      </p:sp>
      <p:sp>
        <p:nvSpPr>
          <p:cNvPr id="9" name="Oval 8"/>
          <p:cNvSpPr/>
          <p:nvPr/>
        </p:nvSpPr>
        <p:spPr>
          <a:xfrm>
            <a:off x="886968" y="4527295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4377944"/>
            <a:ext cx="10070561" cy="543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運輸業界・旅行業界・ホテル業界</a:t>
            </a:r>
          </a:p>
        </p:txBody>
      </p:sp>
      <p:sp>
        <p:nvSpPr>
          <p:cNvPr id="11" name="Oval 10"/>
          <p:cNvSpPr/>
          <p:nvPr/>
        </p:nvSpPr>
        <p:spPr>
          <a:xfrm>
            <a:off x="886968" y="5299455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5150103"/>
            <a:ext cx="10070561" cy="543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地元企業で、英語を使う仕事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spc="22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QUALIFICATIONS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54609" cy="725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目指す資格と、大学の支援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13560"/>
            <a:ext cx="1417320" cy="6858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" y="2331720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2193036"/>
            <a:ext cx="5605272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英検 準2級＝入試の出願要件</a:t>
            </a:r>
          </a:p>
        </p:txBody>
      </p:sp>
      <p:sp>
        <p:nvSpPr>
          <p:cNvPr id="8" name="Oval 7"/>
          <p:cNvSpPr/>
          <p:nvPr/>
        </p:nvSpPr>
        <p:spPr>
          <a:xfrm>
            <a:off x="886968" y="3104896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966212"/>
            <a:ext cx="5605272" cy="97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中国語 HSK 3級＝同じく出願要件</a:t>
            </a:r>
          </a:p>
        </p:txBody>
      </p:sp>
      <p:sp>
        <p:nvSpPr>
          <p:cNvPr id="10" name="Oval 9"/>
          <p:cNvSpPr/>
          <p:nvPr/>
        </p:nvSpPr>
        <p:spPr>
          <a:xfrm>
            <a:off x="886968" y="4340351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4201668"/>
            <a:ext cx="5605272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在学中の目標は TOEIC 700点台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2193036"/>
            <a:ext cx="4053809" cy="3078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69480" y="2193036"/>
            <a:ext cx="4053809" cy="82296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2558796"/>
            <a:ext cx="3468593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1年次の検定料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3198876"/>
            <a:ext cx="346859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41505F"/>
                </a:solidFill>
                <a:latin typeface="Meiryo"/>
                <a:ea typeface="Meiryo"/>
                <a:cs typeface="Meiryo"/>
              </a:rPr>
              <a:t>補助額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2088" y="3546348"/>
            <a:ext cx="3468593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 i="0">
                <a:solidFill>
                  <a:srgbClr val="B34A33"/>
                </a:solidFill>
                <a:latin typeface="Meiryo"/>
                <a:ea typeface="Meiryo"/>
                <a:cs typeface="Meiryo"/>
              </a:rPr>
              <a:t>3万円まで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2088" y="4212336"/>
            <a:ext cx="346859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41505F"/>
                </a:solidFill>
                <a:latin typeface="Meiryo"/>
                <a:ea typeface="Meiryo"/>
                <a:cs typeface="Meiryo"/>
              </a:rPr>
              <a:t>対象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4559808"/>
            <a:ext cx="3468593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i="0">
                <a:solidFill>
                  <a:srgbClr val="B34A33"/>
                </a:solidFill>
                <a:latin typeface="Meiryo"/>
                <a:ea typeface="Meiryo"/>
                <a:cs typeface="Meiryo"/>
              </a:rPr>
              <a:t>学科の全員（条件あり）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00700"/>
            <a:ext cx="1045460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41505F"/>
                </a:solidFill>
                <a:latin typeface="Meiryo"/>
                <a:ea typeface="Meiryo"/>
                <a:cs typeface="Meiryo"/>
              </a:rPr>
              <a:t>※検定料補助の支給条件は、最新の募集要項でご確認ください。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spc="22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ADMISSION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54609" cy="725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学科独自の入試で、授業料 半額免除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13560"/>
            <a:ext cx="1417320" cy="6858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" y="2321052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2193036"/>
            <a:ext cx="10070561" cy="472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グローバル人材強化指定校推薦入試</a:t>
            </a:r>
          </a:p>
        </p:txBody>
      </p:sp>
      <p:sp>
        <p:nvSpPr>
          <p:cNvPr id="8" name="Oval 7"/>
          <p:cNvSpPr/>
          <p:nvPr/>
        </p:nvSpPr>
        <p:spPr>
          <a:xfrm>
            <a:off x="886968" y="2912364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84348"/>
            <a:ext cx="10070561" cy="472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出願要件：英検 準2級 または HSK 3級 以上</a:t>
            </a:r>
          </a:p>
        </p:txBody>
      </p:sp>
      <p:sp>
        <p:nvSpPr>
          <p:cNvPr id="10" name="Oval 9"/>
          <p:cNvSpPr/>
          <p:nvPr/>
        </p:nvSpPr>
        <p:spPr>
          <a:xfrm>
            <a:off x="886968" y="3503676"/>
            <a:ext cx="155448" cy="155448"/>
          </a:xfrm>
          <a:prstGeom prst="ellipse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3375660"/>
            <a:ext cx="10070561" cy="472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優遇：授業料を 半額免除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945635"/>
            <a:ext cx="10454609" cy="786384"/>
          </a:xfrm>
          <a:prstGeom prst="rect">
            <a:avLst/>
          </a:prstGeom>
          <a:solidFill>
            <a:srgbClr val="FF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945635"/>
            <a:ext cx="100584" cy="78638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7864" y="4073651"/>
            <a:ext cx="981452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5C4204"/>
                </a:solidFill>
                <a:latin typeface="Meiryo"/>
                <a:ea typeface="Meiryo"/>
                <a:cs typeface="Meiryo"/>
              </a:rPr>
              <a:t>英検準2級を持っている人は、語学の条件をもう満たしています。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06340"/>
            <a:ext cx="10454609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41505F"/>
                </a:solidFill>
                <a:latin typeface="Meiryo"/>
                <a:ea typeface="Meiryo"/>
                <a:cs typeface="Meiryo"/>
              </a:rPr>
              <a:t>※指定校推薦入試のため、在籍校が対象校である必要があります。免除の対象年次・継続条件を含め、制度内容は変更される場合があります。最新の入学者選抜要項を必ずご確認ください。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5460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 spc="220">
                <a:solidFill>
                  <a:srgbClr val="1160C4"/>
                </a:solidFill>
                <a:latin typeface="Meiryo"/>
                <a:ea typeface="Meiryo"/>
                <a:cs typeface="Meiryo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54609" cy="725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今日の3つ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13560"/>
            <a:ext cx="1417320" cy="68580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93036"/>
            <a:ext cx="10454609" cy="762507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193036"/>
            <a:ext cx="100584" cy="762507"/>
          </a:xfrm>
          <a:prstGeom prst="rect">
            <a:avLst/>
          </a:prstGeom>
          <a:solidFill>
            <a:srgbClr val="116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2245360"/>
            <a:ext cx="822960" cy="6578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700" b="1" i="0">
                <a:solidFill>
                  <a:srgbClr val="0B4C9E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339340"/>
            <a:ext cx="8625809" cy="469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4000"/>
              </a:lnSpc>
            </a:pPr>
            <a:r>
              <a:rPr sz="28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経済学 × 外国語 × 海外体験。定員40名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156712"/>
            <a:ext cx="10454609" cy="762507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156712"/>
            <a:ext cx="100584" cy="762507"/>
          </a:xfrm>
          <a:prstGeom prst="rect">
            <a:avLst/>
          </a:prstGeom>
          <a:solidFill>
            <a:srgbClr val="0A61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209036"/>
            <a:ext cx="822960" cy="6578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700" b="1" i="0">
                <a:solidFill>
                  <a:srgbClr val="0A6156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303016"/>
            <a:ext cx="8625809" cy="469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4000"/>
              </a:lnSpc>
            </a:pPr>
            <a:r>
              <a:rPr sz="28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Big Jump は4年間の階段。最大95万円の支援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120388"/>
            <a:ext cx="10454609" cy="762507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4120388"/>
            <a:ext cx="100584" cy="762507"/>
          </a:xfrm>
          <a:prstGeom prst="rect">
            <a:avLst/>
          </a:prstGeom>
          <a:solidFill>
            <a:srgbClr val="B3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4172712"/>
            <a:ext cx="822960" cy="6578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700" b="1" i="0">
                <a:solidFill>
                  <a:srgbClr val="B34A33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4266692"/>
            <a:ext cx="8625809" cy="469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4000"/>
              </a:lnSpc>
            </a:pPr>
            <a:r>
              <a:rPr sz="2700" b="1" i="0">
                <a:solidFill>
                  <a:srgbClr val="12253F"/>
                </a:solidFill>
                <a:latin typeface="Meiryo"/>
                <a:ea typeface="Meiryo"/>
                <a:cs typeface="Meiryo"/>
              </a:rPr>
              <a:t>英検準2級は、学科独自入試の出願要件のひとつ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5065776"/>
            <a:ext cx="10454609" cy="786384"/>
          </a:xfrm>
          <a:prstGeom prst="rect">
            <a:avLst/>
          </a:prstGeom>
          <a:solidFill>
            <a:srgbClr val="FF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5065776"/>
            <a:ext cx="100584" cy="78638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5193792"/>
            <a:ext cx="981452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5C4204"/>
                </a:solidFill>
                <a:latin typeface="Meiryo"/>
                <a:ea typeface="Meiryo"/>
                <a:cs typeface="Meiryo"/>
              </a:rPr>
              <a:t>まずは、検定から。今日帰ってから、できることが1つあります。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00329" y="64556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0" i="0">
                <a:solidFill>
                  <a:srgbClr val="8895A5"/>
                </a:solidFill>
                <a:latin typeface="Meiryo"/>
                <a:ea typeface="Meiryo"/>
                <a:cs typeface="Meiryo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4630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10058400" cy="1412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まずは一度、</a:t>
            </a:r>
          </a:p>
          <a:p>
            <a:pPr algn="ctr">
              <a:lnSpc>
                <a:spcPct val="130000"/>
              </a:lnSpc>
            </a:pPr>
            <a:r>
              <a:rPr sz="40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キャンパスに来てください。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227304" y="3378200"/>
            <a:ext cx="1737360" cy="82296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35400"/>
            <a:ext cx="100584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0" i="0">
                <a:solidFill>
                  <a:srgbClr val="CFE0F2"/>
                </a:solidFill>
                <a:latin typeface="Meiryo"/>
                <a:ea typeface="Meiryo"/>
                <a:cs typeface="Meiryo"/>
              </a:rPr>
              <a:t>研究室も、Bloomberg端末も見られます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438904"/>
            <a:ext cx="100584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0" i="0">
                <a:solidFill>
                  <a:srgbClr val="CFE0F2"/>
                </a:solidFill>
                <a:latin typeface="Meiryo"/>
                <a:ea typeface="Meiryo"/>
                <a:cs typeface="Meiryo"/>
              </a:rPr>
              <a:t>質問は、この場でも、このあとでも歓迎です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42408"/>
            <a:ext cx="100584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0" i="0">
                <a:solidFill>
                  <a:srgbClr val="CFE0F2"/>
                </a:solidFill>
                <a:latin typeface="Meiryo"/>
                <a:ea typeface="Meiryo"/>
                <a:cs typeface="Meiryo"/>
              </a:rPr>
              <a:t>あげ太くんにも会えます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760720"/>
            <a:ext cx="100584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1" i="0">
                <a:solidFill>
                  <a:srgbClr val="F2B01E"/>
                </a:solidFill>
                <a:latin typeface="Meiryo"/>
                <a:ea typeface="Meiryo"/>
                <a:cs typeface="Meiryo"/>
              </a:rPr>
              <a:t>福山大学 経済学部 国際経済学科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