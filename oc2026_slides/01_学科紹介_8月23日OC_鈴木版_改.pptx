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</p:sldIdLst>
  <p:sldSz cx="12191969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【つかみ／45秒】</a:t>
            </a:r>
          </a:p>
          <a:p>
            <a:r>
              <a:t>オープンキャンパスへようこそ。福山大学 経済学部 国際経済学科です。</a:t>
            </a:r>
          </a:p>
          <a:p/>
          <a:p>
            <a:r>
              <a:t>まず、この写真を指してください。</a:t>
            </a:r>
          </a:p>
          <a:p>
            <a:r>
              <a:t>「これは去年、うちの2年生がニュージーランドで撮った写真です。この写真の話は、あとでもう一度出てきます。」</a:t>
            </a:r>
          </a:p>
          <a:p>
            <a:r>
              <a:t>——ここで種を蒔いておくと、14枚目の答え合わせで空気が変わります。必ず言ってください。</a:t>
            </a:r>
          </a:p>
          <a:p/>
          <a:p>
            <a:r>
              <a:t>自分の名前は、次の自己紹介スライドで名乗ります。ここでは学科名だけで十分です。</a:t>
            </a:r>
          </a:p>
          <a:p>
            <a:r>
              <a:t>保護者の方が後方にいる場合は、この時点で一度、後方にも目線を送ってください。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【場をあたためる／60秒】</a:t>
            </a:r>
          </a:p>
          <a:p>
            <a:r>
              <a:t>Slido が使える会場なら、旧版どおりアイコン投票にしてください。使えなければ、この3択で挙手を取ります。</a:t>
            </a:r>
          </a:p>
          <a:p/>
          <a:p>
            <a:r>
              <a:t>コツは3つ。</a:t>
            </a:r>
          </a:p>
          <a:p>
            <a:r>
              <a:t>1. 自分が先に手を挙げて見本を見せる。</a:t>
            </a:r>
          </a:p>
          <a:p>
            <a:r>
              <a:t>2. 「正直、まだねむい」で必ず笑いが起きます。ここで一度笑わせておくと、後半の質問が出やすくなります。</a:t>
            </a:r>
          </a:p>
          <a:p>
            <a:r>
              <a:t>3. 保護者にも振る。「保護者の方も、ぜひ」。ここで保護者を"観客"から"参加者"に変えておくのが狙いです。</a:t>
            </a:r>
          </a:p>
          <a:p/>
          <a:p>
            <a:r>
              <a:t>余裕があれば「今日ここに来た理由」も一言ずつ拾ってください。</a:t>
            </a:r>
          </a:p>
          <a:p>
            <a:r>
              <a:t>拾った言葉は、後半の該当スライドで「さっき○○と言ってくれた方」と呼び戻すと効きます。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【地図を渡す＋伏線を張る／45秒】</a:t>
            </a:r>
          </a:p>
          <a:p>
            <a:r>
              <a:t>口頭で必ず言う3文。スライドには書いていません。</a:t>
            </a:r>
          </a:p>
          <a:p>
            <a:r>
              <a:t>1「20分でぴったり終わります。時計は見なくて大丈夫です。」</a:t>
            </a:r>
          </a:p>
          <a:p>
            <a:r>
              <a:t>2「途中でも、気になったところで手を挙げてください。」——実際に声に出して一度言うこと。言っておくだけで質問の出る確率が変わります。</a:t>
            </a:r>
          </a:p>
          <a:p>
            <a:r>
              <a:t>3「今日いちばん話したいのは、真ん中の②です。①はその前フリだと思って聞いてください。」</a:t>
            </a:r>
          </a:p>
          <a:p/>
          <a:p>
            <a:r>
              <a:t>そのうえで、帯の一文を読み上げます。</a:t>
            </a:r>
          </a:p>
          <a:p>
            <a:r>
              <a:t>「今日、数字を1つだけ覚えて帰ってください。何の数字かは、②のところで言います。」</a:t>
            </a:r>
          </a:p>
          <a:p>
            <a:r>
              <a:t>——これが2本目の伏線（1本目は表紙の写真）です。16枚目の「95万円」で必ず回収してください。</a:t>
            </a:r>
          </a:p>
          <a:p>
            <a:r>
              <a:t>答えを先に言わないこと。ここで言うと山場が消えます。</a:t>
            </a:r>
          </a:p>
          <a:p/>
          <a:p>
            <a:r>
              <a:t>保護者向けには、③を指して「お金の話は最後にきちんとします」と一言添えると、最後まで残る理由になります。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【人柄を見せる／2分30秒】</a:t>
            </a:r>
          </a:p>
          <a:p>
            <a:r>
              <a:t>肩書きより、現場の話をしてください。「毎年フィンランドに飛んで、まちのお金の流れを調べています。」</a:t>
            </a:r>
          </a:p>
          <a:p/>
          <a:p>
            <a:r>
              <a:t>あげ太くんは実物を持参して、ここで出してください。ここが本日いちばん笑いが取れる場所です。</a:t>
            </a:r>
          </a:p>
          <a:p>
            <a:r>
              <a:t>笑わせたあとに、そのまま研究室訪問の誘い文句につなげます。</a:t>
            </a:r>
          </a:p>
          <a:p>
            <a:r>
              <a:t>「研究室にはEUの傘とフィンランドの国旗があります。あげ太くんもいます。いつでも見に来てください。」</a:t>
            </a:r>
          </a:p>
          <a:p/>
          <a:p>
            <a:r>
              <a:t>締めのひとことで、次のクイズへ橋を架けます。</a:t>
            </a:r>
          </a:p>
          <a:p>
            <a:r>
              <a:t>「では質問です。なぜ広島の大学の教員が、北欧のお金の研究をしているんでしょう？</a:t>
            </a:r>
          </a:p>
          <a:p>
            <a:r>
              <a:t> ——その答えの前に、そもそも経済学って何の学問だと思いますか？」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【全員を参加させる／60秒】</a:t>
            </a:r>
          </a:p>
          <a:p>
            <a:r>
              <a:t>必ず3回とも挙手を取ってください。A、B、C の順に、一つずつ。</a:t>
            </a:r>
          </a:p>
          <a:p>
            <a:r>
              <a:t>挙手が少なくても粘ること。「じゃあ、まだ手を挙げていない人？」まで言うと、ほぼ全員が参加します。</a:t>
            </a:r>
          </a:p>
          <a:p/>
          <a:p>
            <a:r>
              <a:t>いちばん多かった選択肢を口に出して受け止めます。「Aが多いですね。よくある答えです。」</a:t>
            </a:r>
          </a:p>
          <a:p>
            <a:r>
              <a:t>——ここで「不正解」とは言わないこと。次の1枚で優しくひっくり返します。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【学問の入口を開く／75秒】</a:t>
            </a:r>
          </a:p>
          <a:p>
            <a:r>
              <a:t>まず一度はっきり否定してから定義に入ると、耳が向きます。</a:t>
            </a:r>
          </a:p>
          <a:p>
            <a:r>
              <a:t>「経済学＝お金もうけ、ではありません。限られたものを、どう配るか。それを数字で考える学問です。」</a:t>
            </a:r>
          </a:p>
          <a:p/>
          <a:p>
            <a:r>
              <a:t>3つの例は、指しながらテンポよく読んでください。ここは速くて構いません。</a:t>
            </a:r>
          </a:p>
          <a:p>
            <a:r>
              <a:t>口頭で4つ目を足します。「それから、会社の海外進出も経済学です。ぜんぶ守備範囲です。」</a:t>
            </a:r>
          </a:p>
          <a:p/>
          <a:p>
            <a:r>
              <a:t>最後に、さっきの問いを回収します。</a:t>
            </a:r>
          </a:p>
          <a:p>
            <a:r>
              <a:t>「なぜ広島の教員が北欧のお金を研究するのか。世界と地域はつながっているからです。</a:t>
            </a:r>
          </a:p>
          <a:p>
            <a:r>
              <a:t> だから、うちの学科の名前は"国際"経済学科です。」</a:t>
            </a:r>
          </a:p>
          <a:p/>
          <a:p>
            <a:r>
              <a:t>※時間が押しているときは、この1枚は速足で通過して構いません（クイズとセットなので、削るなら2枚同時に）。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【区切り／10秒】</a:t>
            </a:r>
          </a:p>
          <a:p>
            <a:r>
              <a:t>読み上げる必要はありません。1〜2秒見せて、すぐ次へ。</a:t>
            </a:r>
          </a:p>
          <a:p>
            <a:r>
              <a:t>区切りスライドは「話の切れ目」を体で分からせるための装置です。ここで一度、間を取ってください。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【学科の骨格／80秒】</a:t>
            </a:r>
          </a:p>
          <a:p>
            <a:r>
              <a:t>01は「40名」を強調。「学年で40人です。高校の1クラスと同じくらいの人数です。」</a:t>
            </a:r>
          </a:p>
          <a:p>
            <a:r>
              <a:t>——保護者にはここが効きます。面倒見の良さの根拠になります。</a:t>
            </a:r>
          </a:p>
          <a:p/>
          <a:p>
            <a:r>
              <a:t>02は「勉強」と「トレーニング」の対比だけ言えば十分。中身は18枚目で詳しくやります。</a:t>
            </a:r>
          </a:p>
          <a:p/>
          <a:p>
            <a:r>
              <a:t>03は「これは次に詳しく話します」と言って、Big Jump への導線にしてください。</a:t>
            </a:r>
          </a:p>
          <a:p>
            <a:r>
              <a:t>3枚のカードを全部読み上げないこと。指しながら、キーワードだけ拾います。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【信頼をつくる／65秒】</a:t>
            </a:r>
          </a:p>
          <a:p>
            <a:r>
              <a:t>機関名は具体的に、ゆっくり読んでください。ここは具体名を出すほど効きます。</a:t>
            </a:r>
          </a:p>
          <a:p>
            <a:r>
              <a:t>アジア開発銀行、世界銀行、内閣府、外資系投資銀行。</a:t>
            </a:r>
          </a:p>
          <a:p/>
          <a:p>
            <a:r>
              <a:t>「40人の学年に対して、専任の教員が8人います」と人数比で言うと、少人数教育の実感が伝わります。</a:t>
            </a:r>
          </a:p>
          <a:p/>
          <a:p>
            <a:r>
              <a:t>そのうえで手元を見させます。「配ったチラシに、同じ顔ぶれが載っています。」</a:t>
            </a:r>
          </a:p>
          <a:p>
            <a:r>
              <a:t>紙に目を落とさせると、記憶に残ります。</a:t>
            </a:r>
          </a:p>
          <a:p/>
          <a:p>
            <a:r>
              <a:t>※旧版にあった教員一覧の表は、この会場では読めないので外しました。</a:t>
            </a:r>
          </a:p>
          <a:p>
            <a:r>
              <a:t> 個別の先生の話が必要になったら、チラシを指しながら口頭で補ってください。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【本題の宣言／15秒】</a:t>
            </a:r>
          </a:p>
          <a:p>
            <a:r>
              <a:t>ここで一度、はっきり間を取ってください。</a:t>
            </a:r>
          </a:p>
          <a:p>
            <a:r>
              <a:t>「ここからが、今日の本題です。」</a:t>
            </a:r>
          </a:p>
          <a:p>
            <a:r>
              <a:t>——この一言のために区切りを入れています。急がないこと。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【今日の山場／2分20秒】</a:t>
            </a:r>
          </a:p>
          <a:p>
            <a:r>
              <a:t>この1枚だけは、時間をかけてください。まず一言。</a:t>
            </a:r>
          </a:p>
          <a:p>
            <a:r>
              <a:t>「いきなり『留学しろ』とは言いません。1段ずつ上ります。」</a:t>
            </a:r>
          </a:p>
          <a:p>
            <a:r>
              <a:t>そのうえで左から順に、指しながら話します。</a:t>
            </a:r>
          </a:p>
          <a:p/>
          <a:p>
            <a:r>
              <a:t>1年生：まだ海外には行きません。検定を受けます。その受験料を大学が出します。3万円、全員対象。</a:t>
            </a:r>
          </a:p>
          <a:p>
            <a:r>
              <a:t>2年生：5週間、オーストラリアかニュージーランドへ。研修費30万円。</a:t>
            </a:r>
          </a:p>
          <a:p>
            <a:r>
              <a:t>3年生：半年から1年の留学。最大62万円。</a:t>
            </a:r>
          </a:p>
          <a:p>
            <a:r>
              <a:t>4年生：それを、就職活動で使います。</a:t>
            </a:r>
          </a:p>
          <a:p/>
          <a:p>
            <a:r>
              <a:t>締めのひとこと：「階段になっているのがポイントです。いきなり留学しろとは言いません。」</a:t>
            </a:r>
          </a:p>
          <a:p/>
          <a:p>
            <a:r>
              <a:t>【時間がないときの保険】</a:t>
            </a:r>
          </a:p>
          <a:p>
            <a:r>
              <a:t>このあとの1年生〜4年生の詳細4枚（12・13・15・17枚目）は、この1枚に集約されています。</a:t>
            </a:r>
          </a:p>
          <a:p>
            <a:r>
              <a:t>押しているなら、この1枚を見せたあと16枚目「お金の話」へ飛んでも、話は成立します。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【1段目／70秒】</a:t>
            </a:r>
          </a:p>
          <a:p>
            <a:r>
              <a:t>「英検・TOEFL・IELTSの受験料が、戻ってきます。」——具体を言うこと。</a:t>
            </a:r>
          </a:p>
          <a:p/>
          <a:p>
            <a:r>
              <a:t>そのうえで一言添えます。「英語が得意でなくても、まず受けてみるところから始められます。」</a:t>
            </a:r>
          </a:p>
          <a:p>
            <a:r>
              <a:t>ここは"苦手な子でも入れる入口"を見せる場所です。</a:t>
            </a:r>
          </a:p>
          <a:p/>
          <a:p>
            <a:r>
              <a:t>下の注記は、質問が出たときだけ触れてください。自分から読み上げる必要はありません。</a:t>
            </a:r>
          </a:p>
          <a:p>
            <a:r>
              <a:t>【削る優先度：3番目】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【2段目／70秒】</a:t>
            </a:r>
          </a:p>
          <a:p>
            <a:r>
              <a:t>「5週間」の長さの感覚を伝えてください。「夏休みより、少し長いくらいです。」</a:t>
            </a:r>
          </a:p>
          <a:p/>
          <a:p>
            <a:r>
              <a:t>ホームステイである点に必ず触れること。「学校の外でも、英語を使うことになります。」</a:t>
            </a:r>
          </a:p>
          <a:p>
            <a:r>
              <a:t>——ここが語学研修とただの旅行の違いです。</a:t>
            </a:r>
          </a:p>
          <a:p/>
          <a:p>
            <a:r>
              <a:t>保護者は「知らない家に泊まる」ところが気になります。ホームステイ先は大学が手配していること、</a:t>
            </a:r>
          </a:p>
          <a:p>
            <a:r>
              <a:t>海外経験の豊富な教員がついていることを口頭で添えてください。</a:t>
            </a:r>
          </a:p>
          <a:p>
            <a:r>
              <a:t>【削る優先度：4番目】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【伏線の回収／80秒・空気が変わる1枚】</a:t>
            </a:r>
          </a:p>
          <a:p>
            <a:r>
              <a:t>表紙の写真の答え合わせをします。</a:t>
            </a:r>
          </a:p>
          <a:p>
            <a:r>
              <a:t>「最初にお見せした写真、覚えていますか。これが去年、実際に行った2年生9人です。」</a:t>
            </a:r>
          </a:p>
          <a:p/>
          <a:p>
            <a:r>
              <a:t>写真はキウイフルーツ農園への企業訪問です。締めのひとこと：</a:t>
            </a:r>
          </a:p>
          <a:p>
            <a:r>
              <a:t>「教室の英語が、仕事の現場の英語に変わる瞬間です。」</a:t>
            </a:r>
          </a:p>
          <a:p/>
          <a:p>
            <a:r>
              <a:t>制度の説明が続いたあとなので、この写真1枚で空気が変わります。</a:t>
            </a:r>
          </a:p>
          <a:p>
            <a:r>
              <a:t>急いで次に行かず、少し長めに見せて、黙る時間をつくってください。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【3段目・保護者に効く1枚／100秒】</a:t>
            </a:r>
          </a:p>
          <a:p>
            <a:r>
              <a:t>62万円は、必ず内訳まで言ってください。授業料半額相当の42万円免除と、留学奨学金20万円。</a:t>
            </a:r>
          </a:p>
          <a:p>
            <a:r>
              <a:t>数字は具体的なほど信用されます。</a:t>
            </a:r>
          </a:p>
          <a:p/>
          <a:p>
            <a:r>
              <a:t>3つ目の「留学中も就活をオンラインで個別指導」は、保護者向けの最重要ポイントです。</a:t>
            </a:r>
          </a:p>
          <a:p>
            <a:r>
              <a:t>「留学すると就職活動に出遅れるのでは」という不安に、これが答えになります。</a:t>
            </a:r>
          </a:p>
          <a:p>
            <a:r>
              <a:t>ここは保護者席のほうを向いて言ってください。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【誠実さで信用を取る1枚／100秒】</a:t>
            </a:r>
          </a:p>
          <a:p>
            <a:r>
              <a:t>「お金の話を、正直にします」と前置きしてから、95万円を出してください。</a:t>
            </a:r>
          </a:p>
          <a:p/>
          <a:p>
            <a:r>
              <a:t>そのうえで、すぐに条件を言います。</a:t>
            </a:r>
          </a:p>
          <a:p>
            <a:r>
              <a:t>「3万円は全員。30万円と62万円は選抜で、それぞれ10名程度です。」</a:t>
            </a:r>
          </a:p>
          <a:p/>
          <a:p>
            <a:r>
              <a:t>ただし、と続けます。「1学年40人の学科です。10名程度というのは、決して狭き門ではありません。」</a:t>
            </a:r>
          </a:p>
          <a:p>
            <a:r>
              <a:t>——この一言は必ず添えてください。落とすためではなく、届く距離だと伝えるためのスライドです。</a:t>
            </a:r>
          </a:p>
          <a:p/>
          <a:p>
            <a:r>
              <a:t>盛らないことが大事です。ここで正直に条件を言うから、このあとの入試の話が信用されます。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【4段目／70秒】</a:t>
            </a:r>
          </a:p>
          <a:p>
            <a:r>
              <a:t>「行って終わりにはしません」がこの1枚のポイントです。</a:t>
            </a:r>
          </a:p>
          <a:p/>
          <a:p>
            <a:r>
              <a:t>修了証が出るので、就職活動で「留学しました」と口で言うだけでなく、書類で示せます。</a:t>
            </a:r>
          </a:p>
          <a:p>
            <a:r>
              <a:t>——保護者はここを聞いています。</a:t>
            </a:r>
          </a:p>
          <a:p/>
          <a:p>
            <a:r>
              <a:t>「卒業論文を英語で書くゼミがある」は他学科にない特徴なので、一言添えてください。</a:t>
            </a:r>
          </a:p>
          <a:p>
            <a:r>
              <a:t>【削る優先度：5番目】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【いちばん刺さる1枚／85秒・絶対に削らない】</a:t>
            </a:r>
          </a:p>
          <a:p>
            <a:r>
              <a:t>ゆっくり話してください。</a:t>
            </a:r>
          </a:p>
          <a:p/>
          <a:p>
            <a:r>
              <a:t>「入学してくる学生も、英語が得意な人ばかりではありません。</a:t>
            </a:r>
          </a:p>
          <a:p>
            <a:r>
              <a:t> むしろ『苦手だけど話せたらいいな』が多数派です。」</a:t>
            </a:r>
          </a:p>
          <a:p/>
          <a:p>
            <a:r>
              <a:t>ここまで金額の話が続いたあとなので、「制度は分かったけれど、自分には無理だ」と</a:t>
            </a:r>
          </a:p>
          <a:p>
            <a:r>
              <a:t>思ってしまった生徒を、この1枚で拾い直します。</a:t>
            </a:r>
          </a:p>
          <a:p/>
          <a:p>
            <a:r>
              <a:t>最後に一言。「TOEICのスコアと海外経験は、採用の場でそのまま評価されます。</a:t>
            </a:r>
          </a:p>
          <a:p>
            <a:r>
              <a:t>苦手を、そのまま強みに変えられる4年間です。」</a:t>
            </a:r>
          </a:p>
          <a:p/>
          <a:p>
            <a:r>
              <a:t>【時間がどれだけ押しても、この1枚は残してください。】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【学科名の"地域"を回収／70秒】</a:t>
            </a:r>
          </a:p>
          <a:p>
            <a:r>
              <a:t>表紙の「地域をフィールドに学び、世界とつながる。」を、ここで回収します。</a:t>
            </a:r>
          </a:p>
          <a:p/>
          <a:p>
            <a:r>
              <a:t>「ばらのまち福山を、英語でプレゼンした学生がいます。</a:t>
            </a:r>
          </a:p>
          <a:p>
            <a:r>
              <a:t> 地元を深く知っていることが、そのまま海外で話せるネタになる。」</a:t>
            </a:r>
          </a:p>
          <a:p/>
          <a:p>
            <a:r>
              <a:t>会場には福山以外から来ている高校生もいます。最後にこう振ってください。</a:t>
            </a:r>
          </a:p>
          <a:p>
            <a:r>
              <a:t>「みなさんの地元にも、同じように語れるものが必ずあります。それを探しに来てください。」</a:t>
            </a:r>
          </a:p>
          <a:p>
            <a:r>
              <a:t>——ここが、生徒がいちばん自分ごとにできる場所です。</a:t>
            </a:r>
          </a:p>
          <a:p>
            <a:r>
              <a:t>【削る優先度：2番目】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【区切り／10秒】</a:t>
            </a:r>
          </a:p>
          <a:p>
            <a:r>
              <a:t>「最後に、出口の話をします」とだけ言って進んでください。</a:t>
            </a:r>
          </a:p>
          <a:p>
            <a:r>
              <a:t>保護者がいちばん聞きたいブロックです。ここで姿勢が変わります。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【根拠を示す／70秒】</a:t>
            </a:r>
          </a:p>
          <a:p>
            <a:r>
              <a:t>「全15学科中トップ、全学平均は20.3%」。この2つを並べて言うと、数字が効きます。</a:t>
            </a:r>
          </a:p>
          <a:p/>
          <a:p>
            <a:r>
              <a:t>出所も口頭で一度言ってください。</a:t>
            </a:r>
          </a:p>
          <a:p>
            <a:r>
              <a:t>「福山大学での学修を振り返るアンケート、令和7年度の報告書です。」</a:t>
            </a:r>
          </a:p>
          <a:p>
            <a:r>
              <a:t>根拠を示すと、保護者に信用されます。</a:t>
            </a:r>
          </a:p>
          <a:p/>
          <a:p>
            <a:r>
              <a:t>あわせて口頭で補足（スライドには載せていません）：</a:t>
            </a:r>
          </a:p>
          <a:p>
            <a:r>
              <a:t>外国語の運用能力、チャレンジ精神・意欲、外国語の授業への満足度も学部トップでした。</a:t>
            </a:r>
          </a:p>
          <a:p/>
          <a:p>
            <a:r>
              <a:t>※旧版のグラフにあった他学科（税務会計学科10.5%）は外しています。</a:t>
            </a:r>
          </a:p>
          <a:p>
            <a:r>
              <a:t> 同じ日に説明会を開いている学科なので、並べて低く見せない配慮です。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【出口を見せる／65秒】</a:t>
            </a:r>
          </a:p>
          <a:p>
            <a:r>
              <a:t>リード文が要点です。経済学部の他学科と同じ就職先を土台にして、そこへ語学系の選択肢が乗る、という構造。</a:t>
            </a:r>
          </a:p>
          <a:p>
            <a:r>
              <a:t>「就職の幅が狭くなるのでは」という保護者の不安への答えになります。</a:t>
            </a:r>
          </a:p>
          <a:p/>
          <a:p>
            <a:r>
              <a:t>TOEICは、企業が英語力を判定する事実上の基準です、と一言添えてください。</a:t>
            </a:r>
          </a:p>
          <a:p/>
          <a:p>
            <a:r>
              <a:t>※国際経済学科の直近の具体的な就職先（社名）は未確認です。社名は口に出さないでください。</a:t>
            </a:r>
          </a:p>
          <a:p>
            <a:r>
              <a:t> 質問が出たら「入試広報室で確認して、後日お答えします」と答えてください。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【次のスライドへの伏線／60秒】</a:t>
            </a:r>
          </a:p>
          <a:p>
            <a:r>
              <a:t>英検とHSKの行を指して、こう言っておいてください。</a:t>
            </a:r>
          </a:p>
          <a:p>
            <a:r>
              <a:t>「準2級、HSK3級というのは、このあと出てくる入試の出願要件と同じ数字です。」</a:t>
            </a:r>
          </a:p>
          <a:p>
            <a:r>
              <a:t>——ここで一度言っておくと、次の入試のスライドが一発で理解されます。</a:t>
            </a:r>
          </a:p>
          <a:p/>
          <a:p>
            <a:r>
              <a:t>【削る優先度：1番目】次のスライドで同じ数字がもう一度出るので、押していれば飛ばせます。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【本日いちばん実際的な話／100秒】</a:t>
            </a:r>
          </a:p>
          <a:p>
            <a:r>
              <a:t>目の前の生徒に引きつけて言ってください。</a:t>
            </a:r>
          </a:p>
          <a:p>
            <a:r>
              <a:t>「いま3年生で英検準2級を持っている人は、もうこの入試の出願資格があります。」</a:t>
            </a:r>
          </a:p>
          <a:p/>
          <a:p>
            <a:r>
              <a:t>そのうえで保護者へ（スライドには書いていません、口頭で）。</a:t>
            </a:r>
          </a:p>
          <a:p>
            <a:r>
              <a:t>「浮いたお金を、留学や海外研修に回せます。自宅から通えば、下宿代もかかりません。都市部で一人暮らし＋授業料全額と比べると、差は相当大きくなります。</a:t>
            </a:r>
          </a:p>
          <a:p>
            <a:r>
              <a:t> 浮いた分を、留学や海外研修に回す。それがこの学科の考え方です。」</a:t>
            </a:r>
          </a:p>
          <a:p/>
          <a:p>
            <a:r>
              <a:t>※未確認事項：評定平均、専願かどうか、学校長推薦の要否、筆記試験免除の有無、免除の継続条件。</a:t>
            </a:r>
          </a:p>
          <a:p>
            <a:r>
              <a:t> 質問が出たら「最新の入学者選抜要項で確認して回答します」と答えてください。推測で答えないこと。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【持ち帰るものを1つに絞る／70秒】</a:t>
            </a:r>
          </a:p>
          <a:p>
            <a:r>
              <a:t>3行を読み上げるだけで十分です。付け足さないこと。</a:t>
            </a:r>
          </a:p>
          <a:p/>
          <a:p>
            <a:r>
              <a:t>特に3行目「まずは検定から」で終わらせてください。</a:t>
            </a:r>
          </a:p>
          <a:p>
            <a:r>
              <a:t>今日この場から帰って、明日できることが1つある——という形にするのが狙いです。</a:t>
            </a:r>
          </a:p>
          <a:p/>
          <a:p>
            <a:r>
              <a:t>保護者には「お子さんが英検を受けると言い出したら、それがスタートです」と添えると、</a:t>
            </a:r>
          </a:p>
          <a:p>
            <a:r>
              <a:t>家に帰ってからの会話が生まれます。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【締め／45秒】</a:t>
            </a:r>
          </a:p>
          <a:p>
            <a:r>
              <a:t>最後に必ず一度、「何か質問はありますか」と聞いてください。5秒は待つこと。</a:t>
            </a:r>
          </a:p>
          <a:p>
            <a:r>
              <a:t>出なければ「あとで個別に聞きに来てもらってもかまいません」で締めます。</a:t>
            </a:r>
          </a:p>
          <a:p/>
          <a:p>
            <a:r>
              <a:t>そのあと、必ず物理的な次の一歩を指してください。</a:t>
            </a:r>
          </a:p>
          <a:p>
            <a:r>
              <a:t>「このあと、個別相談のブースにいます。」「研究室の見学もできます。」</a:t>
            </a:r>
          </a:p>
          <a:p>
            <a:r>
              <a:t>——OCは"次の行動"まで案内して、はじめて完結します。</a:t>
            </a:r>
          </a:p>
          <a:p/>
          <a:p>
            <a:r>
              <a:t>保護者には最後に一言。「保護者の方からのご質問も、遠慮なくどうぞ。」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3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4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5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6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0E2A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183879" y="0"/>
            <a:ext cx="4008089" cy="6858000"/>
          </a:xfrm>
          <a:prstGeom prst="rect">
            <a:avLst/>
          </a:prstGeom>
          <a:solidFill>
            <a:srgbClr val="1637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183879" y="0"/>
            <a:ext cx="109728" cy="6858000"/>
          </a:xfrm>
          <a:prstGeom prst="rect">
            <a:avLst/>
          </a:prstGeom>
          <a:solidFill>
            <a:srgbClr val="F2B0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549640" y="566928"/>
            <a:ext cx="3322289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1" i="0">
                <a:solidFill>
                  <a:srgbClr val="C9DCF0"/>
                </a:solidFill>
                <a:latin typeface="Meiryo"/>
                <a:ea typeface="Meiryo"/>
                <a:cs typeface="Meiryo"/>
              </a:rPr>
              <a:t>［写真を差し込む位置］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549640" y="969264"/>
            <a:ext cx="3322289" cy="8961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600" b="0" i="0">
                <a:solidFill>
                  <a:srgbClr val="C9DCF0"/>
                </a:solidFill>
                <a:latin typeface="Meiryo"/>
                <a:ea typeface="Meiryo"/>
                <a:cs typeface="Meiryo"/>
              </a:rPr>
              <a:t>旧版の表紙写真（NZ・リンカーン大学／2025年度TOP10プログラム）をここに配置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549640" y="5257800"/>
            <a:ext cx="3322289" cy="1188720"/>
          </a:xfrm>
          <a:prstGeom prst="rect">
            <a:avLst/>
          </a:prstGeom>
          <a:noFill/>
        </p:spPr>
        <p:txBody>
          <a:bodyPr wrap="square" lIns="0" rIns="0" tIns="0" bIns="0" anchor="b">
            <a:spAutoFit/>
          </a:bodyPr>
          <a:lstStyle/>
          <a:p>
            <a:pPr algn="l">
              <a:lnSpc>
                <a:spcPct val="135000"/>
              </a:lnSpc>
            </a:pPr>
            <a:r>
              <a:rPr sz="2000" b="1" i="0">
                <a:solidFill>
                  <a:srgbClr val="E2ECF7"/>
                </a:solidFill>
                <a:latin typeface="Meiryo"/>
                <a:ea typeface="Meiryo"/>
                <a:cs typeface="Meiryo"/>
              </a:rPr>
              <a:t>2025年度 TOP10プログラム</a:t>
            </a:r>
          </a:p>
          <a:p>
            <a:pPr algn="l">
              <a:lnSpc>
                <a:spcPct val="135000"/>
              </a:lnSpc>
            </a:pPr>
            <a:r>
              <a:rPr sz="2000" b="1" i="0">
                <a:solidFill>
                  <a:srgbClr val="E2ECF7"/>
                </a:solidFill>
                <a:latin typeface="Meiryo"/>
                <a:ea typeface="Meiryo"/>
                <a:cs typeface="Meiryo"/>
              </a:rPr>
              <a:t>ニュージーランド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" y="914400"/>
            <a:ext cx="6766559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2000" b="1" i="0" spc="200">
                <a:solidFill>
                  <a:srgbClr val="F2B01E"/>
                </a:solidFill>
                <a:latin typeface="Meiryo"/>
                <a:ea typeface="Meiryo"/>
                <a:cs typeface="Meiryo"/>
              </a:rPr>
              <a:t>FUKUYAMA UNIVERSITY OPEN CAMPUS 2026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1554480"/>
            <a:ext cx="6766559" cy="1307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6000"/>
              </a:lnSpc>
            </a:pPr>
            <a:r>
              <a:rPr sz="3800" b="1" i="0">
                <a:solidFill>
                  <a:srgbClr val="FFFFFF"/>
                </a:solidFill>
                <a:latin typeface="Meiryo"/>
                <a:ea typeface="Meiryo"/>
                <a:cs typeface="Meiryo"/>
              </a:rPr>
              <a:t>地域をフィールドに学び、</a:t>
            </a:r>
          </a:p>
          <a:p>
            <a:pPr algn="l">
              <a:lnSpc>
                <a:spcPct val="126000"/>
              </a:lnSpc>
            </a:pPr>
            <a:r>
              <a:rPr sz="3800" b="1" i="0">
                <a:solidFill>
                  <a:srgbClr val="FFFFFF"/>
                </a:solidFill>
                <a:latin typeface="Meiryo"/>
                <a:ea typeface="Meiryo"/>
                <a:cs typeface="Meiryo"/>
              </a:rPr>
              <a:t>世界とつながる。</a:t>
            </a:r>
          </a:p>
        </p:txBody>
      </p:sp>
      <p:sp>
        <p:nvSpPr>
          <p:cNvPr id="10" name="Rectangle 9"/>
          <p:cNvSpPr/>
          <p:nvPr/>
        </p:nvSpPr>
        <p:spPr>
          <a:xfrm>
            <a:off x="868680" y="3191256"/>
            <a:ext cx="1737360" cy="82296"/>
          </a:xfrm>
          <a:prstGeom prst="rect">
            <a:avLst/>
          </a:prstGeom>
          <a:solidFill>
            <a:srgbClr val="F2B0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68680" y="3611880"/>
            <a:ext cx="6766559" cy="58750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3000" b="0" i="0">
                <a:solidFill>
                  <a:srgbClr val="DCE8F5"/>
                </a:solidFill>
                <a:latin typeface="Meiryo"/>
                <a:ea typeface="Meiryo"/>
                <a:cs typeface="Meiryo"/>
              </a:rPr>
              <a:t>福山大学 経済学部 国際経済学科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68680" y="5449824"/>
            <a:ext cx="6766559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2000" b="0" i="0">
                <a:solidFill>
                  <a:srgbClr val="BBD0E6"/>
                </a:solidFill>
                <a:latin typeface="Meiryo"/>
                <a:ea typeface="Meiryo"/>
                <a:cs typeface="Meiryo"/>
              </a:rPr>
              <a:t>学科紹介 ― Big Jump プログラム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8680" y="5870448"/>
            <a:ext cx="6766559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2000" b="0" i="0">
                <a:solidFill>
                  <a:srgbClr val="BBD0E6"/>
                </a:solidFill>
                <a:latin typeface="Meiryo"/>
                <a:ea typeface="Meiryo"/>
                <a:cs typeface="Meiryo"/>
              </a:rPr>
              <a:t>2026年8月23日（日）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F5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969" cy="146304"/>
          </a:xfrm>
          <a:prstGeom prst="rect">
            <a:avLst/>
          </a:prstGeom>
          <a:solidFill>
            <a:srgbClr val="F2B0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68680" y="621792"/>
            <a:ext cx="10454609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2000" b="1" i="0" spc="240">
                <a:solidFill>
                  <a:srgbClr val="5C4204"/>
                </a:solidFill>
                <a:latin typeface="Meiryo"/>
                <a:ea typeface="Meiryo"/>
                <a:cs typeface="Meiryo"/>
              </a:rPr>
              <a:t>ICE BREAK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8680" y="1188720"/>
            <a:ext cx="10454609" cy="7701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8000"/>
              </a:lnSpc>
            </a:pPr>
            <a:r>
              <a:rPr sz="4400" b="1" i="0">
                <a:solidFill>
                  <a:srgbClr val="12253F"/>
                </a:solidFill>
                <a:latin typeface="Meiryo"/>
                <a:ea typeface="Meiryo"/>
                <a:cs typeface="Meiryo"/>
              </a:rPr>
              <a:t>いまの気持ちを、教えてください。</a:t>
            </a:r>
          </a:p>
        </p:txBody>
      </p:sp>
      <p:sp>
        <p:nvSpPr>
          <p:cNvPr id="6" name="Rectangle 5"/>
          <p:cNvSpPr/>
          <p:nvPr/>
        </p:nvSpPr>
        <p:spPr>
          <a:xfrm>
            <a:off x="868680" y="2406904"/>
            <a:ext cx="3314181" cy="2240280"/>
          </a:xfrm>
          <a:prstGeom prst="rect">
            <a:avLst/>
          </a:prstGeom>
          <a:solidFill>
            <a:srgbClr val="FFFFFF"/>
          </a:solidFill>
          <a:ln w="17780">
            <a:solidFill>
              <a:srgbClr val="D8DE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2196586" y="2662936"/>
            <a:ext cx="658368" cy="658368"/>
          </a:xfrm>
          <a:prstGeom prst="ellipse">
            <a:avLst/>
          </a:prstGeom>
          <a:solidFill>
            <a:srgbClr val="1160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196586" y="2754376"/>
            <a:ext cx="658368" cy="4572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2800" b="1" i="0">
                <a:solidFill>
                  <a:srgbClr val="FFFFFF"/>
                </a:solidFill>
                <a:latin typeface="Meiryo"/>
                <a:ea typeface="Meiryo"/>
                <a:cs typeface="Meiryo"/>
              </a:rPr>
              <a:t>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" y="3504184"/>
            <a:ext cx="2856981" cy="960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0000"/>
              </a:lnSpc>
            </a:pPr>
            <a:r>
              <a:rPr sz="2800" b="1" i="0">
                <a:solidFill>
                  <a:srgbClr val="12253F"/>
                </a:solidFill>
                <a:latin typeface="Meiryo"/>
                <a:ea typeface="Meiryo"/>
                <a:cs typeface="Meiryo"/>
              </a:rPr>
              <a:t>わくわく</a:t>
            </a:r>
          </a:p>
          <a:p>
            <a:pPr algn="ctr">
              <a:lnSpc>
                <a:spcPct val="130000"/>
              </a:lnSpc>
            </a:pPr>
            <a:r>
              <a:rPr sz="2800" b="1" i="0">
                <a:solidFill>
                  <a:srgbClr val="12253F"/>
                </a:solidFill>
                <a:latin typeface="Meiryo"/>
                <a:ea typeface="Meiryo"/>
                <a:cs typeface="Meiryo"/>
              </a:rPr>
              <a:t>している</a:t>
            </a:r>
          </a:p>
        </p:txBody>
      </p:sp>
      <p:sp>
        <p:nvSpPr>
          <p:cNvPr id="10" name="Rectangle 9"/>
          <p:cNvSpPr/>
          <p:nvPr/>
        </p:nvSpPr>
        <p:spPr>
          <a:xfrm>
            <a:off x="4438893" y="2406904"/>
            <a:ext cx="3314181" cy="2240280"/>
          </a:xfrm>
          <a:prstGeom prst="rect">
            <a:avLst/>
          </a:prstGeom>
          <a:solidFill>
            <a:srgbClr val="FFFFFF"/>
          </a:solidFill>
          <a:ln w="17780">
            <a:solidFill>
              <a:srgbClr val="D8DE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5766800" y="2662936"/>
            <a:ext cx="658368" cy="658368"/>
          </a:xfrm>
          <a:prstGeom prst="ellipse">
            <a:avLst/>
          </a:prstGeom>
          <a:solidFill>
            <a:srgbClr val="1160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766800" y="2754376"/>
            <a:ext cx="658368" cy="4572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2800" b="1" i="0">
                <a:solidFill>
                  <a:srgbClr val="FFFFFF"/>
                </a:solidFill>
                <a:latin typeface="Meiryo"/>
                <a:ea typeface="Meiryo"/>
                <a:cs typeface="Meiryo"/>
              </a:rPr>
              <a:t>B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667493" y="3504184"/>
            <a:ext cx="2856981" cy="960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0000"/>
              </a:lnSpc>
            </a:pPr>
            <a:r>
              <a:rPr sz="2800" b="1" i="0">
                <a:solidFill>
                  <a:srgbClr val="12253F"/>
                </a:solidFill>
                <a:latin typeface="Meiryo"/>
                <a:ea typeface="Meiryo"/>
                <a:cs typeface="Meiryo"/>
              </a:rPr>
              <a:t>とりあえず</a:t>
            </a:r>
          </a:p>
          <a:p>
            <a:pPr algn="ctr">
              <a:lnSpc>
                <a:spcPct val="130000"/>
              </a:lnSpc>
            </a:pPr>
            <a:r>
              <a:rPr sz="2800" b="1" i="0">
                <a:solidFill>
                  <a:srgbClr val="12253F"/>
                </a:solidFill>
                <a:latin typeface="Meiryo"/>
                <a:ea typeface="Meiryo"/>
                <a:cs typeface="Meiryo"/>
              </a:rPr>
              <a:t>来てみた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009107" y="2406904"/>
            <a:ext cx="3314181" cy="2240280"/>
          </a:xfrm>
          <a:prstGeom prst="rect">
            <a:avLst/>
          </a:prstGeom>
          <a:solidFill>
            <a:srgbClr val="FFFFFF"/>
          </a:solidFill>
          <a:ln w="17780">
            <a:solidFill>
              <a:srgbClr val="D8DE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9337014" y="2662936"/>
            <a:ext cx="658368" cy="658368"/>
          </a:xfrm>
          <a:prstGeom prst="ellipse">
            <a:avLst/>
          </a:prstGeom>
          <a:solidFill>
            <a:srgbClr val="1160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337014" y="2754376"/>
            <a:ext cx="658368" cy="4572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2800" b="1" i="0">
                <a:solidFill>
                  <a:srgbClr val="FFFFFF"/>
                </a:solidFill>
                <a:latin typeface="Meiryo"/>
                <a:ea typeface="Meiryo"/>
                <a:cs typeface="Meiryo"/>
              </a:rPr>
              <a:t>C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37707" y="3504184"/>
            <a:ext cx="2856981" cy="960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0000"/>
              </a:lnSpc>
            </a:pPr>
            <a:r>
              <a:rPr sz="2800" b="1" i="0">
                <a:solidFill>
                  <a:srgbClr val="12253F"/>
                </a:solidFill>
                <a:latin typeface="Meiryo"/>
                <a:ea typeface="Meiryo"/>
                <a:cs typeface="Meiryo"/>
              </a:rPr>
              <a:t>正直、まだ</a:t>
            </a:r>
          </a:p>
          <a:p>
            <a:pPr algn="ctr">
              <a:lnSpc>
                <a:spcPct val="130000"/>
              </a:lnSpc>
            </a:pPr>
            <a:r>
              <a:rPr sz="2800" b="1" i="0">
                <a:solidFill>
                  <a:srgbClr val="12253F"/>
                </a:solidFill>
                <a:latin typeface="Meiryo"/>
                <a:ea typeface="Meiryo"/>
                <a:cs typeface="Meiryo"/>
              </a:rPr>
              <a:t>ねむい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68680" y="4921504"/>
            <a:ext cx="10454609" cy="786384"/>
          </a:xfrm>
          <a:prstGeom prst="rect">
            <a:avLst/>
          </a:prstGeom>
          <a:solidFill>
            <a:srgbClr val="FFF4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868680" y="4921504"/>
            <a:ext cx="100584" cy="786384"/>
          </a:xfrm>
          <a:prstGeom prst="rect">
            <a:avLst/>
          </a:prstGeom>
          <a:solidFill>
            <a:srgbClr val="F2B0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197864" y="5049520"/>
            <a:ext cx="9814529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2400" b="1" i="0">
                <a:solidFill>
                  <a:srgbClr val="5C4204"/>
                </a:solidFill>
                <a:latin typeface="Meiryo"/>
                <a:ea typeface="Meiryo"/>
                <a:cs typeface="Meiryo"/>
              </a:rPr>
              <a:t>手を挙げてください。― 保護者の方も、ぜひ。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500329" y="6455664"/>
            <a:ext cx="8229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400" b="0" i="0">
                <a:solidFill>
                  <a:srgbClr val="8895A5"/>
                </a:solidFill>
                <a:latin typeface="Meiryo"/>
                <a:ea typeface="Meiryo"/>
                <a:cs typeface="Meiryo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68680" y="502920"/>
            <a:ext cx="10454609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2000" b="1" i="0" spc="220">
                <a:solidFill>
                  <a:srgbClr val="1160C4"/>
                </a:solidFill>
                <a:latin typeface="Meiryo"/>
                <a:ea typeface="Meiryo"/>
                <a:cs typeface="Meiryo"/>
              </a:rPr>
              <a:t>AGENDA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68680" y="960120"/>
            <a:ext cx="10454609" cy="7254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4400" b="1" i="0">
                <a:solidFill>
                  <a:srgbClr val="12253F"/>
                </a:solidFill>
                <a:latin typeface="Meiryo"/>
                <a:ea typeface="Meiryo"/>
                <a:cs typeface="Meiryo"/>
              </a:rPr>
              <a:t>今日話すこと（20分）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868680" y="1813560"/>
            <a:ext cx="1417320" cy="68580"/>
          </a:xfrm>
          <a:prstGeom prst="rect">
            <a:avLst/>
          </a:prstGeom>
          <a:solidFill>
            <a:srgbClr val="1160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68680" y="2193036"/>
            <a:ext cx="10454609" cy="786384"/>
          </a:xfrm>
          <a:prstGeom prst="rect">
            <a:avLst/>
          </a:prstGeom>
          <a:solidFill>
            <a:srgbClr val="F5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68680" y="2193036"/>
            <a:ext cx="100584" cy="786384"/>
          </a:xfrm>
          <a:prstGeom prst="rect">
            <a:avLst/>
          </a:prstGeom>
          <a:solidFill>
            <a:srgbClr val="E7F0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252728" y="2348484"/>
            <a:ext cx="475488" cy="475488"/>
          </a:xfrm>
          <a:prstGeom prst="ellipse">
            <a:avLst/>
          </a:prstGeom>
          <a:solidFill>
            <a:srgbClr val="1160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252728" y="2419807"/>
            <a:ext cx="475488" cy="35186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2200" b="1" i="0">
                <a:solidFill>
                  <a:srgbClr val="FFFFFF"/>
                </a:solidFill>
                <a:latin typeface="Meiryo"/>
                <a:ea typeface="Meiryo"/>
                <a:cs typeface="Meiryo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258568" y="2339340"/>
            <a:ext cx="8607521" cy="49377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2800" b="0" i="0">
                <a:solidFill>
                  <a:srgbClr val="12253F"/>
                </a:solidFill>
                <a:latin typeface="Meiryo"/>
                <a:ea typeface="Meiryo"/>
                <a:cs typeface="Meiryo"/>
              </a:rPr>
              <a:t>どんな学科か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68680" y="3217164"/>
            <a:ext cx="10454609" cy="786384"/>
          </a:xfrm>
          <a:prstGeom prst="rect">
            <a:avLst/>
          </a:prstGeom>
          <a:solidFill>
            <a:srgbClr val="FFF4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68680" y="3217164"/>
            <a:ext cx="100584" cy="786384"/>
          </a:xfrm>
          <a:prstGeom prst="rect">
            <a:avLst/>
          </a:prstGeom>
          <a:solidFill>
            <a:srgbClr val="F2B0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1252728" y="3372612"/>
            <a:ext cx="475488" cy="475488"/>
          </a:xfrm>
          <a:prstGeom prst="ellipse">
            <a:avLst/>
          </a:prstGeom>
          <a:solidFill>
            <a:srgbClr val="F2B0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252728" y="3443935"/>
            <a:ext cx="475488" cy="35186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2200" b="1" i="0">
                <a:solidFill>
                  <a:srgbClr val="5C4204"/>
                </a:solidFill>
                <a:latin typeface="Meiryo"/>
                <a:ea typeface="Meiryo"/>
                <a:cs typeface="Meiryo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258568" y="3363468"/>
            <a:ext cx="8607521" cy="49377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2800" b="1" i="0">
                <a:solidFill>
                  <a:srgbClr val="12253F"/>
                </a:solidFill>
                <a:latin typeface="Meiryo"/>
                <a:ea typeface="Meiryo"/>
                <a:cs typeface="Meiryo"/>
              </a:rPr>
              <a:t>Big Jump ― 今日の本題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68680" y="4241292"/>
            <a:ext cx="10454609" cy="786384"/>
          </a:xfrm>
          <a:prstGeom prst="rect">
            <a:avLst/>
          </a:prstGeom>
          <a:solidFill>
            <a:srgbClr val="F5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68680" y="4241292"/>
            <a:ext cx="100584" cy="786384"/>
          </a:xfrm>
          <a:prstGeom prst="rect">
            <a:avLst/>
          </a:prstGeom>
          <a:solidFill>
            <a:srgbClr val="E7F0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1252728" y="4396740"/>
            <a:ext cx="475488" cy="475488"/>
          </a:xfrm>
          <a:prstGeom prst="ellipse">
            <a:avLst/>
          </a:prstGeom>
          <a:solidFill>
            <a:srgbClr val="1160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252728" y="4468063"/>
            <a:ext cx="475488" cy="35186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2200" b="1" i="0">
                <a:solidFill>
                  <a:srgbClr val="FFFFFF"/>
                </a:solidFill>
                <a:latin typeface="Meiryo"/>
                <a:ea typeface="Meiryo"/>
                <a:cs typeface="Meiryo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258568" y="4387596"/>
            <a:ext cx="8607521" cy="49377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2800" b="0" i="0">
                <a:solidFill>
                  <a:srgbClr val="12253F"/>
                </a:solidFill>
                <a:latin typeface="Meiryo"/>
                <a:ea typeface="Meiryo"/>
                <a:cs typeface="Meiryo"/>
              </a:rPr>
              <a:t>進路と、授業料 半額免除の入試</a:t>
            </a:r>
          </a:p>
        </p:txBody>
      </p:sp>
      <p:sp>
        <p:nvSpPr>
          <p:cNvPr id="21" name="Rectangle 20"/>
          <p:cNvSpPr/>
          <p:nvPr/>
        </p:nvSpPr>
        <p:spPr>
          <a:xfrm>
            <a:off x="868680" y="5065776"/>
            <a:ext cx="10454609" cy="786384"/>
          </a:xfrm>
          <a:prstGeom prst="rect">
            <a:avLst/>
          </a:prstGeom>
          <a:solidFill>
            <a:srgbClr val="FFF4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868680" y="5065776"/>
            <a:ext cx="100584" cy="786384"/>
          </a:xfrm>
          <a:prstGeom prst="rect">
            <a:avLst/>
          </a:prstGeom>
          <a:solidFill>
            <a:srgbClr val="F2B0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197864" y="5193792"/>
            <a:ext cx="9814529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2000" b="1" i="0">
                <a:solidFill>
                  <a:srgbClr val="5C4204"/>
                </a:solidFill>
                <a:latin typeface="Meiryo"/>
                <a:ea typeface="Meiryo"/>
                <a:cs typeface="Meiryo"/>
              </a:rPr>
              <a:t>今日、数字を1つだけ覚えて帰ってください。何の数字かは、②で言います。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500329" y="6455664"/>
            <a:ext cx="8229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400" b="0" i="0">
                <a:solidFill>
                  <a:srgbClr val="8895A5"/>
                </a:solidFill>
                <a:latin typeface="Meiryo"/>
                <a:ea typeface="Meiryo"/>
                <a:cs typeface="Meiryo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68680" y="502920"/>
            <a:ext cx="10454609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2000" b="1" i="0" spc="220">
                <a:solidFill>
                  <a:srgbClr val="1160C4"/>
                </a:solidFill>
                <a:latin typeface="Meiryo"/>
                <a:ea typeface="Meiryo"/>
                <a:cs typeface="Meiryo"/>
              </a:rPr>
              <a:t>MEET THE TEACHER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68680" y="960120"/>
            <a:ext cx="10454609" cy="7254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4400" b="1" i="0">
                <a:solidFill>
                  <a:srgbClr val="12253F"/>
                </a:solidFill>
                <a:latin typeface="Meiryo"/>
                <a:ea typeface="Meiryo"/>
                <a:cs typeface="Meiryo"/>
              </a:rPr>
              <a:t>鈴木 伸（すずき しん）講師</a:t>
            </a:r>
          </a:p>
        </p:txBody>
      </p:sp>
      <p:sp>
        <p:nvSpPr>
          <p:cNvPr id="5" name="Rectangle 4"/>
          <p:cNvSpPr/>
          <p:nvPr/>
        </p:nvSpPr>
        <p:spPr>
          <a:xfrm>
            <a:off x="868680" y="1813560"/>
            <a:ext cx="1417320" cy="68580"/>
          </a:xfrm>
          <a:prstGeom prst="rect">
            <a:avLst/>
          </a:prstGeom>
          <a:solidFill>
            <a:srgbClr val="1160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65689" y="1874519"/>
            <a:ext cx="3657600" cy="2971800"/>
          </a:xfrm>
          <a:prstGeom prst="rect">
            <a:avLst/>
          </a:prstGeom>
          <a:solidFill>
            <a:srgbClr val="E7F0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665689" y="1874519"/>
            <a:ext cx="100584" cy="2971800"/>
          </a:xfrm>
          <a:prstGeom prst="rect">
            <a:avLst/>
          </a:prstGeom>
          <a:solidFill>
            <a:srgbClr val="1160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976585" y="3886200"/>
            <a:ext cx="3035808" cy="777240"/>
          </a:xfrm>
          <a:prstGeom prst="rect">
            <a:avLst/>
          </a:prstGeom>
          <a:noFill/>
        </p:spPr>
        <p:txBody>
          <a:bodyPr wrap="square" lIns="0" rIns="0" tIns="0" bIns="0" anchor="b">
            <a:spAutoFit/>
          </a:bodyPr>
          <a:lstStyle/>
          <a:p>
            <a:pPr algn="l">
              <a:lnSpc>
                <a:spcPct val="130000"/>
              </a:lnSpc>
            </a:pPr>
            <a:r>
              <a:rPr sz="2200" b="1" i="0">
                <a:solidFill>
                  <a:srgbClr val="12253F"/>
                </a:solidFill>
                <a:latin typeface="Meiryo"/>
                <a:ea typeface="Meiryo"/>
                <a:cs typeface="Meiryo"/>
              </a:rPr>
              <a:t>研究室にて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976585" y="2130552"/>
            <a:ext cx="3035808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1" i="0">
                <a:solidFill>
                  <a:srgbClr val="41505F"/>
                </a:solidFill>
                <a:latin typeface="Meiryo"/>
                <a:ea typeface="Meiryo"/>
                <a:cs typeface="Meiryo"/>
              </a:rPr>
              <a:t>［写真を差し込む位置］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976585" y="2514600"/>
            <a:ext cx="3035808" cy="583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600" b="0" i="0">
                <a:solidFill>
                  <a:srgbClr val="41505F"/>
                </a:solidFill>
                <a:latin typeface="Meiryo"/>
                <a:ea typeface="Meiryo"/>
                <a:cs typeface="Meiryo"/>
              </a:rPr>
              <a:t>研究室の写真（EUの傘・フィンランド国旗）をここに配置</a:t>
            </a:r>
          </a:p>
        </p:txBody>
      </p:sp>
      <p:sp>
        <p:nvSpPr>
          <p:cNvPr id="11" name="Oval 10"/>
          <p:cNvSpPr/>
          <p:nvPr/>
        </p:nvSpPr>
        <p:spPr>
          <a:xfrm>
            <a:off x="886968" y="2321052"/>
            <a:ext cx="155448" cy="155448"/>
          </a:xfrm>
          <a:prstGeom prst="ellipse">
            <a:avLst/>
          </a:prstGeom>
          <a:solidFill>
            <a:srgbClr val="1160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252728" y="2193036"/>
            <a:ext cx="6092921" cy="899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400" b="0" i="0">
                <a:solidFill>
                  <a:srgbClr val="12253F"/>
                </a:solidFill>
                <a:latin typeface="Meiryo"/>
                <a:ea typeface="Meiryo"/>
                <a:cs typeface="Meiryo"/>
              </a:rPr>
              <a:t>専門は 財政学・地域経済学・環境経済学</a:t>
            </a:r>
          </a:p>
        </p:txBody>
      </p:sp>
      <p:sp>
        <p:nvSpPr>
          <p:cNvPr id="13" name="Oval 12"/>
          <p:cNvSpPr/>
          <p:nvPr/>
        </p:nvSpPr>
        <p:spPr>
          <a:xfrm>
            <a:off x="886968" y="3448812"/>
            <a:ext cx="155448" cy="155448"/>
          </a:xfrm>
          <a:prstGeom prst="ellipse">
            <a:avLst/>
          </a:prstGeom>
          <a:solidFill>
            <a:srgbClr val="1160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252728" y="3320796"/>
            <a:ext cx="6092921" cy="47243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400" b="0" i="0">
                <a:solidFill>
                  <a:srgbClr val="12253F"/>
                </a:solidFill>
                <a:latin typeface="Meiryo"/>
                <a:ea typeface="Meiryo"/>
                <a:cs typeface="Meiryo"/>
              </a:rPr>
              <a:t>北欧フィンランドで、まちのお金を調査</a:t>
            </a:r>
          </a:p>
        </p:txBody>
      </p:sp>
      <p:sp>
        <p:nvSpPr>
          <p:cNvPr id="15" name="Oval 14"/>
          <p:cNvSpPr/>
          <p:nvPr/>
        </p:nvSpPr>
        <p:spPr>
          <a:xfrm>
            <a:off x="886968" y="4149852"/>
            <a:ext cx="155448" cy="155448"/>
          </a:xfrm>
          <a:prstGeom prst="ellipse">
            <a:avLst/>
          </a:prstGeom>
          <a:solidFill>
            <a:srgbClr val="1160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252728" y="4021836"/>
            <a:ext cx="6092921" cy="47243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400" b="0" i="0">
                <a:solidFill>
                  <a:srgbClr val="12253F"/>
                </a:solidFill>
                <a:latin typeface="Meiryo"/>
                <a:ea typeface="Meiryo"/>
                <a:cs typeface="Meiryo"/>
              </a:rPr>
              <a:t>島根県海士町など国内の地域にも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68680" y="5074920"/>
            <a:ext cx="10454609" cy="786384"/>
          </a:xfrm>
          <a:prstGeom prst="rect">
            <a:avLst/>
          </a:prstGeom>
          <a:solidFill>
            <a:srgbClr val="FFF4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868680" y="5074920"/>
            <a:ext cx="100584" cy="786384"/>
          </a:xfrm>
          <a:prstGeom prst="rect">
            <a:avLst/>
          </a:prstGeom>
          <a:solidFill>
            <a:srgbClr val="F2B0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197864" y="5202936"/>
            <a:ext cx="9814529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2400" b="1" i="0">
                <a:solidFill>
                  <a:srgbClr val="5C4204"/>
                </a:solidFill>
                <a:latin typeface="Meiryo"/>
                <a:ea typeface="Meiryo"/>
                <a:cs typeface="Meiryo"/>
              </a:rPr>
              <a:t>マイブームは、おしゃべり唐揚げ「あげ太くん」です。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500329" y="6455664"/>
            <a:ext cx="8229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400" b="0" i="0">
                <a:solidFill>
                  <a:srgbClr val="8895A5"/>
                </a:solidFill>
                <a:latin typeface="Meiryo"/>
                <a:ea typeface="Meiryo"/>
                <a:cs typeface="Meiryo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F5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969" cy="146304"/>
          </a:xfrm>
          <a:prstGeom prst="rect">
            <a:avLst/>
          </a:prstGeom>
          <a:solidFill>
            <a:srgbClr val="F2B0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68680" y="621792"/>
            <a:ext cx="10454609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2000" b="1" i="0" spc="240">
                <a:solidFill>
                  <a:srgbClr val="5C4204"/>
                </a:solidFill>
                <a:latin typeface="Meiryo"/>
                <a:ea typeface="Meiryo"/>
                <a:cs typeface="Meiryo"/>
              </a:rPr>
              <a:t>QUIZ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8680" y="1188720"/>
            <a:ext cx="10454609" cy="672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8000"/>
              </a:lnSpc>
            </a:pPr>
            <a:r>
              <a:rPr sz="3800" b="1" i="0">
                <a:solidFill>
                  <a:srgbClr val="12253F"/>
                </a:solidFill>
                <a:latin typeface="Meiryo"/>
                <a:ea typeface="Meiryo"/>
                <a:cs typeface="Meiryo"/>
              </a:rPr>
              <a:t>経済学は、何を考える学問でしょう？</a:t>
            </a:r>
          </a:p>
        </p:txBody>
      </p:sp>
      <p:sp>
        <p:nvSpPr>
          <p:cNvPr id="6" name="Rectangle 5"/>
          <p:cNvSpPr/>
          <p:nvPr/>
        </p:nvSpPr>
        <p:spPr>
          <a:xfrm>
            <a:off x="868680" y="2309368"/>
            <a:ext cx="3314181" cy="2240280"/>
          </a:xfrm>
          <a:prstGeom prst="rect">
            <a:avLst/>
          </a:prstGeom>
          <a:solidFill>
            <a:srgbClr val="FFFFFF"/>
          </a:solidFill>
          <a:ln w="17780">
            <a:solidFill>
              <a:srgbClr val="D8DE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2196586" y="2565400"/>
            <a:ext cx="658368" cy="658368"/>
          </a:xfrm>
          <a:prstGeom prst="ellipse">
            <a:avLst/>
          </a:prstGeom>
          <a:solidFill>
            <a:srgbClr val="1160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196586" y="2656840"/>
            <a:ext cx="658368" cy="4572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2800" b="1" i="0">
                <a:solidFill>
                  <a:srgbClr val="FFFFFF"/>
                </a:solidFill>
                <a:latin typeface="Meiryo"/>
                <a:ea typeface="Meiryo"/>
                <a:cs typeface="Meiryo"/>
              </a:rPr>
              <a:t>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" y="3406648"/>
            <a:ext cx="2856981" cy="960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0000"/>
              </a:lnSpc>
            </a:pPr>
            <a:r>
              <a:rPr sz="2800" b="1" i="0">
                <a:solidFill>
                  <a:srgbClr val="12253F"/>
                </a:solidFill>
                <a:latin typeface="Meiryo"/>
                <a:ea typeface="Meiryo"/>
                <a:cs typeface="Meiryo"/>
              </a:rPr>
              <a:t>お金の</a:t>
            </a:r>
          </a:p>
          <a:p>
            <a:pPr algn="ctr">
              <a:lnSpc>
                <a:spcPct val="130000"/>
              </a:lnSpc>
            </a:pPr>
            <a:r>
              <a:rPr sz="2800" b="1" i="0">
                <a:solidFill>
                  <a:srgbClr val="12253F"/>
                </a:solidFill>
                <a:latin typeface="Meiryo"/>
                <a:ea typeface="Meiryo"/>
                <a:cs typeface="Meiryo"/>
              </a:rPr>
              <a:t>もうけ方</a:t>
            </a:r>
          </a:p>
        </p:txBody>
      </p:sp>
      <p:sp>
        <p:nvSpPr>
          <p:cNvPr id="10" name="Rectangle 9"/>
          <p:cNvSpPr/>
          <p:nvPr/>
        </p:nvSpPr>
        <p:spPr>
          <a:xfrm>
            <a:off x="4438893" y="2309368"/>
            <a:ext cx="3314181" cy="2240280"/>
          </a:xfrm>
          <a:prstGeom prst="rect">
            <a:avLst/>
          </a:prstGeom>
          <a:solidFill>
            <a:srgbClr val="FFFFFF"/>
          </a:solidFill>
          <a:ln w="17780">
            <a:solidFill>
              <a:srgbClr val="D8DE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5766800" y="2565400"/>
            <a:ext cx="658368" cy="658368"/>
          </a:xfrm>
          <a:prstGeom prst="ellipse">
            <a:avLst/>
          </a:prstGeom>
          <a:solidFill>
            <a:srgbClr val="1160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766800" y="2656840"/>
            <a:ext cx="658368" cy="4572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2800" b="1" i="0">
                <a:solidFill>
                  <a:srgbClr val="FFFFFF"/>
                </a:solidFill>
                <a:latin typeface="Meiryo"/>
                <a:ea typeface="Meiryo"/>
                <a:cs typeface="Meiryo"/>
              </a:rPr>
              <a:t>B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667493" y="3406648"/>
            <a:ext cx="2856981" cy="960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0000"/>
              </a:lnSpc>
            </a:pPr>
            <a:r>
              <a:rPr sz="2800" b="1" i="0">
                <a:solidFill>
                  <a:srgbClr val="12253F"/>
                </a:solidFill>
                <a:latin typeface="Meiryo"/>
                <a:ea typeface="Meiryo"/>
                <a:cs typeface="Meiryo"/>
              </a:rPr>
              <a:t>限られたものの</a:t>
            </a:r>
          </a:p>
          <a:p>
            <a:pPr algn="ctr">
              <a:lnSpc>
                <a:spcPct val="130000"/>
              </a:lnSpc>
            </a:pPr>
            <a:r>
              <a:rPr sz="2800" b="1" i="0">
                <a:solidFill>
                  <a:srgbClr val="12253F"/>
                </a:solidFill>
                <a:latin typeface="Meiryo"/>
                <a:ea typeface="Meiryo"/>
                <a:cs typeface="Meiryo"/>
              </a:rPr>
              <a:t>配り方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009107" y="2309368"/>
            <a:ext cx="3314181" cy="2240280"/>
          </a:xfrm>
          <a:prstGeom prst="rect">
            <a:avLst/>
          </a:prstGeom>
          <a:solidFill>
            <a:srgbClr val="FFFFFF"/>
          </a:solidFill>
          <a:ln w="17780">
            <a:solidFill>
              <a:srgbClr val="D8DE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9337014" y="2565400"/>
            <a:ext cx="658368" cy="658368"/>
          </a:xfrm>
          <a:prstGeom prst="ellipse">
            <a:avLst/>
          </a:prstGeom>
          <a:solidFill>
            <a:srgbClr val="1160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337014" y="2656840"/>
            <a:ext cx="658368" cy="4572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2800" b="1" i="0">
                <a:solidFill>
                  <a:srgbClr val="FFFFFF"/>
                </a:solidFill>
                <a:latin typeface="Meiryo"/>
                <a:ea typeface="Meiryo"/>
                <a:cs typeface="Meiryo"/>
              </a:rPr>
              <a:t>C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37707" y="3406648"/>
            <a:ext cx="2856981" cy="960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0000"/>
              </a:lnSpc>
            </a:pPr>
            <a:r>
              <a:rPr sz="2800" b="1" i="0">
                <a:solidFill>
                  <a:srgbClr val="12253F"/>
                </a:solidFill>
                <a:latin typeface="Meiryo"/>
                <a:ea typeface="Meiryo"/>
                <a:cs typeface="Meiryo"/>
              </a:rPr>
              <a:t>会社の</a:t>
            </a:r>
          </a:p>
          <a:p>
            <a:pPr algn="ctr">
              <a:lnSpc>
                <a:spcPct val="130000"/>
              </a:lnSpc>
            </a:pPr>
            <a:r>
              <a:rPr sz="2800" b="1" i="0">
                <a:solidFill>
                  <a:srgbClr val="12253F"/>
                </a:solidFill>
                <a:latin typeface="Meiryo"/>
                <a:ea typeface="Meiryo"/>
                <a:cs typeface="Meiryo"/>
              </a:rPr>
              <a:t>つくり方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68680" y="4823968"/>
            <a:ext cx="10454609" cy="786384"/>
          </a:xfrm>
          <a:prstGeom prst="rect">
            <a:avLst/>
          </a:prstGeom>
          <a:solidFill>
            <a:srgbClr val="FFF4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868680" y="4823968"/>
            <a:ext cx="100584" cy="786384"/>
          </a:xfrm>
          <a:prstGeom prst="rect">
            <a:avLst/>
          </a:prstGeom>
          <a:solidFill>
            <a:srgbClr val="F2B0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197864" y="4951984"/>
            <a:ext cx="9814529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2400" b="1" i="0">
                <a:solidFill>
                  <a:srgbClr val="5C4204"/>
                </a:solidFill>
                <a:latin typeface="Meiryo"/>
                <a:ea typeface="Meiryo"/>
                <a:cs typeface="Meiryo"/>
              </a:rPr>
              <a:t>Aだと思う人？ Bだと思う人？ Cだと思う人？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500329" y="6455664"/>
            <a:ext cx="8229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400" b="0" i="0">
                <a:solidFill>
                  <a:srgbClr val="8895A5"/>
                </a:solidFill>
                <a:latin typeface="Meiryo"/>
                <a:ea typeface="Meiryo"/>
                <a:cs typeface="Meiryo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68680" y="502920"/>
            <a:ext cx="10454609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2000" b="1" i="0" spc="220">
                <a:solidFill>
                  <a:srgbClr val="1160C4"/>
                </a:solidFill>
                <a:latin typeface="Meiryo"/>
                <a:ea typeface="Meiryo"/>
                <a:cs typeface="Meiryo"/>
              </a:rPr>
              <a:t>ANSWER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68680" y="960120"/>
            <a:ext cx="10454609" cy="6339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3800" b="1" i="0">
                <a:solidFill>
                  <a:srgbClr val="12253F"/>
                </a:solidFill>
                <a:latin typeface="Meiryo"/>
                <a:ea typeface="Meiryo"/>
                <a:cs typeface="Meiryo"/>
              </a:rPr>
              <a:t>答えは B。限られたものを、どう配るか。</a:t>
            </a:r>
          </a:p>
        </p:txBody>
      </p:sp>
      <p:sp>
        <p:nvSpPr>
          <p:cNvPr id="5" name="Rectangle 4"/>
          <p:cNvSpPr/>
          <p:nvPr/>
        </p:nvSpPr>
        <p:spPr>
          <a:xfrm>
            <a:off x="868680" y="1722120"/>
            <a:ext cx="1417320" cy="68580"/>
          </a:xfrm>
          <a:prstGeom prst="rect">
            <a:avLst/>
          </a:prstGeom>
          <a:solidFill>
            <a:srgbClr val="1160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" y="2101596"/>
            <a:ext cx="10454609" cy="56007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3000" b="1" i="0">
                <a:solidFill>
                  <a:srgbClr val="1160C4"/>
                </a:solidFill>
                <a:latin typeface="Meiryo"/>
                <a:ea typeface="Meiryo"/>
                <a:cs typeface="Meiryo"/>
              </a:rPr>
              <a:t>経済学は「お金もうけ」の学問ではありません。</a:t>
            </a:r>
          </a:p>
        </p:txBody>
      </p:sp>
      <p:sp>
        <p:nvSpPr>
          <p:cNvPr id="7" name="Oval 6"/>
          <p:cNvSpPr/>
          <p:nvPr/>
        </p:nvSpPr>
        <p:spPr>
          <a:xfrm>
            <a:off x="886968" y="3138678"/>
            <a:ext cx="155448" cy="155448"/>
          </a:xfrm>
          <a:prstGeom prst="ellipse">
            <a:avLst/>
          </a:prstGeom>
          <a:solidFill>
            <a:srgbClr val="1160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252728" y="2999994"/>
            <a:ext cx="10070561" cy="508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600" b="0" i="0">
                <a:solidFill>
                  <a:srgbClr val="12253F"/>
                </a:solidFill>
                <a:latin typeface="Meiryo"/>
                <a:ea typeface="Meiryo"/>
                <a:cs typeface="Meiryo"/>
              </a:rPr>
              <a:t>だから、まちづくりも経済学</a:t>
            </a:r>
          </a:p>
        </p:txBody>
      </p:sp>
      <p:sp>
        <p:nvSpPr>
          <p:cNvPr id="9" name="Oval 8"/>
          <p:cNvSpPr/>
          <p:nvPr/>
        </p:nvSpPr>
        <p:spPr>
          <a:xfrm>
            <a:off x="886968" y="3875278"/>
            <a:ext cx="155448" cy="155448"/>
          </a:xfrm>
          <a:prstGeom prst="ellipse">
            <a:avLst/>
          </a:prstGeom>
          <a:solidFill>
            <a:srgbClr val="1160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252728" y="3736594"/>
            <a:ext cx="10070561" cy="508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600" b="0" i="0">
                <a:solidFill>
                  <a:srgbClr val="12253F"/>
                </a:solidFill>
                <a:latin typeface="Meiryo"/>
                <a:ea typeface="Meiryo"/>
                <a:cs typeface="Meiryo"/>
              </a:rPr>
              <a:t>電気やエネルギーも経済学</a:t>
            </a:r>
          </a:p>
        </p:txBody>
      </p:sp>
      <p:sp>
        <p:nvSpPr>
          <p:cNvPr id="11" name="Oval 10"/>
          <p:cNvSpPr/>
          <p:nvPr/>
        </p:nvSpPr>
        <p:spPr>
          <a:xfrm>
            <a:off x="886968" y="4611878"/>
            <a:ext cx="155448" cy="155448"/>
          </a:xfrm>
          <a:prstGeom prst="ellipse">
            <a:avLst/>
          </a:prstGeom>
          <a:solidFill>
            <a:srgbClr val="1160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252728" y="4473194"/>
            <a:ext cx="10070561" cy="508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600" b="0" i="0">
                <a:solidFill>
                  <a:srgbClr val="12253F"/>
                </a:solidFill>
                <a:latin typeface="Meiryo"/>
                <a:ea typeface="Meiryo"/>
                <a:cs typeface="Meiryo"/>
              </a:rPr>
              <a:t>税金の使いみちも経済学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68680" y="5074920"/>
            <a:ext cx="10454609" cy="953008"/>
          </a:xfrm>
          <a:prstGeom prst="rect">
            <a:avLst/>
          </a:prstGeom>
          <a:solidFill>
            <a:srgbClr val="FFF4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868680" y="5074920"/>
            <a:ext cx="100584" cy="953008"/>
          </a:xfrm>
          <a:prstGeom prst="rect">
            <a:avLst/>
          </a:prstGeom>
          <a:solidFill>
            <a:srgbClr val="F2B0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197864" y="5202936"/>
            <a:ext cx="9814529" cy="71526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2000" b="1" i="0">
                <a:solidFill>
                  <a:srgbClr val="5C4204"/>
                </a:solidFill>
                <a:latin typeface="Meiryo"/>
                <a:ea typeface="Meiryo"/>
                <a:cs typeface="Meiryo"/>
              </a:rPr>
              <a:t>世界と地域は、つながっている。だから北欧のお金の話が、福山の話になります。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500329" y="6455664"/>
            <a:ext cx="8229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400" b="0" i="0">
                <a:solidFill>
                  <a:srgbClr val="8895A5"/>
                </a:solidFill>
                <a:latin typeface="Meiryo"/>
                <a:ea typeface="Meiryo"/>
                <a:cs typeface="Meiryo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0E2A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58952" y="658368"/>
            <a:ext cx="2926080" cy="23774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0" b="1" i="0">
                <a:solidFill>
                  <a:srgbClr val="3A6699"/>
                </a:solidFill>
                <a:latin typeface="Meiryo"/>
                <a:ea typeface="Meiryo"/>
                <a:cs typeface="Meiryo"/>
              </a:rPr>
              <a:t>1</a:t>
            </a:r>
          </a:p>
        </p:txBody>
      </p:sp>
      <p:sp>
        <p:nvSpPr>
          <p:cNvPr id="4" name="Rectangle 3"/>
          <p:cNvSpPr/>
          <p:nvPr/>
        </p:nvSpPr>
        <p:spPr>
          <a:xfrm>
            <a:off x="868680" y="3105911"/>
            <a:ext cx="1737360" cy="82296"/>
          </a:xfrm>
          <a:prstGeom prst="rect">
            <a:avLst/>
          </a:prstGeom>
          <a:solidFill>
            <a:srgbClr val="F2B0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68680" y="3508247"/>
            <a:ext cx="10424160" cy="85343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4800" b="1" i="0">
                <a:solidFill>
                  <a:srgbClr val="FFFFFF"/>
                </a:solidFill>
                <a:latin typeface="Meiryo"/>
                <a:ea typeface="Meiryo"/>
                <a:cs typeface="Meiryo"/>
              </a:rPr>
              <a:t>国際経済学科って、どんな学科？</a:t>
            </a:r>
          </a:p>
        </p:txBody>
      </p:sp>
      <p:sp>
        <p:nvSpPr>
          <p:cNvPr id="6" name="Rectangle 5"/>
          <p:cNvSpPr/>
          <p:nvPr/>
        </p:nvSpPr>
        <p:spPr>
          <a:xfrm>
            <a:off x="896112" y="4946904"/>
            <a:ext cx="155448" cy="155448"/>
          </a:xfrm>
          <a:prstGeom prst="rect">
            <a:avLst/>
          </a:prstGeom>
          <a:solidFill>
            <a:srgbClr val="F2B0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325880" y="4800600"/>
            <a:ext cx="950976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2600" b="0" i="0">
                <a:solidFill>
                  <a:srgbClr val="CFE0F2"/>
                </a:solidFill>
                <a:latin typeface="Meiryo"/>
                <a:ea typeface="Meiryo"/>
                <a:cs typeface="Meiryo"/>
              </a:rPr>
              <a:t>経済学 × 外国語 × 海外体験</a:t>
            </a:r>
          </a:p>
        </p:txBody>
      </p:sp>
      <p:sp>
        <p:nvSpPr>
          <p:cNvPr id="8" name="Rectangle 7"/>
          <p:cNvSpPr/>
          <p:nvPr/>
        </p:nvSpPr>
        <p:spPr>
          <a:xfrm>
            <a:off x="896112" y="5495544"/>
            <a:ext cx="155448" cy="155448"/>
          </a:xfrm>
          <a:prstGeom prst="rect">
            <a:avLst/>
          </a:prstGeom>
          <a:solidFill>
            <a:srgbClr val="F2B0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325880" y="5349240"/>
            <a:ext cx="950976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2600" b="0" i="0">
                <a:solidFill>
                  <a:srgbClr val="CFE0F2"/>
                </a:solidFill>
                <a:latin typeface="Meiryo"/>
                <a:ea typeface="Meiryo"/>
                <a:cs typeface="Meiryo"/>
              </a:rPr>
              <a:t>定員40名の少人数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00329" y="6455664"/>
            <a:ext cx="8229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400" b="0" i="0">
                <a:solidFill>
                  <a:srgbClr val="8895A5"/>
                </a:solidFill>
                <a:latin typeface="Meiryo"/>
                <a:ea typeface="Meiryo"/>
                <a:cs typeface="Meiryo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68680" y="502920"/>
            <a:ext cx="10454609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2000" b="1" i="0" spc="220">
                <a:solidFill>
                  <a:srgbClr val="1160C4"/>
                </a:solidFill>
                <a:latin typeface="Meiryo"/>
                <a:ea typeface="Meiryo"/>
                <a:cs typeface="Meiryo"/>
              </a:rPr>
              <a:t>ABOUT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68680" y="960120"/>
            <a:ext cx="10454609" cy="6339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3800" b="1" i="0">
                <a:solidFill>
                  <a:srgbClr val="12253F"/>
                </a:solidFill>
                <a:latin typeface="Meiryo"/>
                <a:ea typeface="Meiryo"/>
                <a:cs typeface="Meiryo"/>
              </a:rPr>
              <a:t>3つの特徴 ― 経済学 × 外国語 × 海外体験</a:t>
            </a:r>
          </a:p>
        </p:txBody>
      </p:sp>
      <p:sp>
        <p:nvSpPr>
          <p:cNvPr id="5" name="Rectangle 4"/>
          <p:cNvSpPr/>
          <p:nvPr/>
        </p:nvSpPr>
        <p:spPr>
          <a:xfrm>
            <a:off x="868680" y="1722120"/>
            <a:ext cx="1417320" cy="68580"/>
          </a:xfrm>
          <a:prstGeom prst="rect">
            <a:avLst/>
          </a:prstGeom>
          <a:solidFill>
            <a:srgbClr val="1160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68680" y="2101596"/>
            <a:ext cx="3301989" cy="3796284"/>
          </a:xfrm>
          <a:prstGeom prst="rect">
            <a:avLst/>
          </a:prstGeom>
          <a:solidFill>
            <a:srgbClr val="E7F0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68680" y="2101596"/>
            <a:ext cx="3301989" cy="91440"/>
          </a:xfrm>
          <a:prstGeom prst="rect">
            <a:avLst/>
          </a:prstGeom>
          <a:solidFill>
            <a:srgbClr val="1160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79576" y="2430780"/>
            <a:ext cx="1097280" cy="4206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2600" b="1" i="0" spc="120">
                <a:solidFill>
                  <a:srgbClr val="1160C4"/>
                </a:solidFill>
                <a:latin typeface="Meiryo"/>
                <a:ea typeface="Meiryo"/>
                <a:cs typeface="Meiryo"/>
              </a:rPr>
              <a:t>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79576" y="3015996"/>
            <a:ext cx="2680197" cy="52197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3000" b="1" i="0">
                <a:solidFill>
                  <a:srgbClr val="12253F"/>
                </a:solidFill>
                <a:latin typeface="Meiryo"/>
                <a:ea typeface="Meiryo"/>
                <a:cs typeface="Meiryo"/>
              </a:rPr>
              <a:t>定員は40名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79576" y="3784854"/>
            <a:ext cx="2680197" cy="183870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2600" b="0" i="0">
                <a:solidFill>
                  <a:srgbClr val="12253F"/>
                </a:solidFill>
                <a:latin typeface="Meiryo"/>
                <a:ea typeface="Meiryo"/>
                <a:cs typeface="Meiryo"/>
              </a:rPr>
              <a:t>学年で40人。高校の1クラスと同じ規模です。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444989" y="2101596"/>
            <a:ext cx="3301989" cy="3796284"/>
          </a:xfrm>
          <a:prstGeom prst="rect">
            <a:avLst/>
          </a:prstGeom>
          <a:solidFill>
            <a:srgbClr val="E1F3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444989" y="2101596"/>
            <a:ext cx="3301989" cy="91440"/>
          </a:xfrm>
          <a:prstGeom prst="rect">
            <a:avLst/>
          </a:prstGeom>
          <a:solidFill>
            <a:srgbClr val="0A61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755885" y="2430780"/>
            <a:ext cx="1097280" cy="4206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2600" b="1" i="0" spc="120">
                <a:solidFill>
                  <a:srgbClr val="0A6156"/>
                </a:solidFill>
                <a:latin typeface="Meiryo"/>
                <a:ea typeface="Meiryo"/>
                <a:cs typeface="Meiryo"/>
              </a:rPr>
              <a:t>02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755885" y="3015996"/>
            <a:ext cx="2680197" cy="42671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400" b="1" i="0">
                <a:solidFill>
                  <a:srgbClr val="12253F"/>
                </a:solidFill>
                <a:latin typeface="Meiryo"/>
                <a:ea typeface="Meiryo"/>
                <a:cs typeface="Meiryo"/>
              </a:rPr>
              <a:t>経済学 × 外国語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755885" y="3689604"/>
            <a:ext cx="2680197" cy="19339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2600" b="0" i="0">
                <a:solidFill>
                  <a:srgbClr val="12253F"/>
                </a:solidFill>
                <a:latin typeface="Meiryo"/>
                <a:ea typeface="Meiryo"/>
                <a:cs typeface="Meiryo"/>
              </a:rPr>
              <a:t>英語と中国語を、毎日「トレーニング」。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021299" y="2101596"/>
            <a:ext cx="3301989" cy="3796284"/>
          </a:xfrm>
          <a:prstGeom prst="rect">
            <a:avLst/>
          </a:prstGeom>
          <a:solidFill>
            <a:srgbClr val="FFF4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021299" y="2101596"/>
            <a:ext cx="3301989" cy="91440"/>
          </a:xfrm>
          <a:prstGeom prst="rect">
            <a:avLst/>
          </a:prstGeom>
          <a:solidFill>
            <a:srgbClr val="F2B0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332195" y="2430780"/>
            <a:ext cx="1097280" cy="4206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2600" b="1" i="0" spc="120">
                <a:solidFill>
                  <a:srgbClr val="5C4204"/>
                </a:solidFill>
                <a:latin typeface="Meiryo"/>
                <a:ea typeface="Meiryo"/>
                <a:cs typeface="Meiryo"/>
              </a:rPr>
              <a:t>03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332195" y="3015996"/>
            <a:ext cx="2680197" cy="47434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700" b="1" i="0">
                <a:solidFill>
                  <a:srgbClr val="12253F"/>
                </a:solidFill>
                <a:latin typeface="Meiryo"/>
                <a:ea typeface="Meiryo"/>
                <a:cs typeface="Meiryo"/>
              </a:rPr>
              <a:t>海外体験を支援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332195" y="3737229"/>
            <a:ext cx="2680197" cy="188633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2600" b="0" i="0">
                <a:solidFill>
                  <a:srgbClr val="12253F"/>
                </a:solidFill>
                <a:latin typeface="Meiryo"/>
                <a:ea typeface="Meiryo"/>
                <a:cs typeface="Meiryo"/>
              </a:rPr>
              <a:t>費用の補助と、経験豊富な教員の助言。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500329" y="6455664"/>
            <a:ext cx="8229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400" b="0" i="0">
                <a:solidFill>
                  <a:srgbClr val="8895A5"/>
                </a:solidFill>
                <a:latin typeface="Meiryo"/>
                <a:ea typeface="Meiryo"/>
                <a:cs typeface="Meiryo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68680" y="502920"/>
            <a:ext cx="10454609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2000" b="1" i="0" spc="220">
                <a:solidFill>
                  <a:srgbClr val="1160C4"/>
                </a:solidFill>
                <a:latin typeface="Meiryo"/>
                <a:ea typeface="Meiryo"/>
                <a:cs typeface="Meiryo"/>
              </a:rPr>
              <a:t>FACULTY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68680" y="960120"/>
            <a:ext cx="10454609" cy="7254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4400" b="1" i="0">
                <a:solidFill>
                  <a:srgbClr val="12253F"/>
                </a:solidFill>
                <a:latin typeface="Meiryo"/>
                <a:ea typeface="Meiryo"/>
                <a:cs typeface="Meiryo"/>
              </a:rPr>
              <a:t>8人の教員と、話せる4言語</a:t>
            </a:r>
          </a:p>
        </p:txBody>
      </p:sp>
      <p:sp>
        <p:nvSpPr>
          <p:cNvPr id="5" name="Rectangle 4"/>
          <p:cNvSpPr/>
          <p:nvPr/>
        </p:nvSpPr>
        <p:spPr>
          <a:xfrm>
            <a:off x="868680" y="1813560"/>
            <a:ext cx="1417320" cy="68580"/>
          </a:xfrm>
          <a:prstGeom prst="rect">
            <a:avLst/>
          </a:prstGeom>
          <a:solidFill>
            <a:srgbClr val="1160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68680" y="2238756"/>
            <a:ext cx="4800600" cy="2827020"/>
          </a:xfrm>
          <a:prstGeom prst="rect">
            <a:avLst/>
          </a:prstGeom>
          <a:solidFill>
            <a:srgbClr val="E7F0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2424683"/>
            <a:ext cx="4800600" cy="147624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ct val="116000"/>
              </a:lnSpc>
            </a:pPr>
            <a:r>
              <a:rPr sz="9400" b="1" i="0">
                <a:solidFill>
                  <a:srgbClr val="1160C4"/>
                </a:solidFill>
                <a:latin typeface="Meiryo"/>
                <a:ea typeface="Meiryo"/>
                <a:cs typeface="Meiryo"/>
              </a:rPr>
              <a:t>8人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43000" y="4068572"/>
            <a:ext cx="4251960" cy="8326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0000"/>
              </a:lnSpc>
            </a:pPr>
            <a:r>
              <a:rPr sz="2300" b="1" i="0">
                <a:solidFill>
                  <a:srgbClr val="12253F"/>
                </a:solidFill>
                <a:latin typeface="Meiryo"/>
                <a:ea typeface="Meiryo"/>
                <a:cs typeface="Meiryo"/>
              </a:rPr>
              <a:t>専任教員</a:t>
            </a:r>
          </a:p>
          <a:p>
            <a:pPr algn="ctr">
              <a:lnSpc>
                <a:spcPct val="130000"/>
              </a:lnSpc>
            </a:pPr>
            <a:r>
              <a:rPr sz="2300" b="1" i="0">
                <a:solidFill>
                  <a:srgbClr val="12253F"/>
                </a:solidFill>
                <a:latin typeface="Meiryo"/>
                <a:ea typeface="Meiryo"/>
                <a:cs typeface="Meiryo"/>
              </a:rPr>
              <a:t>（教授4・准教授1・講師3）</a:t>
            </a:r>
          </a:p>
        </p:txBody>
      </p:sp>
      <p:sp>
        <p:nvSpPr>
          <p:cNvPr id="9" name="Oval 8"/>
          <p:cNvSpPr/>
          <p:nvPr/>
        </p:nvSpPr>
        <p:spPr>
          <a:xfrm>
            <a:off x="6099048" y="2459736"/>
            <a:ext cx="155448" cy="155448"/>
          </a:xfrm>
          <a:prstGeom prst="ellipse">
            <a:avLst/>
          </a:prstGeom>
          <a:solidFill>
            <a:srgbClr val="1160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64808" y="2321052"/>
            <a:ext cx="4858481" cy="508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600" b="0" i="0">
                <a:solidFill>
                  <a:srgbClr val="12253F"/>
                </a:solidFill>
                <a:latin typeface="Meiryo"/>
                <a:ea typeface="Meiryo"/>
                <a:cs typeface="Meiryo"/>
              </a:rPr>
              <a:t>世界銀行・アジア開発銀行</a:t>
            </a:r>
          </a:p>
        </p:txBody>
      </p:sp>
      <p:sp>
        <p:nvSpPr>
          <p:cNvPr id="11" name="Oval 10"/>
          <p:cNvSpPr/>
          <p:nvPr/>
        </p:nvSpPr>
        <p:spPr>
          <a:xfrm>
            <a:off x="6099048" y="3232912"/>
            <a:ext cx="155448" cy="155448"/>
          </a:xfrm>
          <a:prstGeom prst="ellipse">
            <a:avLst/>
          </a:prstGeom>
          <a:solidFill>
            <a:srgbClr val="1160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64808" y="3094228"/>
            <a:ext cx="4858481" cy="508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600" b="0" i="0">
                <a:solidFill>
                  <a:srgbClr val="12253F"/>
                </a:solidFill>
                <a:latin typeface="Meiryo"/>
                <a:ea typeface="Meiryo"/>
                <a:cs typeface="Meiryo"/>
              </a:rPr>
              <a:t>内閣府・外資系投資銀行</a:t>
            </a:r>
          </a:p>
        </p:txBody>
      </p:sp>
      <p:sp>
        <p:nvSpPr>
          <p:cNvPr id="13" name="Oval 12"/>
          <p:cNvSpPr/>
          <p:nvPr/>
        </p:nvSpPr>
        <p:spPr>
          <a:xfrm>
            <a:off x="6099048" y="4006088"/>
            <a:ext cx="155448" cy="155448"/>
          </a:xfrm>
          <a:prstGeom prst="ellipse">
            <a:avLst/>
          </a:prstGeom>
          <a:solidFill>
            <a:srgbClr val="1160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64808" y="3867404"/>
            <a:ext cx="4858481" cy="970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600" b="0" i="0">
                <a:solidFill>
                  <a:srgbClr val="12253F"/>
                </a:solidFill>
                <a:latin typeface="Meiryo"/>
                <a:ea typeface="Meiryo"/>
                <a:cs typeface="Meiryo"/>
              </a:rPr>
              <a:t>英語／中国語／韓国語／スペイン語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68680" y="5303520"/>
            <a:ext cx="10454609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800" b="0" i="0">
                <a:solidFill>
                  <a:srgbClr val="41505F"/>
                </a:solidFill>
                <a:latin typeface="Meiryo"/>
                <a:ea typeface="Meiryo"/>
                <a:cs typeface="Meiryo"/>
              </a:rPr>
              <a:t>上記の機関での勤務経験を持つ教員がいます。氏名と専門分野は配布のチラシに掲載（2026年8月時点）。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500329" y="6455664"/>
            <a:ext cx="8229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400" b="0" i="0">
                <a:solidFill>
                  <a:srgbClr val="8895A5"/>
                </a:solidFill>
                <a:latin typeface="Meiryo"/>
                <a:ea typeface="Meiryo"/>
                <a:cs typeface="Meiryo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0E2A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58952" y="658368"/>
            <a:ext cx="2926080" cy="23774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0" b="1" i="0">
                <a:solidFill>
                  <a:srgbClr val="3A6699"/>
                </a:solidFill>
                <a:latin typeface="Meiryo"/>
                <a:ea typeface="Meiryo"/>
                <a:cs typeface="Meiryo"/>
              </a:rPr>
              <a:t>2</a:t>
            </a:r>
          </a:p>
        </p:txBody>
      </p:sp>
      <p:sp>
        <p:nvSpPr>
          <p:cNvPr id="4" name="Rectangle 3"/>
          <p:cNvSpPr/>
          <p:nvPr/>
        </p:nvSpPr>
        <p:spPr>
          <a:xfrm>
            <a:off x="868680" y="3073399"/>
            <a:ext cx="1737360" cy="82296"/>
          </a:xfrm>
          <a:prstGeom prst="rect">
            <a:avLst/>
          </a:prstGeom>
          <a:solidFill>
            <a:srgbClr val="F2B0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68680" y="3475735"/>
            <a:ext cx="10424160" cy="8859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5000" b="1" i="0">
                <a:solidFill>
                  <a:srgbClr val="FFFFFF"/>
                </a:solidFill>
                <a:latin typeface="Meiryo"/>
                <a:ea typeface="Meiryo"/>
                <a:cs typeface="Meiryo"/>
              </a:rPr>
              <a:t>Big Jump</a:t>
            </a:r>
          </a:p>
        </p:txBody>
      </p:sp>
      <p:sp>
        <p:nvSpPr>
          <p:cNvPr id="6" name="Rectangle 5"/>
          <p:cNvSpPr/>
          <p:nvPr/>
        </p:nvSpPr>
        <p:spPr>
          <a:xfrm>
            <a:off x="896112" y="4946904"/>
            <a:ext cx="155448" cy="155448"/>
          </a:xfrm>
          <a:prstGeom prst="rect">
            <a:avLst/>
          </a:prstGeom>
          <a:solidFill>
            <a:srgbClr val="F2B0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325880" y="4800600"/>
            <a:ext cx="950976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2600" b="0" i="0">
                <a:solidFill>
                  <a:srgbClr val="CFE0F2"/>
                </a:solidFill>
                <a:latin typeface="Meiryo"/>
                <a:ea typeface="Meiryo"/>
                <a:cs typeface="Meiryo"/>
              </a:rPr>
              <a:t>4年間で、段階的に世界へ</a:t>
            </a:r>
          </a:p>
        </p:txBody>
      </p:sp>
      <p:sp>
        <p:nvSpPr>
          <p:cNvPr id="8" name="Rectangle 7"/>
          <p:cNvSpPr/>
          <p:nvPr/>
        </p:nvSpPr>
        <p:spPr>
          <a:xfrm>
            <a:off x="896112" y="5495544"/>
            <a:ext cx="155448" cy="155448"/>
          </a:xfrm>
          <a:prstGeom prst="rect">
            <a:avLst/>
          </a:prstGeom>
          <a:solidFill>
            <a:srgbClr val="F2B0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325880" y="5349240"/>
            <a:ext cx="950976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2600" b="0" i="0">
                <a:solidFill>
                  <a:srgbClr val="CFE0F2"/>
                </a:solidFill>
                <a:latin typeface="Meiryo"/>
                <a:ea typeface="Meiryo"/>
                <a:cs typeface="Meiryo"/>
              </a:rPr>
              <a:t>大学が、費用面から背中を押します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00329" y="6455664"/>
            <a:ext cx="8229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400" b="0" i="0">
                <a:solidFill>
                  <a:srgbClr val="8895A5"/>
                </a:solidFill>
                <a:latin typeface="Meiryo"/>
                <a:ea typeface="Meiryo"/>
                <a:cs typeface="Meiryo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68680" y="502920"/>
            <a:ext cx="10454609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2000" b="1" i="0" spc="220">
                <a:solidFill>
                  <a:srgbClr val="1160C4"/>
                </a:solidFill>
                <a:latin typeface="Meiryo"/>
                <a:ea typeface="Meiryo"/>
                <a:cs typeface="Meiryo"/>
              </a:rPr>
              <a:t>BIG JUMP PROGRAM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68680" y="960120"/>
            <a:ext cx="10454609" cy="7254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4400" b="1" i="0">
                <a:solidFill>
                  <a:srgbClr val="12253F"/>
                </a:solidFill>
                <a:latin typeface="Meiryo"/>
                <a:ea typeface="Meiryo"/>
                <a:cs typeface="Meiryo"/>
              </a:rPr>
              <a:t>4年間の階段 ― 1段ずつ、上ります</a:t>
            </a:r>
          </a:p>
        </p:txBody>
      </p:sp>
      <p:sp>
        <p:nvSpPr>
          <p:cNvPr id="5" name="Rectangle 4"/>
          <p:cNvSpPr/>
          <p:nvPr/>
        </p:nvSpPr>
        <p:spPr>
          <a:xfrm>
            <a:off x="868680" y="1813560"/>
            <a:ext cx="1417320" cy="68580"/>
          </a:xfrm>
          <a:prstGeom prst="rect">
            <a:avLst/>
          </a:prstGeom>
          <a:solidFill>
            <a:srgbClr val="1160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68680" y="2638044"/>
            <a:ext cx="2435344" cy="2670048"/>
          </a:xfrm>
          <a:prstGeom prst="rect">
            <a:avLst/>
          </a:prstGeom>
          <a:solidFill>
            <a:srgbClr val="F5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68680" y="2638044"/>
            <a:ext cx="2435344" cy="676656"/>
          </a:xfrm>
          <a:prstGeom prst="rect">
            <a:avLst/>
          </a:prstGeom>
          <a:solidFill>
            <a:srgbClr val="6E9B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68680" y="2784348"/>
            <a:ext cx="2435344" cy="4572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2600" b="1" i="0">
                <a:solidFill>
                  <a:srgbClr val="FFFFFF"/>
                </a:solidFill>
                <a:latin typeface="Meiryo"/>
                <a:ea typeface="Meiryo"/>
                <a:cs typeface="Meiryo"/>
              </a:rPr>
              <a:t>1年生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9848" y="3570732"/>
            <a:ext cx="2033008" cy="8473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400" b="1" i="0">
                <a:solidFill>
                  <a:srgbClr val="12253F"/>
                </a:solidFill>
                <a:latin typeface="Meiryo"/>
                <a:ea typeface="Meiryo"/>
                <a:cs typeface="Meiryo"/>
              </a:rPr>
              <a:t>英語の土台づくり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033271" y="4576572"/>
            <a:ext cx="2106160" cy="566928"/>
          </a:xfrm>
          <a:prstGeom prst="roundRect">
            <a:avLst>
              <a:gd name="adj" fmla="val 50000"/>
            </a:avLst>
          </a:prstGeom>
          <a:solidFill>
            <a:srgbClr val="0A61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73152" rIns="73152" tIns="0" bIns="0"/>
          <a:lstStyle/>
          <a:p>
            <a:pPr algn="ctr"/>
            <a:r>
              <a:rPr sz="2100" b="1" i="0">
                <a:solidFill>
                  <a:srgbClr val="FFFFFF"/>
                </a:solidFill>
                <a:latin typeface="Meiryo"/>
                <a:ea typeface="Meiryo"/>
                <a:cs typeface="Meiryo"/>
              </a:rPr>
              <a:t>検定料 3万円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541768" y="2489708"/>
            <a:ext cx="2435344" cy="2818384"/>
          </a:xfrm>
          <a:prstGeom prst="rect">
            <a:avLst/>
          </a:prstGeom>
          <a:solidFill>
            <a:srgbClr val="E7F0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3541768" y="2489708"/>
            <a:ext cx="2435344" cy="676656"/>
          </a:xfrm>
          <a:prstGeom prst="rect">
            <a:avLst/>
          </a:prstGeom>
          <a:solidFill>
            <a:srgbClr val="2E76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541768" y="2636012"/>
            <a:ext cx="2435344" cy="4572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2600" b="1" i="0">
                <a:solidFill>
                  <a:srgbClr val="FFFFFF"/>
                </a:solidFill>
                <a:latin typeface="Meiryo"/>
                <a:ea typeface="Meiryo"/>
                <a:cs typeface="Meiryo"/>
              </a:rPr>
              <a:t>2年生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742936" y="3422396"/>
            <a:ext cx="2033008" cy="8473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400" b="1" i="0">
                <a:solidFill>
                  <a:srgbClr val="12253F"/>
                </a:solidFill>
                <a:latin typeface="Meiryo"/>
                <a:ea typeface="Meiryo"/>
                <a:cs typeface="Meiryo"/>
              </a:rPr>
              <a:t>海外語学研修 5週間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706360" y="4576572"/>
            <a:ext cx="2106160" cy="566928"/>
          </a:xfrm>
          <a:prstGeom prst="roundRect">
            <a:avLst>
              <a:gd name="adj" fmla="val 50000"/>
            </a:avLst>
          </a:prstGeom>
          <a:solidFill>
            <a:srgbClr val="B34A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73152" rIns="73152" tIns="0" bIns="0"/>
          <a:lstStyle/>
          <a:p>
            <a:pPr algn="ctr"/>
            <a:r>
              <a:rPr sz="2000" b="1" i="0">
                <a:solidFill>
                  <a:srgbClr val="FFFFFF"/>
                </a:solidFill>
                <a:latin typeface="Meiryo"/>
                <a:ea typeface="Meiryo"/>
                <a:cs typeface="Meiryo"/>
              </a:rPr>
              <a:t>研修費 30万円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214856" y="2341372"/>
            <a:ext cx="2435344" cy="2966720"/>
          </a:xfrm>
          <a:prstGeom prst="rect">
            <a:avLst/>
          </a:prstGeom>
          <a:solidFill>
            <a:srgbClr val="E7F0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214856" y="2341372"/>
            <a:ext cx="2435344" cy="676656"/>
          </a:xfrm>
          <a:prstGeom prst="rect">
            <a:avLst/>
          </a:prstGeom>
          <a:solidFill>
            <a:srgbClr val="1160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214856" y="2487676"/>
            <a:ext cx="2435344" cy="4572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2600" b="1" i="0">
                <a:solidFill>
                  <a:srgbClr val="FFFFFF"/>
                </a:solidFill>
                <a:latin typeface="Meiryo"/>
                <a:ea typeface="Meiryo"/>
                <a:cs typeface="Meiryo"/>
              </a:rPr>
              <a:t>3年生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16024" y="3274060"/>
            <a:ext cx="2033008" cy="8473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400" b="1" i="0">
                <a:solidFill>
                  <a:srgbClr val="12253F"/>
                </a:solidFill>
                <a:latin typeface="Meiryo"/>
                <a:ea typeface="Meiryo"/>
                <a:cs typeface="Meiryo"/>
              </a:rPr>
              <a:t>長期留学 半年〜1年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379448" y="4576572"/>
            <a:ext cx="2106160" cy="566928"/>
          </a:xfrm>
          <a:prstGeom prst="roundRect">
            <a:avLst>
              <a:gd name="adj" fmla="val 50000"/>
            </a:avLst>
          </a:prstGeom>
          <a:solidFill>
            <a:srgbClr val="B34A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73152" rIns="73152" tIns="0" bIns="0"/>
          <a:lstStyle/>
          <a:p>
            <a:pPr algn="ctr"/>
            <a:r>
              <a:rPr sz="2300" b="1" i="0">
                <a:solidFill>
                  <a:srgbClr val="FFFFFF"/>
                </a:solidFill>
                <a:latin typeface="Meiryo"/>
                <a:ea typeface="Meiryo"/>
                <a:cs typeface="Meiryo"/>
              </a:rPr>
              <a:t>最大 62万円</a:t>
            </a:r>
          </a:p>
        </p:txBody>
      </p:sp>
      <p:sp>
        <p:nvSpPr>
          <p:cNvPr id="21" name="Rectangle 20"/>
          <p:cNvSpPr/>
          <p:nvPr/>
        </p:nvSpPr>
        <p:spPr>
          <a:xfrm>
            <a:off x="8887945" y="2193036"/>
            <a:ext cx="2435344" cy="3115056"/>
          </a:xfrm>
          <a:prstGeom prst="rect">
            <a:avLst/>
          </a:prstGeom>
          <a:solidFill>
            <a:srgbClr val="FFF4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8887945" y="2193036"/>
            <a:ext cx="2435344" cy="676656"/>
          </a:xfrm>
          <a:prstGeom prst="rect">
            <a:avLst/>
          </a:prstGeom>
          <a:solidFill>
            <a:srgbClr val="F2B0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887945" y="2339340"/>
            <a:ext cx="2435344" cy="4572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2600" b="1" i="0">
                <a:solidFill>
                  <a:srgbClr val="5C4204"/>
                </a:solidFill>
                <a:latin typeface="Meiryo"/>
                <a:ea typeface="Meiryo"/>
                <a:cs typeface="Meiryo"/>
              </a:rPr>
              <a:t>4年生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089113" y="3125724"/>
            <a:ext cx="2033008" cy="8473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400" b="1" i="0">
                <a:solidFill>
                  <a:srgbClr val="12253F"/>
                </a:solidFill>
                <a:latin typeface="Meiryo"/>
                <a:ea typeface="Meiryo"/>
                <a:cs typeface="Meiryo"/>
              </a:rPr>
              <a:t>経験をキャリアへ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9052537" y="4576572"/>
            <a:ext cx="2106160" cy="566928"/>
          </a:xfrm>
          <a:prstGeom prst="roundRect">
            <a:avLst>
              <a:gd name="adj" fmla="val 50000"/>
            </a:avLst>
          </a:prstGeom>
          <a:solidFill>
            <a:srgbClr val="B34A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73152" rIns="73152" tIns="0" bIns="0"/>
          <a:lstStyle/>
          <a:p>
            <a:pPr algn="ctr"/>
            <a:r>
              <a:rPr sz="2200" b="1" i="0">
                <a:solidFill>
                  <a:srgbClr val="FFFFFF"/>
                </a:solidFill>
                <a:latin typeface="Meiryo"/>
                <a:ea typeface="Meiryo"/>
                <a:cs typeface="Meiryo"/>
              </a:rPr>
              <a:t>修了証を授与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68680" y="5600700"/>
            <a:ext cx="10454609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800" b="0" i="0">
                <a:solidFill>
                  <a:srgbClr val="41505F"/>
                </a:solidFill>
                <a:latin typeface="Meiryo"/>
                <a:ea typeface="Meiryo"/>
                <a:cs typeface="Meiryo"/>
              </a:rPr>
              <a:t>※金額・人数・派遣先はチラシ掲載時点。最新の募集要項をご確認ください。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500329" y="6455664"/>
            <a:ext cx="8229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400" b="0" i="0">
                <a:solidFill>
                  <a:srgbClr val="8895A5"/>
                </a:solidFill>
                <a:latin typeface="Meiryo"/>
                <a:ea typeface="Meiryo"/>
                <a:cs typeface="Meiryo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68680" y="502920"/>
            <a:ext cx="10454609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2000" b="1" i="0" spc="220">
                <a:solidFill>
                  <a:srgbClr val="1160C4"/>
                </a:solidFill>
                <a:latin typeface="Meiryo"/>
                <a:ea typeface="Meiryo"/>
                <a:cs typeface="Meiryo"/>
              </a:rPr>
              <a:t>BIG JUMP ／ 1年生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68680" y="960120"/>
            <a:ext cx="10454609" cy="7254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4400" b="1" i="0">
                <a:solidFill>
                  <a:srgbClr val="12253F"/>
                </a:solidFill>
                <a:latin typeface="Meiryo"/>
                <a:ea typeface="Meiryo"/>
                <a:cs typeface="Meiryo"/>
              </a:rPr>
              <a:t>まず、英語力の土台をつくる</a:t>
            </a:r>
          </a:p>
        </p:txBody>
      </p:sp>
      <p:sp>
        <p:nvSpPr>
          <p:cNvPr id="5" name="Rectangle 4"/>
          <p:cNvSpPr/>
          <p:nvPr/>
        </p:nvSpPr>
        <p:spPr>
          <a:xfrm>
            <a:off x="868680" y="1813560"/>
            <a:ext cx="1417320" cy="68580"/>
          </a:xfrm>
          <a:prstGeom prst="rect">
            <a:avLst/>
          </a:prstGeom>
          <a:solidFill>
            <a:srgbClr val="1160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" y="2193036"/>
            <a:ext cx="10454609" cy="56007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3000" b="1" i="0">
                <a:solidFill>
                  <a:srgbClr val="1160C4"/>
                </a:solidFill>
                <a:latin typeface="Meiryo"/>
                <a:ea typeface="Meiryo"/>
                <a:cs typeface="Meiryo"/>
              </a:rPr>
              <a:t>1年生は、まだ海外には行きません。</a:t>
            </a:r>
          </a:p>
        </p:txBody>
      </p:sp>
      <p:sp>
        <p:nvSpPr>
          <p:cNvPr id="7" name="Oval 6"/>
          <p:cNvSpPr/>
          <p:nvPr/>
        </p:nvSpPr>
        <p:spPr>
          <a:xfrm>
            <a:off x="886968" y="3230118"/>
            <a:ext cx="155448" cy="155448"/>
          </a:xfrm>
          <a:prstGeom prst="ellipse">
            <a:avLst/>
          </a:prstGeom>
          <a:solidFill>
            <a:srgbClr val="1160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252728" y="3091434"/>
            <a:ext cx="10070561" cy="508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600" b="0" i="0">
                <a:solidFill>
                  <a:srgbClr val="12253F"/>
                </a:solidFill>
                <a:latin typeface="Meiryo"/>
                <a:ea typeface="Meiryo"/>
                <a:cs typeface="Meiryo"/>
              </a:rPr>
              <a:t>対象の検定：TOEFL／IELTS／英検</a:t>
            </a:r>
          </a:p>
        </p:txBody>
      </p:sp>
      <p:sp>
        <p:nvSpPr>
          <p:cNvPr id="9" name="Oval 8"/>
          <p:cNvSpPr/>
          <p:nvPr/>
        </p:nvSpPr>
        <p:spPr>
          <a:xfrm>
            <a:off x="886968" y="3966717"/>
            <a:ext cx="155448" cy="155448"/>
          </a:xfrm>
          <a:prstGeom prst="ellipse">
            <a:avLst/>
          </a:prstGeom>
          <a:solidFill>
            <a:srgbClr val="1160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252728" y="3828034"/>
            <a:ext cx="10070561" cy="508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600" b="0" i="0">
                <a:solidFill>
                  <a:srgbClr val="12253F"/>
                </a:solidFill>
                <a:latin typeface="Meiryo"/>
                <a:ea typeface="Meiryo"/>
                <a:cs typeface="Meiryo"/>
              </a:rPr>
              <a:t>検定料を 一人3万円まで補助</a:t>
            </a:r>
          </a:p>
        </p:txBody>
      </p:sp>
      <p:sp>
        <p:nvSpPr>
          <p:cNvPr id="11" name="Oval 10"/>
          <p:cNvSpPr/>
          <p:nvPr/>
        </p:nvSpPr>
        <p:spPr>
          <a:xfrm>
            <a:off x="886968" y="4703317"/>
            <a:ext cx="155448" cy="155448"/>
          </a:xfrm>
          <a:prstGeom prst="ellipse">
            <a:avLst/>
          </a:prstGeom>
          <a:solidFill>
            <a:srgbClr val="1160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252728" y="4564634"/>
            <a:ext cx="10070561" cy="508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600" b="0" i="0">
                <a:solidFill>
                  <a:srgbClr val="12253F"/>
                </a:solidFill>
                <a:latin typeface="Meiryo"/>
                <a:ea typeface="Meiryo"/>
                <a:cs typeface="Meiryo"/>
              </a:rPr>
              <a:t>授業：ビジネス英語入門ほか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8680" y="5303520"/>
            <a:ext cx="10454609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800" b="0" i="0">
                <a:solidFill>
                  <a:srgbClr val="41505F"/>
                </a:solidFill>
                <a:latin typeface="Meiryo"/>
                <a:ea typeface="Meiryo"/>
                <a:cs typeface="Meiryo"/>
              </a:rPr>
              <a:t>※学科の全員が対象ですが、支給には「英検準2級レベルの取得」などの条件があります。最新の募集要項でご確認ください。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500329" y="6455664"/>
            <a:ext cx="8229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400" b="0" i="0">
                <a:solidFill>
                  <a:srgbClr val="8895A5"/>
                </a:solidFill>
                <a:latin typeface="Meiryo"/>
                <a:ea typeface="Meiryo"/>
                <a:cs typeface="Meiryo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68680" y="502920"/>
            <a:ext cx="10454609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2000" b="1" i="0" spc="220">
                <a:solidFill>
                  <a:srgbClr val="1160C4"/>
                </a:solidFill>
                <a:latin typeface="Meiryo"/>
                <a:ea typeface="Meiryo"/>
                <a:cs typeface="Meiryo"/>
              </a:rPr>
              <a:t>BIG JUMP ／ 2年生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68680" y="960120"/>
            <a:ext cx="10454609" cy="7254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4400" b="1" i="0">
                <a:solidFill>
                  <a:srgbClr val="12253F"/>
                </a:solidFill>
                <a:latin typeface="Meiryo"/>
                <a:ea typeface="Meiryo"/>
                <a:cs typeface="Meiryo"/>
              </a:rPr>
              <a:t>海外語学研修 ― はじめての5週間</a:t>
            </a:r>
          </a:p>
        </p:txBody>
      </p:sp>
      <p:sp>
        <p:nvSpPr>
          <p:cNvPr id="5" name="Rectangle 4"/>
          <p:cNvSpPr/>
          <p:nvPr/>
        </p:nvSpPr>
        <p:spPr>
          <a:xfrm>
            <a:off x="868680" y="1813560"/>
            <a:ext cx="1417320" cy="68580"/>
          </a:xfrm>
          <a:prstGeom prst="rect">
            <a:avLst/>
          </a:prstGeom>
          <a:solidFill>
            <a:srgbClr val="1160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" y="2193036"/>
            <a:ext cx="5989320" cy="56007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3000" b="1" i="0">
                <a:solidFill>
                  <a:srgbClr val="1160C4"/>
                </a:solidFill>
                <a:latin typeface="Meiryo"/>
                <a:ea typeface="Meiryo"/>
                <a:cs typeface="Meiryo"/>
              </a:rPr>
              <a:t>夏休みより少し長い5週間。</a:t>
            </a:r>
          </a:p>
        </p:txBody>
      </p:sp>
      <p:sp>
        <p:nvSpPr>
          <p:cNvPr id="7" name="Oval 6"/>
          <p:cNvSpPr/>
          <p:nvPr/>
        </p:nvSpPr>
        <p:spPr>
          <a:xfrm>
            <a:off x="886968" y="3164586"/>
            <a:ext cx="155448" cy="155448"/>
          </a:xfrm>
          <a:prstGeom prst="ellipse">
            <a:avLst/>
          </a:prstGeom>
          <a:solidFill>
            <a:srgbClr val="1160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252728" y="3036570"/>
            <a:ext cx="5605272" cy="47243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400" b="0" i="0">
                <a:solidFill>
                  <a:srgbClr val="12253F"/>
                </a:solidFill>
                <a:latin typeface="Meiryo"/>
                <a:ea typeface="Meiryo"/>
                <a:cs typeface="Meiryo"/>
              </a:rPr>
              <a:t>行き先（予定）：豪州／NZ</a:t>
            </a:r>
          </a:p>
        </p:txBody>
      </p:sp>
      <p:sp>
        <p:nvSpPr>
          <p:cNvPr id="9" name="Oval 8"/>
          <p:cNvSpPr/>
          <p:nvPr/>
        </p:nvSpPr>
        <p:spPr>
          <a:xfrm>
            <a:off x="886968" y="3902201"/>
            <a:ext cx="155448" cy="155448"/>
          </a:xfrm>
          <a:prstGeom prst="ellipse">
            <a:avLst/>
          </a:prstGeom>
          <a:solidFill>
            <a:srgbClr val="1160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252728" y="3774185"/>
            <a:ext cx="5605272" cy="899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400" b="0" i="0">
                <a:solidFill>
                  <a:srgbClr val="12253F"/>
                </a:solidFill>
                <a:latin typeface="Meiryo"/>
                <a:ea typeface="Meiryo"/>
                <a:cs typeface="Meiryo"/>
              </a:rPr>
              <a:t>ホームステイ。生活ごと英語になります</a:t>
            </a:r>
          </a:p>
        </p:txBody>
      </p:sp>
      <p:sp>
        <p:nvSpPr>
          <p:cNvPr id="11" name="Oval 10"/>
          <p:cNvSpPr/>
          <p:nvPr/>
        </p:nvSpPr>
        <p:spPr>
          <a:xfrm>
            <a:off x="886968" y="5066537"/>
            <a:ext cx="155448" cy="155448"/>
          </a:xfrm>
          <a:prstGeom prst="ellipse">
            <a:avLst/>
          </a:prstGeom>
          <a:solidFill>
            <a:srgbClr val="1160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252728" y="4938522"/>
            <a:ext cx="5605272" cy="47243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400" b="0" i="0">
                <a:solidFill>
                  <a:srgbClr val="12253F"/>
                </a:solidFill>
                <a:latin typeface="Meiryo"/>
                <a:ea typeface="Meiryo"/>
                <a:cs typeface="Meiryo"/>
              </a:rPr>
              <a:t>目標：IELTS 5.5〜6.5（CEFR B2）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269480" y="2193036"/>
            <a:ext cx="4053809" cy="3613404"/>
          </a:xfrm>
          <a:prstGeom prst="rect">
            <a:avLst/>
          </a:prstGeom>
          <a:solidFill>
            <a:srgbClr val="F5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269480" y="2193036"/>
            <a:ext cx="4053809" cy="82296"/>
          </a:xfrm>
          <a:prstGeom prst="rect">
            <a:avLst/>
          </a:prstGeom>
          <a:solidFill>
            <a:srgbClr val="F2B0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562088" y="2558796"/>
            <a:ext cx="3468593" cy="4937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2400" b="1" i="0">
                <a:solidFill>
                  <a:srgbClr val="12253F"/>
                </a:solidFill>
                <a:latin typeface="Meiryo"/>
                <a:ea typeface="Meiryo"/>
                <a:cs typeface="Meiryo"/>
              </a:rPr>
              <a:t>研修費の補助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562088" y="3253740"/>
            <a:ext cx="3468593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2000" b="0" i="0">
                <a:solidFill>
                  <a:srgbClr val="41505F"/>
                </a:solidFill>
                <a:latin typeface="Meiryo"/>
                <a:ea typeface="Meiryo"/>
                <a:cs typeface="Meiryo"/>
              </a:rPr>
              <a:t>一人あたり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562088" y="3619500"/>
            <a:ext cx="3468593" cy="5120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3000" b="1" i="0">
                <a:solidFill>
                  <a:srgbClr val="B34A33"/>
                </a:solidFill>
                <a:latin typeface="Meiryo"/>
                <a:ea typeface="Meiryo"/>
                <a:cs typeface="Meiryo"/>
              </a:rPr>
              <a:t>30万円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562088" y="4314444"/>
            <a:ext cx="3468593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2000" b="0" i="0">
                <a:solidFill>
                  <a:srgbClr val="41505F"/>
                </a:solidFill>
                <a:latin typeface="Meiryo"/>
                <a:ea typeface="Meiryo"/>
                <a:cs typeface="Meiryo"/>
              </a:rPr>
              <a:t>対象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562088" y="4680204"/>
            <a:ext cx="3468593" cy="5120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3000" b="1" i="0">
                <a:solidFill>
                  <a:srgbClr val="B34A33"/>
                </a:solidFill>
                <a:latin typeface="Meiryo"/>
                <a:ea typeface="Meiryo"/>
                <a:cs typeface="Meiryo"/>
              </a:rPr>
              <a:t>選抜 10名程度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500329" y="6455664"/>
            <a:ext cx="8229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400" b="0" i="0">
                <a:solidFill>
                  <a:srgbClr val="8895A5"/>
                </a:solidFill>
                <a:latin typeface="Meiryo"/>
                <a:ea typeface="Meiryo"/>
                <a:cs typeface="Meiryo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68680" y="502920"/>
            <a:ext cx="10454609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2000" b="1" i="0" spc="220">
                <a:solidFill>
                  <a:srgbClr val="1160C4"/>
                </a:solidFill>
                <a:latin typeface="Meiryo"/>
                <a:ea typeface="Meiryo"/>
                <a:cs typeface="Meiryo"/>
              </a:rPr>
              <a:t>TOP10 PROGRAM 2025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68680" y="960120"/>
            <a:ext cx="10454609" cy="7254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4400" b="1" i="0">
                <a:solidFill>
                  <a:srgbClr val="12253F"/>
                </a:solidFill>
                <a:latin typeface="Meiryo"/>
                <a:ea typeface="Meiryo"/>
                <a:cs typeface="Meiryo"/>
              </a:rPr>
              <a:t>実際に、行ってきました</a:t>
            </a:r>
          </a:p>
        </p:txBody>
      </p:sp>
      <p:sp>
        <p:nvSpPr>
          <p:cNvPr id="5" name="Rectangle 4"/>
          <p:cNvSpPr/>
          <p:nvPr/>
        </p:nvSpPr>
        <p:spPr>
          <a:xfrm>
            <a:off x="868680" y="1813560"/>
            <a:ext cx="1417320" cy="68580"/>
          </a:xfrm>
          <a:prstGeom prst="rect">
            <a:avLst/>
          </a:prstGeom>
          <a:solidFill>
            <a:srgbClr val="1160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68680" y="2193036"/>
            <a:ext cx="5989320" cy="3659124"/>
          </a:xfrm>
          <a:prstGeom prst="rect">
            <a:avLst/>
          </a:prstGeom>
          <a:solidFill>
            <a:srgbClr val="E7F0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68680" y="2193036"/>
            <a:ext cx="100584" cy="3659124"/>
          </a:xfrm>
          <a:prstGeom prst="rect">
            <a:avLst/>
          </a:prstGeom>
          <a:solidFill>
            <a:srgbClr val="1160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79576" y="4892040"/>
            <a:ext cx="5367528" cy="777240"/>
          </a:xfrm>
          <a:prstGeom prst="rect">
            <a:avLst/>
          </a:prstGeom>
          <a:noFill/>
        </p:spPr>
        <p:txBody>
          <a:bodyPr wrap="square" lIns="0" rIns="0" tIns="0" bIns="0" anchor="b">
            <a:spAutoFit/>
          </a:bodyPr>
          <a:lstStyle/>
          <a:p>
            <a:pPr algn="l">
              <a:lnSpc>
                <a:spcPct val="130000"/>
              </a:lnSpc>
            </a:pPr>
            <a:r>
              <a:rPr sz="2200" b="1" i="0">
                <a:solidFill>
                  <a:srgbClr val="12253F"/>
                </a:solidFill>
                <a:latin typeface="Meiryo"/>
                <a:ea typeface="Meiryo"/>
                <a:cs typeface="Meiryo"/>
              </a:rPr>
              <a:t>ニュージーランド・企業訪問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79576" y="2449068"/>
            <a:ext cx="5367528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1" i="0">
                <a:solidFill>
                  <a:srgbClr val="41505F"/>
                </a:solidFill>
                <a:latin typeface="Meiryo"/>
                <a:ea typeface="Meiryo"/>
                <a:cs typeface="Meiryo"/>
              </a:rPr>
              <a:t>［写真を差し込む位置］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79576" y="2833116"/>
            <a:ext cx="5367528" cy="8473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600" b="0" i="0">
                <a:solidFill>
                  <a:srgbClr val="41505F"/>
                </a:solidFill>
                <a:latin typeface="Meiryo"/>
                <a:ea typeface="Meiryo"/>
                <a:cs typeface="Meiryo"/>
              </a:rPr>
              <a:t>旧版のNZ写真（キウイフルーツ農園の企業訪問／リンカーン大学）をここに配置。</a:t>
            </a:r>
          </a:p>
          <a:p>
            <a:pPr algn="l">
              <a:lnSpc>
                <a:spcPct val="130000"/>
              </a:lnSpc>
            </a:pPr>
            <a:r>
              <a:rPr sz="1600" b="0" i="0">
                <a:solidFill>
                  <a:srgbClr val="41505F"/>
                </a:solidFill>
                <a:latin typeface="Meiryo"/>
                <a:ea typeface="Meiryo"/>
                <a:cs typeface="Meiryo"/>
              </a:rPr>
              <a:t>大きく1枚だけ使うこと。</a:t>
            </a:r>
          </a:p>
        </p:txBody>
      </p:sp>
      <p:sp>
        <p:nvSpPr>
          <p:cNvPr id="11" name="Oval 10"/>
          <p:cNvSpPr/>
          <p:nvPr/>
        </p:nvSpPr>
        <p:spPr>
          <a:xfrm>
            <a:off x="7333488" y="2404872"/>
            <a:ext cx="155448" cy="155448"/>
          </a:xfrm>
          <a:prstGeom prst="ellipse">
            <a:avLst/>
          </a:prstGeom>
          <a:solidFill>
            <a:srgbClr val="1160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699248" y="2266188"/>
            <a:ext cx="3624041" cy="970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600" b="0" i="0">
                <a:solidFill>
                  <a:srgbClr val="12253F"/>
                </a:solidFill>
                <a:latin typeface="Meiryo"/>
                <a:ea typeface="Meiryo"/>
                <a:cs typeface="Meiryo"/>
              </a:rPr>
              <a:t>参加：選抜された2年生 9名</a:t>
            </a:r>
          </a:p>
        </p:txBody>
      </p:sp>
      <p:sp>
        <p:nvSpPr>
          <p:cNvPr id="13" name="Oval 12"/>
          <p:cNvSpPr/>
          <p:nvPr/>
        </p:nvSpPr>
        <p:spPr>
          <a:xfrm>
            <a:off x="7333488" y="3658616"/>
            <a:ext cx="155448" cy="155448"/>
          </a:xfrm>
          <a:prstGeom prst="ellipse">
            <a:avLst/>
          </a:prstGeom>
          <a:solidFill>
            <a:srgbClr val="1160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699248" y="3519932"/>
            <a:ext cx="3624041" cy="970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600" b="0" i="0">
                <a:solidFill>
                  <a:srgbClr val="12253F"/>
                </a:solidFill>
                <a:latin typeface="Meiryo"/>
                <a:ea typeface="Meiryo"/>
                <a:cs typeface="Meiryo"/>
              </a:rPr>
              <a:t>NZ3都市（オークランドほか）</a:t>
            </a:r>
          </a:p>
        </p:txBody>
      </p:sp>
      <p:sp>
        <p:nvSpPr>
          <p:cNvPr id="15" name="Oval 14"/>
          <p:cNvSpPr/>
          <p:nvPr/>
        </p:nvSpPr>
        <p:spPr>
          <a:xfrm>
            <a:off x="7333488" y="4912360"/>
            <a:ext cx="155448" cy="155448"/>
          </a:xfrm>
          <a:prstGeom prst="ellipse">
            <a:avLst/>
          </a:prstGeom>
          <a:solidFill>
            <a:srgbClr val="1160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699248" y="4773676"/>
            <a:ext cx="3624041" cy="970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600" b="0" i="0">
                <a:solidFill>
                  <a:srgbClr val="12253F"/>
                </a:solidFill>
                <a:latin typeface="Meiryo"/>
                <a:ea typeface="Meiryo"/>
                <a:cs typeface="Meiryo"/>
              </a:rPr>
              <a:t>語学研修・企業訪問・ホームステイ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500329" y="6455664"/>
            <a:ext cx="8229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400" b="0" i="0">
                <a:solidFill>
                  <a:srgbClr val="8895A5"/>
                </a:solidFill>
                <a:latin typeface="Meiryo"/>
                <a:ea typeface="Meiryo"/>
                <a:cs typeface="Meiryo"/>
              </a:rPr>
              <a:t>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68680" y="502920"/>
            <a:ext cx="10454609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2000" b="1" i="0" spc="220">
                <a:solidFill>
                  <a:srgbClr val="1160C4"/>
                </a:solidFill>
                <a:latin typeface="Meiryo"/>
                <a:ea typeface="Meiryo"/>
                <a:cs typeface="Meiryo"/>
              </a:rPr>
              <a:t>BIG JUMP ／ 3年生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68680" y="960120"/>
            <a:ext cx="10454609" cy="7254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4400" b="1" i="0">
                <a:solidFill>
                  <a:srgbClr val="12253F"/>
                </a:solidFill>
                <a:latin typeface="Meiryo"/>
                <a:ea typeface="Meiryo"/>
                <a:cs typeface="Meiryo"/>
              </a:rPr>
              <a:t>長期留学 ― 半年から1年</a:t>
            </a:r>
          </a:p>
        </p:txBody>
      </p:sp>
      <p:sp>
        <p:nvSpPr>
          <p:cNvPr id="5" name="Rectangle 4"/>
          <p:cNvSpPr/>
          <p:nvPr/>
        </p:nvSpPr>
        <p:spPr>
          <a:xfrm>
            <a:off x="868680" y="1813560"/>
            <a:ext cx="1417320" cy="68580"/>
          </a:xfrm>
          <a:prstGeom prst="rect">
            <a:avLst/>
          </a:prstGeom>
          <a:solidFill>
            <a:srgbClr val="1160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" y="2193036"/>
            <a:ext cx="5989320" cy="56007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3000" b="1" i="0">
                <a:solidFill>
                  <a:srgbClr val="1160C4"/>
                </a:solidFill>
                <a:latin typeface="Meiryo"/>
                <a:ea typeface="Meiryo"/>
                <a:cs typeface="Meiryo"/>
              </a:rPr>
              <a:t>いちばん大きな一段です。</a:t>
            </a:r>
          </a:p>
        </p:txBody>
      </p:sp>
      <p:sp>
        <p:nvSpPr>
          <p:cNvPr id="7" name="Oval 6"/>
          <p:cNvSpPr/>
          <p:nvPr/>
        </p:nvSpPr>
        <p:spPr>
          <a:xfrm>
            <a:off x="886968" y="3164586"/>
            <a:ext cx="155448" cy="155448"/>
          </a:xfrm>
          <a:prstGeom prst="ellipse">
            <a:avLst/>
          </a:prstGeom>
          <a:solidFill>
            <a:srgbClr val="1160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252728" y="3036570"/>
            <a:ext cx="5605272" cy="899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400" b="0" i="0">
                <a:solidFill>
                  <a:srgbClr val="12253F"/>
                </a:solidFill>
                <a:latin typeface="Meiryo"/>
                <a:ea typeface="Meiryo"/>
                <a:cs typeface="Meiryo"/>
              </a:rPr>
              <a:t>派遣先（予定）：12ヶ国・地域 25大学</a:t>
            </a:r>
          </a:p>
        </p:txBody>
      </p:sp>
      <p:sp>
        <p:nvSpPr>
          <p:cNvPr id="9" name="Oval 8"/>
          <p:cNvSpPr/>
          <p:nvPr/>
        </p:nvSpPr>
        <p:spPr>
          <a:xfrm>
            <a:off x="886968" y="4274058"/>
            <a:ext cx="155448" cy="155448"/>
          </a:xfrm>
          <a:prstGeom prst="ellipse">
            <a:avLst/>
          </a:prstGeom>
          <a:solidFill>
            <a:srgbClr val="1160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252728" y="4146042"/>
            <a:ext cx="5605272" cy="47243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400" b="0" i="0">
                <a:solidFill>
                  <a:srgbClr val="12253F"/>
                </a:solidFill>
                <a:latin typeface="Meiryo"/>
                <a:ea typeface="Meiryo"/>
                <a:cs typeface="Meiryo"/>
              </a:rPr>
              <a:t>期間：約6ヶ月〜約1年間</a:t>
            </a:r>
          </a:p>
        </p:txBody>
      </p:sp>
      <p:sp>
        <p:nvSpPr>
          <p:cNvPr id="11" name="Oval 10"/>
          <p:cNvSpPr/>
          <p:nvPr/>
        </p:nvSpPr>
        <p:spPr>
          <a:xfrm>
            <a:off x="886968" y="4956810"/>
            <a:ext cx="155448" cy="155448"/>
          </a:xfrm>
          <a:prstGeom prst="ellipse">
            <a:avLst/>
          </a:prstGeom>
          <a:solidFill>
            <a:srgbClr val="1160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252728" y="4828794"/>
            <a:ext cx="5605272" cy="47243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400" b="0" i="0">
                <a:solidFill>
                  <a:srgbClr val="12253F"/>
                </a:solidFill>
                <a:latin typeface="Meiryo"/>
                <a:ea typeface="Meiryo"/>
                <a:cs typeface="Meiryo"/>
              </a:rPr>
              <a:t>留学中も就活を個別指導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269480" y="2193036"/>
            <a:ext cx="4053809" cy="3078480"/>
          </a:xfrm>
          <a:prstGeom prst="rect">
            <a:avLst/>
          </a:prstGeom>
          <a:solidFill>
            <a:srgbClr val="F5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269480" y="2193036"/>
            <a:ext cx="4053809" cy="82296"/>
          </a:xfrm>
          <a:prstGeom prst="rect">
            <a:avLst/>
          </a:prstGeom>
          <a:solidFill>
            <a:srgbClr val="F2B0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562088" y="2558796"/>
            <a:ext cx="3468593" cy="4937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2400" b="1" i="0">
                <a:solidFill>
                  <a:srgbClr val="12253F"/>
                </a:solidFill>
                <a:latin typeface="Meiryo"/>
                <a:ea typeface="Meiryo"/>
                <a:cs typeface="Meiryo"/>
              </a:rPr>
              <a:t>最大62万円の内訳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562088" y="3253740"/>
            <a:ext cx="3468593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2000" b="0" i="0">
                <a:solidFill>
                  <a:srgbClr val="41505F"/>
                </a:solidFill>
                <a:latin typeface="Meiryo"/>
                <a:ea typeface="Meiryo"/>
                <a:cs typeface="Meiryo"/>
              </a:rPr>
              <a:t>留学中の授業料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562088" y="3619500"/>
            <a:ext cx="3468593" cy="5120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2400" b="1" i="0">
                <a:solidFill>
                  <a:srgbClr val="B34A33"/>
                </a:solidFill>
                <a:latin typeface="Meiryo"/>
                <a:ea typeface="Meiryo"/>
                <a:cs typeface="Meiryo"/>
              </a:rPr>
              <a:t>半額相当 42万円 免除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562088" y="4314444"/>
            <a:ext cx="3468593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2000" b="0" i="0">
                <a:solidFill>
                  <a:srgbClr val="41505F"/>
                </a:solidFill>
                <a:latin typeface="Meiryo"/>
                <a:ea typeface="Meiryo"/>
                <a:cs typeface="Meiryo"/>
              </a:rPr>
              <a:t>留学奨学金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562088" y="4680204"/>
            <a:ext cx="3468593" cy="5120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3000" b="1" i="0">
                <a:solidFill>
                  <a:srgbClr val="B34A33"/>
                </a:solidFill>
                <a:latin typeface="Meiryo"/>
                <a:ea typeface="Meiryo"/>
                <a:cs typeface="Meiryo"/>
              </a:rPr>
              <a:t>20万円 支給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68680" y="5600700"/>
            <a:ext cx="10454609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800" b="0" i="0">
                <a:solidFill>
                  <a:srgbClr val="41505F"/>
                </a:solidFill>
                <a:latin typeface="Meiryo"/>
                <a:ea typeface="Meiryo"/>
                <a:cs typeface="Meiryo"/>
              </a:rPr>
              <a:t>※1年間派遣の場合。選抜・10名程度。金額はチラシ掲載時点のものです。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500329" y="6455664"/>
            <a:ext cx="8229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400" b="0" i="0">
                <a:solidFill>
                  <a:srgbClr val="8895A5"/>
                </a:solidFill>
                <a:latin typeface="Meiryo"/>
                <a:ea typeface="Meiryo"/>
                <a:cs typeface="Meiryo"/>
              </a:rPr>
              <a:t>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68680" y="502920"/>
            <a:ext cx="10454609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2000" b="1" i="0" spc="220">
                <a:solidFill>
                  <a:srgbClr val="1160C4"/>
                </a:solidFill>
                <a:latin typeface="Meiryo"/>
                <a:ea typeface="Meiryo"/>
                <a:cs typeface="Meiryo"/>
              </a:rPr>
              <a:t>MONEY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68680" y="960120"/>
            <a:ext cx="10454609" cy="7254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4400" b="1" i="0">
                <a:solidFill>
                  <a:srgbClr val="12253F"/>
                </a:solidFill>
                <a:latin typeface="Meiryo"/>
                <a:ea typeface="Meiryo"/>
                <a:cs typeface="Meiryo"/>
              </a:rPr>
              <a:t>お金の話を、正直にします</a:t>
            </a:r>
          </a:p>
        </p:txBody>
      </p:sp>
      <p:sp>
        <p:nvSpPr>
          <p:cNvPr id="5" name="Rectangle 4"/>
          <p:cNvSpPr/>
          <p:nvPr/>
        </p:nvSpPr>
        <p:spPr>
          <a:xfrm>
            <a:off x="868680" y="1813560"/>
            <a:ext cx="1417320" cy="68580"/>
          </a:xfrm>
          <a:prstGeom prst="rect">
            <a:avLst/>
          </a:prstGeom>
          <a:solidFill>
            <a:srgbClr val="1160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68680" y="2238756"/>
            <a:ext cx="4800600" cy="2827020"/>
          </a:xfrm>
          <a:prstGeom prst="rect">
            <a:avLst/>
          </a:prstGeom>
          <a:solidFill>
            <a:srgbClr val="E7F0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2421636"/>
            <a:ext cx="4800600" cy="141732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ct val="116000"/>
              </a:lnSpc>
            </a:pPr>
            <a:r>
              <a:rPr sz="9000" b="1" i="0">
                <a:solidFill>
                  <a:srgbClr val="1160C4"/>
                </a:solidFill>
                <a:latin typeface="Meiryo"/>
                <a:ea typeface="Meiryo"/>
                <a:cs typeface="Meiryo"/>
              </a:rPr>
              <a:t>95万円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43000" y="3969512"/>
            <a:ext cx="4251960" cy="9316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0000"/>
              </a:lnSpc>
            </a:pPr>
            <a:r>
              <a:rPr sz="2600" b="1" i="0">
                <a:solidFill>
                  <a:srgbClr val="12253F"/>
                </a:solidFill>
                <a:latin typeface="Meiryo"/>
                <a:ea typeface="Meiryo"/>
                <a:cs typeface="Meiryo"/>
              </a:rPr>
              <a:t>4年間の3段すべてを受けた場合の合計</a:t>
            </a:r>
          </a:p>
        </p:txBody>
      </p:sp>
      <p:sp>
        <p:nvSpPr>
          <p:cNvPr id="9" name="Oval 8"/>
          <p:cNvSpPr/>
          <p:nvPr/>
        </p:nvSpPr>
        <p:spPr>
          <a:xfrm>
            <a:off x="6099048" y="2449068"/>
            <a:ext cx="155448" cy="155448"/>
          </a:xfrm>
          <a:prstGeom prst="ellipse">
            <a:avLst/>
          </a:prstGeom>
          <a:solidFill>
            <a:srgbClr val="1160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64808" y="2321052"/>
            <a:ext cx="4858481" cy="47243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400" b="0" i="0">
                <a:solidFill>
                  <a:srgbClr val="12253F"/>
                </a:solidFill>
                <a:latin typeface="Meiryo"/>
                <a:ea typeface="Meiryo"/>
                <a:cs typeface="Meiryo"/>
              </a:rPr>
              <a:t>1年 検定料 3万円（条件あり）</a:t>
            </a:r>
          </a:p>
        </p:txBody>
      </p:sp>
      <p:sp>
        <p:nvSpPr>
          <p:cNvPr id="11" name="Oval 10"/>
          <p:cNvSpPr/>
          <p:nvPr/>
        </p:nvSpPr>
        <p:spPr>
          <a:xfrm>
            <a:off x="6099048" y="3131820"/>
            <a:ext cx="155448" cy="155448"/>
          </a:xfrm>
          <a:prstGeom prst="ellipse">
            <a:avLst/>
          </a:prstGeom>
          <a:solidFill>
            <a:srgbClr val="1160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64808" y="3003804"/>
            <a:ext cx="4858481" cy="899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400" b="0" i="0">
                <a:solidFill>
                  <a:srgbClr val="12253F"/>
                </a:solidFill>
                <a:latin typeface="Meiryo"/>
                <a:ea typeface="Meiryo"/>
                <a:cs typeface="Meiryo"/>
              </a:rPr>
              <a:t>2年 研修費 30万円（選抜10名程度）</a:t>
            </a:r>
          </a:p>
        </p:txBody>
      </p:sp>
      <p:sp>
        <p:nvSpPr>
          <p:cNvPr id="13" name="Oval 12"/>
          <p:cNvSpPr/>
          <p:nvPr/>
        </p:nvSpPr>
        <p:spPr>
          <a:xfrm>
            <a:off x="6099048" y="4241291"/>
            <a:ext cx="155448" cy="155448"/>
          </a:xfrm>
          <a:prstGeom prst="ellipse">
            <a:avLst/>
          </a:prstGeom>
          <a:solidFill>
            <a:srgbClr val="1160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64808" y="4113275"/>
            <a:ext cx="4858481" cy="899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400" b="0" i="0">
                <a:solidFill>
                  <a:srgbClr val="12253F"/>
                </a:solidFill>
                <a:latin typeface="Meiryo"/>
                <a:ea typeface="Meiryo"/>
                <a:cs typeface="Meiryo"/>
              </a:rPr>
              <a:t>3年 留学 最大62万円（選抜10名程度）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68680" y="5303520"/>
            <a:ext cx="10454609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800" b="0" i="0">
                <a:solidFill>
                  <a:srgbClr val="41505F"/>
                </a:solidFill>
                <a:latin typeface="Meiryo"/>
                <a:ea typeface="Meiryo"/>
                <a:cs typeface="Meiryo"/>
              </a:rPr>
              <a:t>※1学年の定員は40名。研修・留学の枠はそれぞれ10名程度です。金額・人数は「Big Jump（Top10 Ver.2.0）」チラシ掲載時点のもの。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500329" y="6455664"/>
            <a:ext cx="8229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400" b="0" i="0">
                <a:solidFill>
                  <a:srgbClr val="8895A5"/>
                </a:solidFill>
                <a:latin typeface="Meiryo"/>
                <a:ea typeface="Meiryo"/>
                <a:cs typeface="Meiryo"/>
              </a:rPr>
              <a:t>16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68680" y="502920"/>
            <a:ext cx="10454609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2000" b="1" i="0" spc="220">
                <a:solidFill>
                  <a:srgbClr val="1160C4"/>
                </a:solidFill>
                <a:latin typeface="Meiryo"/>
                <a:ea typeface="Meiryo"/>
                <a:cs typeface="Meiryo"/>
              </a:rPr>
              <a:t>BIG JUMP ／ 4年生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68680" y="960120"/>
            <a:ext cx="10454609" cy="7254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4400" b="1" i="0">
                <a:solidFill>
                  <a:srgbClr val="12253F"/>
                </a:solidFill>
                <a:latin typeface="Meiryo"/>
                <a:ea typeface="Meiryo"/>
                <a:cs typeface="Meiryo"/>
              </a:rPr>
              <a:t>行って終わりには、しません</a:t>
            </a:r>
          </a:p>
        </p:txBody>
      </p:sp>
      <p:sp>
        <p:nvSpPr>
          <p:cNvPr id="5" name="Rectangle 4"/>
          <p:cNvSpPr/>
          <p:nvPr/>
        </p:nvSpPr>
        <p:spPr>
          <a:xfrm>
            <a:off x="868680" y="1813560"/>
            <a:ext cx="1417320" cy="68580"/>
          </a:xfrm>
          <a:prstGeom prst="rect">
            <a:avLst/>
          </a:prstGeom>
          <a:solidFill>
            <a:srgbClr val="1160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" y="2193036"/>
            <a:ext cx="10454609" cy="56007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3000" b="1" i="0">
                <a:solidFill>
                  <a:srgbClr val="1160C4"/>
                </a:solidFill>
                <a:latin typeface="Meiryo"/>
                <a:ea typeface="Meiryo"/>
                <a:cs typeface="Meiryo"/>
              </a:rPr>
              <a:t>帰ってきてからのフォローまでが Big Jump です。</a:t>
            </a:r>
          </a:p>
        </p:txBody>
      </p:sp>
      <p:sp>
        <p:nvSpPr>
          <p:cNvPr id="7" name="Oval 6"/>
          <p:cNvSpPr/>
          <p:nvPr/>
        </p:nvSpPr>
        <p:spPr>
          <a:xfrm>
            <a:off x="886968" y="3235452"/>
            <a:ext cx="155448" cy="155448"/>
          </a:xfrm>
          <a:prstGeom prst="ellipse">
            <a:avLst/>
          </a:prstGeom>
          <a:solidFill>
            <a:srgbClr val="1160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252728" y="3091434"/>
            <a:ext cx="10070561" cy="5257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700" b="0" i="0">
                <a:solidFill>
                  <a:srgbClr val="12253F"/>
                </a:solidFill>
                <a:latin typeface="Meiryo"/>
                <a:ea typeface="Meiryo"/>
                <a:cs typeface="Meiryo"/>
              </a:rPr>
              <a:t>留学後に プログラム修了証 を授与</a:t>
            </a:r>
          </a:p>
        </p:txBody>
      </p:sp>
      <p:sp>
        <p:nvSpPr>
          <p:cNvPr id="9" name="Oval 8"/>
          <p:cNvSpPr/>
          <p:nvPr/>
        </p:nvSpPr>
        <p:spPr>
          <a:xfrm>
            <a:off x="886968" y="3989832"/>
            <a:ext cx="155448" cy="155448"/>
          </a:xfrm>
          <a:prstGeom prst="ellipse">
            <a:avLst/>
          </a:prstGeom>
          <a:solidFill>
            <a:srgbClr val="1160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252728" y="3845814"/>
            <a:ext cx="10070561" cy="5257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700" b="0" i="0">
                <a:solidFill>
                  <a:srgbClr val="12253F"/>
                </a:solidFill>
                <a:latin typeface="Meiryo"/>
                <a:ea typeface="Meiryo"/>
                <a:cs typeface="Meiryo"/>
              </a:rPr>
              <a:t>就活で、実力を書類で示せます</a:t>
            </a:r>
          </a:p>
        </p:txBody>
      </p:sp>
      <p:sp>
        <p:nvSpPr>
          <p:cNvPr id="11" name="Oval 10"/>
          <p:cNvSpPr/>
          <p:nvPr/>
        </p:nvSpPr>
        <p:spPr>
          <a:xfrm>
            <a:off x="886968" y="4744212"/>
            <a:ext cx="155448" cy="155448"/>
          </a:xfrm>
          <a:prstGeom prst="ellipse">
            <a:avLst/>
          </a:prstGeom>
          <a:solidFill>
            <a:srgbClr val="1160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252728" y="4600194"/>
            <a:ext cx="10070561" cy="5257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700" b="0" i="0">
                <a:solidFill>
                  <a:srgbClr val="12253F"/>
                </a:solidFill>
                <a:latin typeface="Meiryo"/>
                <a:ea typeface="Meiryo"/>
                <a:cs typeface="Meiryo"/>
              </a:rPr>
              <a:t>卒業論文を英語で書くゼミも</a:t>
            </a:r>
          </a:p>
        </p:txBody>
      </p:sp>
      <p:sp>
        <p:nvSpPr>
          <p:cNvPr id="13" name="Oval 12"/>
          <p:cNvSpPr/>
          <p:nvPr/>
        </p:nvSpPr>
        <p:spPr>
          <a:xfrm>
            <a:off x="886968" y="5498592"/>
            <a:ext cx="155448" cy="155448"/>
          </a:xfrm>
          <a:prstGeom prst="ellipse">
            <a:avLst/>
          </a:prstGeom>
          <a:solidFill>
            <a:srgbClr val="1160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252728" y="5354574"/>
            <a:ext cx="10070561" cy="5257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700" b="0" i="0">
                <a:solidFill>
                  <a:srgbClr val="12253F"/>
                </a:solidFill>
                <a:latin typeface="Meiryo"/>
                <a:ea typeface="Meiryo"/>
                <a:cs typeface="Meiryo"/>
              </a:rPr>
              <a:t>後輩に体験を発表する側にまわります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500329" y="6455664"/>
            <a:ext cx="8229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400" b="0" i="0">
                <a:solidFill>
                  <a:srgbClr val="8895A5"/>
                </a:solidFill>
                <a:latin typeface="Meiryo"/>
                <a:ea typeface="Meiryo"/>
                <a:cs typeface="Meiryo"/>
              </a:rPr>
              <a:t>17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68680" y="502920"/>
            <a:ext cx="10454609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2000" b="1" i="0" spc="220">
                <a:solidFill>
                  <a:srgbClr val="1160C4"/>
                </a:solidFill>
                <a:latin typeface="Meiryo"/>
                <a:ea typeface="Meiryo"/>
                <a:cs typeface="Meiryo"/>
              </a:rPr>
              <a:t>ENGLISH TRAINING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68680" y="960120"/>
            <a:ext cx="10454609" cy="6339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3800" b="1" i="0">
                <a:solidFill>
                  <a:srgbClr val="12253F"/>
                </a:solidFill>
                <a:latin typeface="Meiryo"/>
                <a:ea typeface="Meiryo"/>
                <a:cs typeface="Meiryo"/>
              </a:rPr>
              <a:t>「英語が苦手」からのスタートで大丈夫</a:t>
            </a:r>
          </a:p>
        </p:txBody>
      </p:sp>
      <p:sp>
        <p:nvSpPr>
          <p:cNvPr id="5" name="Rectangle 4"/>
          <p:cNvSpPr/>
          <p:nvPr/>
        </p:nvSpPr>
        <p:spPr>
          <a:xfrm>
            <a:off x="868680" y="1722120"/>
            <a:ext cx="1417320" cy="68580"/>
          </a:xfrm>
          <a:prstGeom prst="rect">
            <a:avLst/>
          </a:prstGeom>
          <a:solidFill>
            <a:srgbClr val="1160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65689" y="1874519"/>
            <a:ext cx="3657600" cy="3931920"/>
          </a:xfrm>
          <a:prstGeom prst="rect">
            <a:avLst/>
          </a:prstGeom>
          <a:solidFill>
            <a:srgbClr val="E7F0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665689" y="1874519"/>
            <a:ext cx="100584" cy="3931920"/>
          </a:xfrm>
          <a:prstGeom prst="rect">
            <a:avLst/>
          </a:prstGeom>
          <a:solidFill>
            <a:srgbClr val="1160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976585" y="4846320"/>
            <a:ext cx="3035808" cy="777240"/>
          </a:xfrm>
          <a:prstGeom prst="rect">
            <a:avLst/>
          </a:prstGeom>
          <a:noFill/>
        </p:spPr>
        <p:txBody>
          <a:bodyPr wrap="square" lIns="0" rIns="0" tIns="0" bIns="0" anchor="b">
            <a:spAutoFit/>
          </a:bodyPr>
          <a:lstStyle/>
          <a:p>
            <a:pPr algn="l">
              <a:lnSpc>
                <a:spcPct val="130000"/>
              </a:lnSpc>
            </a:pPr>
            <a:r>
              <a:rPr sz="2200" b="1" i="0">
                <a:solidFill>
                  <a:srgbClr val="12253F"/>
                </a:solidFill>
                <a:latin typeface="Meiryo"/>
                <a:ea typeface="Meiryo"/>
                <a:cs typeface="Meiryo"/>
              </a:rPr>
              <a:t>語学研修（ニュージーランド）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976585" y="2130552"/>
            <a:ext cx="3035808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1" i="0">
                <a:solidFill>
                  <a:srgbClr val="41505F"/>
                </a:solidFill>
                <a:latin typeface="Meiryo"/>
                <a:ea typeface="Meiryo"/>
                <a:cs typeface="Meiryo"/>
              </a:rPr>
              <a:t>［写真を差し込む位置］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976585" y="2514600"/>
            <a:ext cx="3035808" cy="583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600" b="0" i="0">
                <a:solidFill>
                  <a:srgbClr val="41505F"/>
                </a:solidFill>
                <a:latin typeface="Meiryo"/>
                <a:ea typeface="Meiryo"/>
                <a:cs typeface="Meiryo"/>
              </a:rPr>
              <a:t>旧版のNZ語学研修の授業風景をここに配置</a:t>
            </a:r>
          </a:p>
        </p:txBody>
      </p:sp>
      <p:sp>
        <p:nvSpPr>
          <p:cNvPr id="11" name="Oval 10"/>
          <p:cNvSpPr/>
          <p:nvPr/>
        </p:nvSpPr>
        <p:spPr>
          <a:xfrm>
            <a:off x="886968" y="2250948"/>
            <a:ext cx="155448" cy="155448"/>
          </a:xfrm>
          <a:prstGeom prst="ellipse">
            <a:avLst/>
          </a:prstGeom>
          <a:solidFill>
            <a:srgbClr val="1160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252728" y="2101596"/>
            <a:ext cx="6092921" cy="543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800" b="0" i="0">
                <a:solidFill>
                  <a:srgbClr val="12253F"/>
                </a:solidFill>
                <a:latin typeface="Meiryo"/>
                <a:ea typeface="Meiryo"/>
                <a:cs typeface="Meiryo"/>
              </a:rPr>
              <a:t>得意な学生ばかりではありません</a:t>
            </a:r>
          </a:p>
        </p:txBody>
      </p:sp>
      <p:sp>
        <p:nvSpPr>
          <p:cNvPr id="13" name="Oval 12"/>
          <p:cNvSpPr/>
          <p:nvPr/>
        </p:nvSpPr>
        <p:spPr>
          <a:xfrm>
            <a:off x="886968" y="3023108"/>
            <a:ext cx="155448" cy="155448"/>
          </a:xfrm>
          <a:prstGeom prst="ellipse">
            <a:avLst/>
          </a:prstGeom>
          <a:solidFill>
            <a:srgbClr val="1160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252728" y="2873756"/>
            <a:ext cx="6092921" cy="543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800" b="0" i="0">
                <a:solidFill>
                  <a:srgbClr val="12253F"/>
                </a:solidFill>
                <a:latin typeface="Meiryo"/>
                <a:ea typeface="Meiryo"/>
                <a:cs typeface="Meiryo"/>
              </a:rPr>
              <a:t>「苦手だけど話せたら」が多数派</a:t>
            </a:r>
          </a:p>
        </p:txBody>
      </p:sp>
      <p:sp>
        <p:nvSpPr>
          <p:cNvPr id="15" name="Oval 14"/>
          <p:cNvSpPr/>
          <p:nvPr/>
        </p:nvSpPr>
        <p:spPr>
          <a:xfrm>
            <a:off x="886968" y="3795267"/>
            <a:ext cx="155448" cy="155448"/>
          </a:xfrm>
          <a:prstGeom prst="ellipse">
            <a:avLst/>
          </a:prstGeom>
          <a:solidFill>
            <a:srgbClr val="1160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252728" y="3645916"/>
            <a:ext cx="6092921" cy="543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800" b="0" i="0">
                <a:solidFill>
                  <a:srgbClr val="12253F"/>
                </a:solidFill>
                <a:latin typeface="Meiryo"/>
                <a:ea typeface="Meiryo"/>
                <a:cs typeface="Meiryo"/>
              </a:rPr>
              <a:t>高校は勉強、大学はトレーニング</a:t>
            </a:r>
          </a:p>
        </p:txBody>
      </p:sp>
      <p:sp>
        <p:nvSpPr>
          <p:cNvPr id="17" name="Oval 16"/>
          <p:cNvSpPr/>
          <p:nvPr/>
        </p:nvSpPr>
        <p:spPr>
          <a:xfrm>
            <a:off x="886968" y="4567427"/>
            <a:ext cx="155448" cy="155448"/>
          </a:xfrm>
          <a:prstGeom prst="ellipse">
            <a:avLst/>
          </a:prstGeom>
          <a:solidFill>
            <a:srgbClr val="1160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252728" y="4418075"/>
            <a:ext cx="6092921" cy="543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800" b="0" i="0">
                <a:solidFill>
                  <a:srgbClr val="12253F"/>
                </a:solidFill>
                <a:latin typeface="Meiryo"/>
                <a:ea typeface="Meiryo"/>
                <a:cs typeface="Meiryo"/>
              </a:rPr>
              <a:t>留学生とキャンパスで毎日交流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500329" y="6455664"/>
            <a:ext cx="8229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400" b="0" i="0">
                <a:solidFill>
                  <a:srgbClr val="8895A5"/>
                </a:solidFill>
                <a:latin typeface="Meiryo"/>
                <a:ea typeface="Meiryo"/>
                <a:cs typeface="Meiryo"/>
              </a:rPr>
              <a:t>18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68680" y="502920"/>
            <a:ext cx="10454609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2000" b="1" i="0" spc="220">
                <a:solidFill>
                  <a:srgbClr val="1160C4"/>
                </a:solidFill>
                <a:latin typeface="Meiryo"/>
                <a:ea typeface="Meiryo"/>
                <a:cs typeface="Meiryo"/>
              </a:rPr>
              <a:t>GLOCAL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68680" y="960120"/>
            <a:ext cx="10454609" cy="6339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3800" b="1" i="0">
                <a:solidFill>
                  <a:srgbClr val="12253F"/>
                </a:solidFill>
                <a:latin typeface="Meiryo"/>
                <a:ea typeface="Meiryo"/>
                <a:cs typeface="Meiryo"/>
              </a:rPr>
              <a:t>学べるのは、海外のことだけじゃない</a:t>
            </a:r>
          </a:p>
        </p:txBody>
      </p:sp>
      <p:sp>
        <p:nvSpPr>
          <p:cNvPr id="5" name="Rectangle 4"/>
          <p:cNvSpPr/>
          <p:nvPr/>
        </p:nvSpPr>
        <p:spPr>
          <a:xfrm>
            <a:off x="868680" y="1722120"/>
            <a:ext cx="1417320" cy="68580"/>
          </a:xfrm>
          <a:prstGeom prst="rect">
            <a:avLst/>
          </a:prstGeom>
          <a:solidFill>
            <a:srgbClr val="1160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65689" y="1874519"/>
            <a:ext cx="3657600" cy="3931920"/>
          </a:xfrm>
          <a:prstGeom prst="rect">
            <a:avLst/>
          </a:prstGeom>
          <a:solidFill>
            <a:srgbClr val="E7F0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665689" y="1874519"/>
            <a:ext cx="100584" cy="3931920"/>
          </a:xfrm>
          <a:prstGeom prst="rect">
            <a:avLst/>
          </a:prstGeom>
          <a:solidFill>
            <a:srgbClr val="1160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976585" y="4846320"/>
            <a:ext cx="3035808" cy="777240"/>
          </a:xfrm>
          <a:prstGeom prst="rect">
            <a:avLst/>
          </a:prstGeom>
          <a:noFill/>
        </p:spPr>
        <p:txBody>
          <a:bodyPr wrap="square" lIns="0" rIns="0" tIns="0" bIns="0" anchor="b">
            <a:spAutoFit/>
          </a:bodyPr>
          <a:lstStyle/>
          <a:p>
            <a:pPr algn="l">
              <a:lnSpc>
                <a:spcPct val="130000"/>
              </a:lnSpc>
            </a:pPr>
            <a:r>
              <a:rPr sz="2200" b="1" i="0">
                <a:solidFill>
                  <a:srgbClr val="12253F"/>
                </a:solidFill>
                <a:latin typeface="Meiryo"/>
                <a:ea typeface="Meiryo"/>
                <a:cs typeface="Meiryo"/>
              </a:rPr>
              <a:t>Japan Fiesta ／ ニュージーランド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976585" y="2130552"/>
            <a:ext cx="3035808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1" i="0">
                <a:solidFill>
                  <a:srgbClr val="41505F"/>
                </a:solidFill>
                <a:latin typeface="Meiryo"/>
                <a:ea typeface="Meiryo"/>
                <a:cs typeface="Meiryo"/>
              </a:rPr>
              <a:t>［写真を差し込む位置］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976585" y="2514600"/>
            <a:ext cx="3035808" cy="8473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600" b="0" i="0">
                <a:solidFill>
                  <a:srgbClr val="41505F"/>
                </a:solidFill>
                <a:latin typeface="Meiryo"/>
                <a:ea typeface="Meiryo"/>
                <a:cs typeface="Meiryo"/>
              </a:rPr>
              <a:t>Japan Fiesta（デニム折り紙・ばら）の写真をここに配置</a:t>
            </a:r>
          </a:p>
        </p:txBody>
      </p:sp>
      <p:sp>
        <p:nvSpPr>
          <p:cNvPr id="11" name="Oval 10"/>
          <p:cNvSpPr/>
          <p:nvPr/>
        </p:nvSpPr>
        <p:spPr>
          <a:xfrm>
            <a:off x="886968" y="2245614"/>
            <a:ext cx="155448" cy="155448"/>
          </a:xfrm>
          <a:prstGeom prst="ellipse">
            <a:avLst/>
          </a:prstGeom>
          <a:solidFill>
            <a:srgbClr val="1160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252728" y="2101596"/>
            <a:ext cx="6092921" cy="100583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700" b="0" i="0">
                <a:solidFill>
                  <a:srgbClr val="12253F"/>
                </a:solidFill>
                <a:latin typeface="Meiryo"/>
                <a:ea typeface="Meiryo"/>
                <a:cs typeface="Meiryo"/>
              </a:rPr>
              <a:t>事前に備後デニムとばらのまちを学ぶ</a:t>
            </a:r>
          </a:p>
        </p:txBody>
      </p:sp>
      <p:sp>
        <p:nvSpPr>
          <p:cNvPr id="13" name="Oval 12"/>
          <p:cNvSpPr/>
          <p:nvPr/>
        </p:nvSpPr>
        <p:spPr>
          <a:xfrm>
            <a:off x="886968" y="3480054"/>
            <a:ext cx="155448" cy="155448"/>
          </a:xfrm>
          <a:prstGeom prst="ellipse">
            <a:avLst/>
          </a:prstGeom>
          <a:solidFill>
            <a:srgbClr val="1160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252728" y="3336036"/>
            <a:ext cx="6092921" cy="5257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700" b="0" i="0">
                <a:solidFill>
                  <a:srgbClr val="12253F"/>
                </a:solidFill>
                <a:latin typeface="Meiryo"/>
                <a:ea typeface="Meiryo"/>
                <a:cs typeface="Meiryo"/>
              </a:rPr>
              <a:t>現地でデニム折り紙をつくって交流</a:t>
            </a:r>
          </a:p>
        </p:txBody>
      </p:sp>
      <p:sp>
        <p:nvSpPr>
          <p:cNvPr id="15" name="Oval 14"/>
          <p:cNvSpPr/>
          <p:nvPr/>
        </p:nvSpPr>
        <p:spPr>
          <a:xfrm>
            <a:off x="886968" y="4234434"/>
            <a:ext cx="155448" cy="155448"/>
          </a:xfrm>
          <a:prstGeom prst="ellipse">
            <a:avLst/>
          </a:prstGeom>
          <a:solidFill>
            <a:srgbClr val="1160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252728" y="4090416"/>
            <a:ext cx="6092921" cy="5257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700" b="0" i="0">
                <a:solidFill>
                  <a:srgbClr val="12253F"/>
                </a:solidFill>
                <a:latin typeface="Meiryo"/>
                <a:ea typeface="Meiryo"/>
                <a:cs typeface="Meiryo"/>
              </a:rPr>
              <a:t>「ばらのまち福山」を英語で発表</a:t>
            </a:r>
          </a:p>
        </p:txBody>
      </p:sp>
      <p:sp>
        <p:nvSpPr>
          <p:cNvPr id="17" name="Oval 16"/>
          <p:cNvSpPr/>
          <p:nvPr/>
        </p:nvSpPr>
        <p:spPr>
          <a:xfrm>
            <a:off x="886968" y="4988814"/>
            <a:ext cx="155448" cy="155448"/>
          </a:xfrm>
          <a:prstGeom prst="ellipse">
            <a:avLst/>
          </a:prstGeom>
          <a:solidFill>
            <a:srgbClr val="1160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252728" y="4844796"/>
            <a:ext cx="6092921" cy="100583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700" b="0" i="0">
                <a:solidFill>
                  <a:srgbClr val="12253F"/>
                </a:solidFill>
                <a:latin typeface="Meiryo"/>
                <a:ea typeface="Meiryo"/>
                <a:cs typeface="Meiryo"/>
              </a:rPr>
              <a:t>地元の話が、世界で話せる引き出しに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500329" y="6455664"/>
            <a:ext cx="8229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400" b="0" i="0">
                <a:solidFill>
                  <a:srgbClr val="8895A5"/>
                </a:solidFill>
                <a:latin typeface="Meiryo"/>
                <a:ea typeface="Meiryo"/>
                <a:cs typeface="Meiryo"/>
              </a:rPr>
              <a:t>19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0B5F5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58952" y="658368"/>
            <a:ext cx="2926080" cy="23774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0" b="1" i="0">
                <a:solidFill>
                  <a:srgbClr val="3A6699"/>
                </a:solidFill>
                <a:latin typeface="Meiryo"/>
                <a:ea typeface="Meiryo"/>
                <a:cs typeface="Meiryo"/>
              </a:rPr>
              <a:t>3</a:t>
            </a:r>
          </a:p>
        </p:txBody>
      </p:sp>
      <p:sp>
        <p:nvSpPr>
          <p:cNvPr id="4" name="Rectangle 3"/>
          <p:cNvSpPr/>
          <p:nvPr/>
        </p:nvSpPr>
        <p:spPr>
          <a:xfrm>
            <a:off x="868680" y="3073399"/>
            <a:ext cx="1737360" cy="82296"/>
          </a:xfrm>
          <a:prstGeom prst="rect">
            <a:avLst/>
          </a:prstGeom>
          <a:solidFill>
            <a:srgbClr val="F2B0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68680" y="3475735"/>
            <a:ext cx="10424160" cy="8859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5000" b="1" i="0">
                <a:solidFill>
                  <a:srgbClr val="FFFFFF"/>
                </a:solidFill>
                <a:latin typeface="Meiryo"/>
                <a:ea typeface="Meiryo"/>
                <a:cs typeface="Meiryo"/>
              </a:rPr>
              <a:t>卒業後の進路と、入試</a:t>
            </a:r>
          </a:p>
        </p:txBody>
      </p:sp>
      <p:sp>
        <p:nvSpPr>
          <p:cNvPr id="6" name="Rectangle 5"/>
          <p:cNvSpPr/>
          <p:nvPr/>
        </p:nvSpPr>
        <p:spPr>
          <a:xfrm>
            <a:off x="896112" y="4946904"/>
            <a:ext cx="155448" cy="155448"/>
          </a:xfrm>
          <a:prstGeom prst="rect">
            <a:avLst/>
          </a:prstGeom>
          <a:solidFill>
            <a:srgbClr val="F2B0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325880" y="4800600"/>
            <a:ext cx="950976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2600" b="0" i="0">
                <a:solidFill>
                  <a:srgbClr val="CFE0F2"/>
                </a:solidFill>
                <a:latin typeface="Meiryo"/>
                <a:ea typeface="Meiryo"/>
                <a:cs typeface="Meiryo"/>
              </a:rPr>
              <a:t>出口の話をします</a:t>
            </a:r>
          </a:p>
        </p:txBody>
      </p:sp>
      <p:sp>
        <p:nvSpPr>
          <p:cNvPr id="8" name="Rectangle 7"/>
          <p:cNvSpPr/>
          <p:nvPr/>
        </p:nvSpPr>
        <p:spPr>
          <a:xfrm>
            <a:off x="896112" y="5495544"/>
            <a:ext cx="155448" cy="155448"/>
          </a:xfrm>
          <a:prstGeom prst="rect">
            <a:avLst/>
          </a:prstGeom>
          <a:solidFill>
            <a:srgbClr val="F2B0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325880" y="5349240"/>
            <a:ext cx="950976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2600" b="0" i="0">
                <a:solidFill>
                  <a:srgbClr val="CFE0F2"/>
                </a:solidFill>
                <a:latin typeface="Meiryo"/>
                <a:ea typeface="Meiryo"/>
                <a:cs typeface="Meiryo"/>
              </a:rPr>
              <a:t>授業料 半額免除の入試まで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00329" y="6455664"/>
            <a:ext cx="8229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400" b="0" i="0">
                <a:solidFill>
                  <a:srgbClr val="8895A5"/>
                </a:solidFill>
                <a:latin typeface="Meiryo"/>
                <a:ea typeface="Meiryo"/>
                <a:cs typeface="Meiryo"/>
              </a:rPr>
              <a:t>20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68680" y="502920"/>
            <a:ext cx="10454609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2000" b="1" i="0" spc="220">
                <a:solidFill>
                  <a:srgbClr val="1160C4"/>
                </a:solidFill>
                <a:latin typeface="Meiryo"/>
                <a:ea typeface="Meiryo"/>
                <a:cs typeface="Meiryo"/>
              </a:rPr>
              <a:t>STUDENT SATISFACTION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68680" y="960120"/>
            <a:ext cx="10454609" cy="7254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4400" b="1" i="0">
                <a:solidFill>
                  <a:srgbClr val="12253F"/>
                </a:solidFill>
                <a:latin typeface="Meiryo"/>
                <a:ea typeface="Meiryo"/>
                <a:cs typeface="Meiryo"/>
              </a:rPr>
              <a:t>卒業生アンケートの結果</a:t>
            </a:r>
          </a:p>
        </p:txBody>
      </p:sp>
      <p:sp>
        <p:nvSpPr>
          <p:cNvPr id="5" name="Rectangle 4"/>
          <p:cNvSpPr/>
          <p:nvPr/>
        </p:nvSpPr>
        <p:spPr>
          <a:xfrm>
            <a:off x="868680" y="1813560"/>
            <a:ext cx="1417320" cy="68580"/>
          </a:xfrm>
          <a:prstGeom prst="rect">
            <a:avLst/>
          </a:prstGeom>
          <a:solidFill>
            <a:srgbClr val="1160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" y="2193036"/>
            <a:ext cx="10454609" cy="4937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2600" b="1" i="0">
                <a:solidFill>
                  <a:srgbClr val="0B4C9E"/>
                </a:solidFill>
                <a:latin typeface="Meiryo"/>
                <a:ea typeface="Meiryo"/>
                <a:cs typeface="Meiryo"/>
              </a:rPr>
              <a:t>「学生生活に100%満足」と答えた卒業生の割合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8680" y="2893949"/>
            <a:ext cx="3154680" cy="55016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2600" b="1" i="0">
                <a:solidFill>
                  <a:srgbClr val="12253F"/>
                </a:solidFill>
                <a:latin typeface="Meiryo"/>
                <a:ea typeface="Meiryo"/>
                <a:cs typeface="Meiryo"/>
              </a:rPr>
              <a:t>国際経済学科</a:t>
            </a:r>
          </a:p>
        </p:txBody>
      </p:sp>
      <p:sp>
        <p:nvSpPr>
          <p:cNvPr id="8" name="Rectangle 7"/>
          <p:cNvSpPr/>
          <p:nvPr/>
        </p:nvSpPr>
        <p:spPr>
          <a:xfrm>
            <a:off x="4279392" y="2869692"/>
            <a:ext cx="5169377" cy="494283"/>
          </a:xfrm>
          <a:prstGeom prst="rect">
            <a:avLst/>
          </a:prstGeom>
          <a:solidFill>
            <a:srgbClr val="B34A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613361" y="2819654"/>
            <a:ext cx="1874519" cy="71780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3600" b="1" i="0">
                <a:solidFill>
                  <a:srgbClr val="B34A33"/>
                </a:solidFill>
                <a:latin typeface="Meiryo"/>
                <a:ea typeface="Meiryo"/>
                <a:cs typeface="Meiryo"/>
              </a:rPr>
              <a:t>45.5%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" y="3699129"/>
            <a:ext cx="3154680" cy="55016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2600" b="0" i="0">
                <a:solidFill>
                  <a:srgbClr val="41505F"/>
                </a:solidFill>
                <a:latin typeface="Meiryo"/>
                <a:ea typeface="Meiryo"/>
                <a:cs typeface="Meiryo"/>
              </a:rPr>
              <a:t>経済学科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279392" y="3674872"/>
            <a:ext cx="2454034" cy="494283"/>
          </a:xfrm>
          <a:prstGeom prst="rect">
            <a:avLst/>
          </a:prstGeom>
          <a:solidFill>
            <a:srgbClr val="C9D4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898018" y="3690874"/>
            <a:ext cx="1874519" cy="5704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2800" b="1" i="0">
                <a:solidFill>
                  <a:srgbClr val="41505F"/>
                </a:solidFill>
                <a:latin typeface="Meiryo"/>
                <a:ea typeface="Meiryo"/>
                <a:cs typeface="Meiryo"/>
              </a:rPr>
              <a:t>21.6%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8680" y="4504309"/>
            <a:ext cx="3154680" cy="55016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2600" b="0" i="0">
                <a:solidFill>
                  <a:srgbClr val="41505F"/>
                </a:solidFill>
                <a:latin typeface="Meiryo"/>
                <a:ea typeface="Meiryo"/>
                <a:cs typeface="Meiryo"/>
              </a:rPr>
              <a:t>全学平均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279392" y="4480052"/>
            <a:ext cx="2306337" cy="494283"/>
          </a:xfrm>
          <a:prstGeom prst="rect">
            <a:avLst/>
          </a:prstGeom>
          <a:solidFill>
            <a:srgbClr val="C9D4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750321" y="4496054"/>
            <a:ext cx="1874519" cy="5704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2800" b="1" i="0">
                <a:solidFill>
                  <a:srgbClr val="41505F"/>
                </a:solidFill>
                <a:latin typeface="Meiryo"/>
                <a:ea typeface="Meiryo"/>
                <a:cs typeface="Meiryo"/>
              </a:rPr>
              <a:t>20.3%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68680" y="5303520"/>
            <a:ext cx="10454609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800" b="0" i="0">
                <a:solidFill>
                  <a:srgbClr val="41505F"/>
                </a:solidFill>
                <a:latin typeface="Meiryo"/>
                <a:ea typeface="Meiryo"/>
                <a:cs typeface="Meiryo"/>
              </a:rPr>
              <a:t>出所：2025年度（令和7年度）「福山大学での学修を振り返るアンケート」実施報告書。全15学科中トップ。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500329" y="6455664"/>
            <a:ext cx="8229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400" b="0" i="0">
                <a:solidFill>
                  <a:srgbClr val="8895A5"/>
                </a:solidFill>
                <a:latin typeface="Meiryo"/>
                <a:ea typeface="Meiryo"/>
                <a:cs typeface="Meiryo"/>
              </a:rPr>
              <a:t>21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68680" y="502920"/>
            <a:ext cx="10454609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2000" b="1" i="0" spc="220">
                <a:solidFill>
                  <a:srgbClr val="1160C4"/>
                </a:solidFill>
                <a:latin typeface="Meiryo"/>
                <a:ea typeface="Meiryo"/>
                <a:cs typeface="Meiryo"/>
              </a:rPr>
              <a:t>CAREER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68680" y="960120"/>
            <a:ext cx="10454609" cy="7254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4400" b="1" i="0">
                <a:solidFill>
                  <a:srgbClr val="12253F"/>
                </a:solidFill>
                <a:latin typeface="Meiryo"/>
                <a:ea typeface="Meiryo"/>
                <a:cs typeface="Meiryo"/>
              </a:rPr>
              <a:t>こんな道に進めます</a:t>
            </a:r>
          </a:p>
        </p:txBody>
      </p:sp>
      <p:sp>
        <p:nvSpPr>
          <p:cNvPr id="5" name="Rectangle 4"/>
          <p:cNvSpPr/>
          <p:nvPr/>
        </p:nvSpPr>
        <p:spPr>
          <a:xfrm>
            <a:off x="868680" y="1813560"/>
            <a:ext cx="1417320" cy="68580"/>
          </a:xfrm>
          <a:prstGeom prst="rect">
            <a:avLst/>
          </a:prstGeom>
          <a:solidFill>
            <a:srgbClr val="1160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" y="2193036"/>
            <a:ext cx="10454609" cy="10744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3000" b="1" i="0">
                <a:solidFill>
                  <a:srgbClr val="1160C4"/>
                </a:solidFill>
                <a:latin typeface="Meiryo"/>
                <a:ea typeface="Meiryo"/>
                <a:cs typeface="Meiryo"/>
              </a:rPr>
              <a:t>経済学科・税務会計学科と共通の就職先に、語学の選択肢が加わります。</a:t>
            </a:r>
          </a:p>
        </p:txBody>
      </p:sp>
      <p:sp>
        <p:nvSpPr>
          <p:cNvPr id="7" name="Oval 6"/>
          <p:cNvSpPr/>
          <p:nvPr/>
        </p:nvSpPr>
        <p:spPr>
          <a:xfrm>
            <a:off x="886968" y="3755136"/>
            <a:ext cx="155448" cy="155448"/>
          </a:xfrm>
          <a:prstGeom prst="ellipse">
            <a:avLst/>
          </a:prstGeom>
          <a:solidFill>
            <a:srgbClr val="1160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252728" y="3605784"/>
            <a:ext cx="10070561" cy="543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800" b="0" i="0">
                <a:solidFill>
                  <a:srgbClr val="12253F"/>
                </a:solidFill>
                <a:latin typeface="Meiryo"/>
                <a:ea typeface="Meiryo"/>
                <a:cs typeface="Meiryo"/>
              </a:rPr>
              <a:t>民間企業の国際部門</a:t>
            </a:r>
          </a:p>
        </p:txBody>
      </p:sp>
      <p:sp>
        <p:nvSpPr>
          <p:cNvPr id="9" name="Oval 8"/>
          <p:cNvSpPr/>
          <p:nvPr/>
        </p:nvSpPr>
        <p:spPr>
          <a:xfrm>
            <a:off x="886968" y="4527295"/>
            <a:ext cx="155448" cy="155448"/>
          </a:xfrm>
          <a:prstGeom prst="ellipse">
            <a:avLst/>
          </a:prstGeom>
          <a:solidFill>
            <a:srgbClr val="1160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252728" y="4377944"/>
            <a:ext cx="10070561" cy="543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800" b="0" i="0">
                <a:solidFill>
                  <a:srgbClr val="12253F"/>
                </a:solidFill>
                <a:latin typeface="Meiryo"/>
                <a:ea typeface="Meiryo"/>
                <a:cs typeface="Meiryo"/>
              </a:rPr>
              <a:t>運輸業界・旅行業界・ホテル業界</a:t>
            </a:r>
          </a:p>
        </p:txBody>
      </p:sp>
      <p:sp>
        <p:nvSpPr>
          <p:cNvPr id="11" name="Oval 10"/>
          <p:cNvSpPr/>
          <p:nvPr/>
        </p:nvSpPr>
        <p:spPr>
          <a:xfrm>
            <a:off x="886968" y="5299455"/>
            <a:ext cx="155448" cy="155448"/>
          </a:xfrm>
          <a:prstGeom prst="ellipse">
            <a:avLst/>
          </a:prstGeom>
          <a:solidFill>
            <a:srgbClr val="1160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252728" y="5150103"/>
            <a:ext cx="10070561" cy="543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800" b="0" i="0">
                <a:solidFill>
                  <a:srgbClr val="12253F"/>
                </a:solidFill>
                <a:latin typeface="Meiryo"/>
                <a:ea typeface="Meiryo"/>
                <a:cs typeface="Meiryo"/>
              </a:rPr>
              <a:t>地元企業で、英語を使う仕事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500329" y="6455664"/>
            <a:ext cx="8229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400" b="0" i="0">
                <a:solidFill>
                  <a:srgbClr val="8895A5"/>
                </a:solidFill>
                <a:latin typeface="Meiryo"/>
                <a:ea typeface="Meiryo"/>
                <a:cs typeface="Meiryo"/>
              </a:rPr>
              <a:t>22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68680" y="502920"/>
            <a:ext cx="10454609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2000" b="1" i="0" spc="220">
                <a:solidFill>
                  <a:srgbClr val="1160C4"/>
                </a:solidFill>
                <a:latin typeface="Meiryo"/>
                <a:ea typeface="Meiryo"/>
                <a:cs typeface="Meiryo"/>
              </a:rPr>
              <a:t>QUALIFICATIONS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68680" y="960120"/>
            <a:ext cx="10454609" cy="7254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4400" b="1" i="0">
                <a:solidFill>
                  <a:srgbClr val="12253F"/>
                </a:solidFill>
                <a:latin typeface="Meiryo"/>
                <a:ea typeface="Meiryo"/>
                <a:cs typeface="Meiryo"/>
              </a:rPr>
              <a:t>目指す資格と、大学の支援</a:t>
            </a:r>
          </a:p>
        </p:txBody>
      </p:sp>
      <p:sp>
        <p:nvSpPr>
          <p:cNvPr id="5" name="Rectangle 4"/>
          <p:cNvSpPr/>
          <p:nvPr/>
        </p:nvSpPr>
        <p:spPr>
          <a:xfrm>
            <a:off x="868680" y="1813560"/>
            <a:ext cx="1417320" cy="68580"/>
          </a:xfrm>
          <a:prstGeom prst="rect">
            <a:avLst/>
          </a:prstGeom>
          <a:solidFill>
            <a:srgbClr val="1160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86968" y="2331720"/>
            <a:ext cx="155448" cy="155448"/>
          </a:xfrm>
          <a:prstGeom prst="ellipse">
            <a:avLst/>
          </a:prstGeom>
          <a:solidFill>
            <a:srgbClr val="1160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252728" y="2193036"/>
            <a:ext cx="5605272" cy="970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600" b="0" i="0">
                <a:solidFill>
                  <a:srgbClr val="12253F"/>
                </a:solidFill>
                <a:latin typeface="Meiryo"/>
                <a:ea typeface="Meiryo"/>
                <a:cs typeface="Meiryo"/>
              </a:rPr>
              <a:t>英検 準2級 ＝ 学科独自入試の出願要件</a:t>
            </a:r>
          </a:p>
        </p:txBody>
      </p:sp>
      <p:sp>
        <p:nvSpPr>
          <p:cNvPr id="8" name="Oval 7"/>
          <p:cNvSpPr/>
          <p:nvPr/>
        </p:nvSpPr>
        <p:spPr>
          <a:xfrm>
            <a:off x="886968" y="3567176"/>
            <a:ext cx="155448" cy="155448"/>
          </a:xfrm>
          <a:prstGeom prst="ellipse">
            <a:avLst/>
          </a:prstGeom>
          <a:solidFill>
            <a:srgbClr val="1160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252728" y="3428492"/>
            <a:ext cx="5605272" cy="970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600" b="0" i="0">
                <a:solidFill>
                  <a:srgbClr val="12253F"/>
                </a:solidFill>
                <a:latin typeface="Meiryo"/>
                <a:ea typeface="Meiryo"/>
                <a:cs typeface="Meiryo"/>
              </a:rPr>
              <a:t>中国語 HSK 3級 ＝ 同じく出願要件</a:t>
            </a:r>
          </a:p>
        </p:txBody>
      </p:sp>
      <p:sp>
        <p:nvSpPr>
          <p:cNvPr id="10" name="Oval 9"/>
          <p:cNvSpPr/>
          <p:nvPr/>
        </p:nvSpPr>
        <p:spPr>
          <a:xfrm>
            <a:off x="886968" y="4802631"/>
            <a:ext cx="155448" cy="155448"/>
          </a:xfrm>
          <a:prstGeom prst="ellipse">
            <a:avLst/>
          </a:prstGeom>
          <a:solidFill>
            <a:srgbClr val="1160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252728" y="4663948"/>
            <a:ext cx="5605272" cy="508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600" b="0" i="0">
                <a:solidFill>
                  <a:srgbClr val="12253F"/>
                </a:solidFill>
                <a:latin typeface="Meiryo"/>
                <a:ea typeface="Meiryo"/>
                <a:cs typeface="Meiryo"/>
              </a:rPr>
              <a:t>在学中の目標は TOEIC 700点台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269480" y="2193036"/>
            <a:ext cx="4053809" cy="3613404"/>
          </a:xfrm>
          <a:prstGeom prst="rect">
            <a:avLst/>
          </a:prstGeom>
          <a:solidFill>
            <a:srgbClr val="F5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7269480" y="2193036"/>
            <a:ext cx="4053809" cy="82296"/>
          </a:xfrm>
          <a:prstGeom prst="rect">
            <a:avLst/>
          </a:prstGeom>
          <a:solidFill>
            <a:srgbClr val="F2B0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562088" y="2558796"/>
            <a:ext cx="3468593" cy="4937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2400" b="1" i="0">
                <a:solidFill>
                  <a:srgbClr val="12253F"/>
                </a:solidFill>
                <a:latin typeface="Meiryo"/>
                <a:ea typeface="Meiryo"/>
                <a:cs typeface="Meiryo"/>
              </a:rPr>
              <a:t>1年次の検定料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562088" y="3253740"/>
            <a:ext cx="3468593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2000" b="0" i="0">
                <a:solidFill>
                  <a:srgbClr val="41505F"/>
                </a:solidFill>
                <a:latin typeface="Meiryo"/>
                <a:ea typeface="Meiryo"/>
                <a:cs typeface="Meiryo"/>
              </a:rPr>
              <a:t>補助額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562088" y="3619500"/>
            <a:ext cx="3468593" cy="5120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3000" b="1" i="0">
                <a:solidFill>
                  <a:srgbClr val="B34A33"/>
                </a:solidFill>
                <a:latin typeface="Meiryo"/>
                <a:ea typeface="Meiryo"/>
                <a:cs typeface="Meiryo"/>
              </a:rPr>
              <a:t>3万円まで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562088" y="4314444"/>
            <a:ext cx="3468593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2000" b="0" i="0">
                <a:solidFill>
                  <a:srgbClr val="41505F"/>
                </a:solidFill>
                <a:latin typeface="Meiryo"/>
                <a:ea typeface="Meiryo"/>
                <a:cs typeface="Meiryo"/>
              </a:rPr>
              <a:t>対象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562088" y="4680204"/>
            <a:ext cx="3468593" cy="5120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3000" b="1" i="0">
                <a:solidFill>
                  <a:srgbClr val="B34A33"/>
                </a:solidFill>
                <a:latin typeface="Meiryo"/>
                <a:ea typeface="Meiryo"/>
                <a:cs typeface="Meiryo"/>
              </a:rPr>
              <a:t>学科の全員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500329" y="6455664"/>
            <a:ext cx="8229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400" b="0" i="0">
                <a:solidFill>
                  <a:srgbClr val="8895A5"/>
                </a:solidFill>
                <a:latin typeface="Meiryo"/>
                <a:ea typeface="Meiryo"/>
                <a:cs typeface="Meiryo"/>
              </a:rPr>
              <a:t>23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68680" y="502920"/>
            <a:ext cx="10454609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2000" b="1" i="0" spc="220">
                <a:solidFill>
                  <a:srgbClr val="1160C4"/>
                </a:solidFill>
                <a:latin typeface="Meiryo"/>
                <a:ea typeface="Meiryo"/>
                <a:cs typeface="Meiryo"/>
              </a:rPr>
              <a:t>ADMISSION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68680" y="960120"/>
            <a:ext cx="10454609" cy="7254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4400" b="1" i="0">
                <a:solidFill>
                  <a:srgbClr val="12253F"/>
                </a:solidFill>
                <a:latin typeface="Meiryo"/>
                <a:ea typeface="Meiryo"/>
                <a:cs typeface="Meiryo"/>
              </a:rPr>
              <a:t>学科独自の入試で、授業料 半額免除</a:t>
            </a:r>
          </a:p>
        </p:txBody>
      </p:sp>
      <p:sp>
        <p:nvSpPr>
          <p:cNvPr id="5" name="Rectangle 4"/>
          <p:cNvSpPr/>
          <p:nvPr/>
        </p:nvSpPr>
        <p:spPr>
          <a:xfrm>
            <a:off x="868680" y="1813560"/>
            <a:ext cx="1417320" cy="68580"/>
          </a:xfrm>
          <a:prstGeom prst="rect">
            <a:avLst/>
          </a:prstGeom>
          <a:solidFill>
            <a:srgbClr val="1160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86968" y="2326386"/>
            <a:ext cx="155448" cy="155448"/>
          </a:xfrm>
          <a:prstGeom prst="ellipse">
            <a:avLst/>
          </a:prstGeom>
          <a:solidFill>
            <a:srgbClr val="1160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252728" y="2193036"/>
            <a:ext cx="10070561" cy="4902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500" b="0" i="0">
                <a:solidFill>
                  <a:srgbClr val="12253F"/>
                </a:solidFill>
                <a:latin typeface="Meiryo"/>
                <a:ea typeface="Meiryo"/>
                <a:cs typeface="Meiryo"/>
              </a:rPr>
              <a:t>グローバル人材強化指定校推薦入試</a:t>
            </a:r>
          </a:p>
        </p:txBody>
      </p:sp>
      <p:sp>
        <p:nvSpPr>
          <p:cNvPr id="8" name="Oval 7"/>
          <p:cNvSpPr/>
          <p:nvPr/>
        </p:nvSpPr>
        <p:spPr>
          <a:xfrm>
            <a:off x="886968" y="3045206"/>
            <a:ext cx="155448" cy="155448"/>
          </a:xfrm>
          <a:prstGeom prst="ellipse">
            <a:avLst/>
          </a:prstGeom>
          <a:solidFill>
            <a:srgbClr val="1160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252728" y="2911856"/>
            <a:ext cx="10070561" cy="4902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500" b="0" i="0">
                <a:solidFill>
                  <a:srgbClr val="12253F"/>
                </a:solidFill>
                <a:latin typeface="Meiryo"/>
                <a:ea typeface="Meiryo"/>
                <a:cs typeface="Meiryo"/>
              </a:rPr>
              <a:t>出願要件：英検 準2級 または HSK 3級 以上</a:t>
            </a:r>
          </a:p>
        </p:txBody>
      </p:sp>
      <p:sp>
        <p:nvSpPr>
          <p:cNvPr id="10" name="Oval 9"/>
          <p:cNvSpPr/>
          <p:nvPr/>
        </p:nvSpPr>
        <p:spPr>
          <a:xfrm>
            <a:off x="886968" y="3764025"/>
            <a:ext cx="155448" cy="155448"/>
          </a:xfrm>
          <a:prstGeom prst="ellipse">
            <a:avLst/>
          </a:prstGeom>
          <a:solidFill>
            <a:srgbClr val="1160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252728" y="3630676"/>
            <a:ext cx="10070561" cy="4902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500" b="0" i="0">
                <a:solidFill>
                  <a:srgbClr val="12253F"/>
                </a:solidFill>
                <a:latin typeface="Meiryo"/>
                <a:ea typeface="Meiryo"/>
                <a:cs typeface="Meiryo"/>
              </a:rPr>
              <a:t>優遇：入学後の授業料を 半額免除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68680" y="4242816"/>
            <a:ext cx="10454609" cy="786384"/>
          </a:xfrm>
          <a:prstGeom prst="rect">
            <a:avLst/>
          </a:prstGeom>
          <a:solidFill>
            <a:srgbClr val="FFF4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868680" y="4242816"/>
            <a:ext cx="100584" cy="786384"/>
          </a:xfrm>
          <a:prstGeom prst="rect">
            <a:avLst/>
          </a:prstGeom>
          <a:solidFill>
            <a:srgbClr val="F2B0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97864" y="4370831"/>
            <a:ext cx="9814529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2300" b="1" i="0">
                <a:solidFill>
                  <a:srgbClr val="5C4204"/>
                </a:solidFill>
                <a:latin typeface="Meiryo"/>
                <a:ea typeface="Meiryo"/>
                <a:cs typeface="Meiryo"/>
              </a:rPr>
              <a:t>英検準2級を持っている人は、語学の条件をもう満たしています。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68680" y="5303520"/>
            <a:ext cx="10454609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800" b="0" i="0">
                <a:solidFill>
                  <a:srgbClr val="41505F"/>
                </a:solidFill>
                <a:latin typeface="Meiryo"/>
                <a:ea typeface="Meiryo"/>
                <a:cs typeface="Meiryo"/>
              </a:rPr>
              <a:t>※入試制度・免除の内容は変更される場合があります。最新の入学者選抜要項を必ずご確認ください。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500329" y="6455664"/>
            <a:ext cx="8229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400" b="0" i="0">
                <a:solidFill>
                  <a:srgbClr val="8895A5"/>
                </a:solidFill>
                <a:latin typeface="Meiryo"/>
                <a:ea typeface="Meiryo"/>
                <a:cs typeface="Meiryo"/>
              </a:rPr>
              <a:t>24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68680" y="502920"/>
            <a:ext cx="10454609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2000" b="1" i="0" spc="220">
                <a:solidFill>
                  <a:srgbClr val="1160C4"/>
                </a:solidFill>
                <a:latin typeface="Meiryo"/>
                <a:ea typeface="Meiryo"/>
                <a:cs typeface="Meiryo"/>
              </a:rPr>
              <a:t>SUMMARY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68680" y="960120"/>
            <a:ext cx="10454609" cy="7254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4400" b="1" i="0">
                <a:solidFill>
                  <a:srgbClr val="12253F"/>
                </a:solidFill>
                <a:latin typeface="Meiryo"/>
                <a:ea typeface="Meiryo"/>
                <a:cs typeface="Meiryo"/>
              </a:rPr>
              <a:t>今日の3つ</a:t>
            </a:r>
          </a:p>
        </p:txBody>
      </p:sp>
      <p:sp>
        <p:nvSpPr>
          <p:cNvPr id="5" name="Rectangle 4"/>
          <p:cNvSpPr/>
          <p:nvPr/>
        </p:nvSpPr>
        <p:spPr>
          <a:xfrm>
            <a:off x="868680" y="1813560"/>
            <a:ext cx="1417320" cy="68580"/>
          </a:xfrm>
          <a:prstGeom prst="rect">
            <a:avLst/>
          </a:prstGeom>
          <a:solidFill>
            <a:srgbClr val="1160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68680" y="2193036"/>
            <a:ext cx="10454609" cy="841248"/>
          </a:xfrm>
          <a:prstGeom prst="rect">
            <a:avLst/>
          </a:prstGeom>
          <a:solidFill>
            <a:srgbClr val="F5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68680" y="2193036"/>
            <a:ext cx="100584" cy="841248"/>
          </a:xfrm>
          <a:prstGeom prst="rect">
            <a:avLst/>
          </a:prstGeom>
          <a:solidFill>
            <a:srgbClr val="1160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252728" y="2249170"/>
            <a:ext cx="822960" cy="7289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4100" b="1" i="0">
                <a:solidFill>
                  <a:srgbClr val="0B4C9E"/>
                </a:solidFill>
                <a:latin typeface="Meiryo"/>
                <a:ea typeface="Meiryo"/>
                <a:cs typeface="Meiryo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240280" y="2339340"/>
            <a:ext cx="8625809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4000"/>
              </a:lnSpc>
            </a:pPr>
            <a:r>
              <a:rPr sz="2800" b="1" i="0">
                <a:solidFill>
                  <a:srgbClr val="12253F"/>
                </a:solidFill>
                <a:latin typeface="Meiryo"/>
                <a:ea typeface="Meiryo"/>
                <a:cs typeface="Meiryo"/>
              </a:rPr>
              <a:t>経済学 × 外国語 × 海外体験。定員40名</a:t>
            </a:r>
          </a:p>
        </p:txBody>
      </p:sp>
      <p:sp>
        <p:nvSpPr>
          <p:cNvPr id="10" name="Rectangle 9"/>
          <p:cNvSpPr/>
          <p:nvPr/>
        </p:nvSpPr>
        <p:spPr>
          <a:xfrm>
            <a:off x="868680" y="3253740"/>
            <a:ext cx="10454609" cy="841248"/>
          </a:xfrm>
          <a:prstGeom prst="rect">
            <a:avLst/>
          </a:prstGeom>
          <a:solidFill>
            <a:srgbClr val="F5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868680" y="3253740"/>
            <a:ext cx="100584" cy="841248"/>
          </a:xfrm>
          <a:prstGeom prst="rect">
            <a:avLst/>
          </a:prstGeom>
          <a:solidFill>
            <a:srgbClr val="0A61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252728" y="3309874"/>
            <a:ext cx="822960" cy="7289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4100" b="1" i="0">
                <a:solidFill>
                  <a:srgbClr val="0A6156"/>
                </a:solidFill>
                <a:latin typeface="Meiryo"/>
                <a:ea typeface="Meiryo"/>
                <a:cs typeface="Meiryo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240280" y="3400044"/>
            <a:ext cx="8625809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4000"/>
              </a:lnSpc>
            </a:pPr>
            <a:r>
              <a:rPr sz="2800" b="1" i="0">
                <a:solidFill>
                  <a:srgbClr val="12253F"/>
                </a:solidFill>
                <a:latin typeface="Meiryo"/>
                <a:ea typeface="Meiryo"/>
                <a:cs typeface="Meiryo"/>
              </a:rPr>
              <a:t>Big Jump は4年間の階段。最大95万円の支援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68680" y="4314444"/>
            <a:ext cx="10454609" cy="841248"/>
          </a:xfrm>
          <a:prstGeom prst="rect">
            <a:avLst/>
          </a:prstGeom>
          <a:solidFill>
            <a:srgbClr val="F5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868680" y="4314444"/>
            <a:ext cx="100584" cy="841248"/>
          </a:xfrm>
          <a:prstGeom prst="rect">
            <a:avLst/>
          </a:prstGeom>
          <a:solidFill>
            <a:srgbClr val="F2B0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252728" y="4370578"/>
            <a:ext cx="822960" cy="7289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4100" b="1" i="0">
                <a:solidFill>
                  <a:srgbClr val="5C4204"/>
                </a:solidFill>
                <a:latin typeface="Meiryo"/>
                <a:ea typeface="Meiryo"/>
                <a:cs typeface="Meiryo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240280" y="4460748"/>
            <a:ext cx="8625809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4000"/>
              </a:lnSpc>
            </a:pPr>
            <a:r>
              <a:rPr sz="2700" b="1" i="0">
                <a:solidFill>
                  <a:srgbClr val="12253F"/>
                </a:solidFill>
                <a:latin typeface="Meiryo"/>
                <a:ea typeface="Meiryo"/>
                <a:cs typeface="Meiryo"/>
              </a:rPr>
              <a:t>英検準2級は、学科独自入試の出願要件のひとつ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68680" y="5065776"/>
            <a:ext cx="10454609" cy="786384"/>
          </a:xfrm>
          <a:prstGeom prst="rect">
            <a:avLst/>
          </a:prstGeom>
          <a:solidFill>
            <a:srgbClr val="FFF4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868680" y="5065776"/>
            <a:ext cx="100584" cy="786384"/>
          </a:xfrm>
          <a:prstGeom prst="rect">
            <a:avLst/>
          </a:prstGeom>
          <a:solidFill>
            <a:srgbClr val="F2B0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197864" y="5193792"/>
            <a:ext cx="9814529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2300" b="1" i="0">
                <a:solidFill>
                  <a:srgbClr val="5C4204"/>
                </a:solidFill>
                <a:latin typeface="Meiryo"/>
                <a:ea typeface="Meiryo"/>
                <a:cs typeface="Meiryo"/>
              </a:rPr>
              <a:t>まずは、検定から。今日帰ってから、できることが1つあります。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500329" y="6455664"/>
            <a:ext cx="8229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400" b="0" i="0">
                <a:solidFill>
                  <a:srgbClr val="8895A5"/>
                </a:solidFill>
                <a:latin typeface="Meiryo"/>
                <a:ea typeface="Meiryo"/>
                <a:cs typeface="Meiryo"/>
              </a:rPr>
              <a:t>25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0E2A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969" cy="146304"/>
          </a:xfrm>
          <a:prstGeom prst="rect">
            <a:avLst/>
          </a:prstGeom>
          <a:solidFill>
            <a:srgbClr val="F2B0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51560" y="1600200"/>
            <a:ext cx="10058400" cy="1412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0000"/>
              </a:lnSpc>
            </a:pPr>
            <a:r>
              <a:rPr sz="4000" b="1" i="0">
                <a:solidFill>
                  <a:srgbClr val="FFFFFF"/>
                </a:solidFill>
                <a:latin typeface="Meiryo"/>
                <a:ea typeface="Meiryo"/>
                <a:cs typeface="Meiryo"/>
              </a:rPr>
              <a:t>まずは一度、</a:t>
            </a:r>
          </a:p>
          <a:p>
            <a:pPr algn="ctr">
              <a:lnSpc>
                <a:spcPct val="130000"/>
              </a:lnSpc>
            </a:pPr>
            <a:r>
              <a:rPr sz="4000" b="1" i="0">
                <a:solidFill>
                  <a:srgbClr val="FFFFFF"/>
                </a:solidFill>
                <a:latin typeface="Meiryo"/>
                <a:ea typeface="Meiryo"/>
                <a:cs typeface="Meiryo"/>
              </a:rPr>
              <a:t>キャンパスに来てください。</a:t>
            </a:r>
          </a:p>
        </p:txBody>
      </p:sp>
      <p:sp>
        <p:nvSpPr>
          <p:cNvPr id="5" name="Rectangle 4"/>
          <p:cNvSpPr/>
          <p:nvPr/>
        </p:nvSpPr>
        <p:spPr>
          <a:xfrm>
            <a:off x="5227304" y="3378200"/>
            <a:ext cx="1737360" cy="82296"/>
          </a:xfrm>
          <a:prstGeom prst="rect">
            <a:avLst/>
          </a:prstGeom>
          <a:solidFill>
            <a:srgbClr val="F2B0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51560" y="3835400"/>
            <a:ext cx="10058400" cy="5120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2600" b="0" i="0">
                <a:solidFill>
                  <a:srgbClr val="CFE0F2"/>
                </a:solidFill>
                <a:latin typeface="Meiryo"/>
                <a:ea typeface="Meiryo"/>
                <a:cs typeface="Meiryo"/>
              </a:rPr>
              <a:t>研究室も、Bloomberg端末も見られます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" y="4438904"/>
            <a:ext cx="10058400" cy="5120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2600" b="0" i="0">
                <a:solidFill>
                  <a:srgbClr val="CFE0F2"/>
                </a:solidFill>
                <a:latin typeface="Meiryo"/>
                <a:ea typeface="Meiryo"/>
                <a:cs typeface="Meiryo"/>
              </a:rPr>
              <a:t>個別相談ブースで、いつでも質問を受けます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" y="5042408"/>
            <a:ext cx="10058400" cy="5120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2600" b="0" i="0">
                <a:solidFill>
                  <a:srgbClr val="CFE0F2"/>
                </a:solidFill>
                <a:latin typeface="Meiryo"/>
                <a:ea typeface="Meiryo"/>
                <a:cs typeface="Meiryo"/>
              </a:rPr>
              <a:t>あげ太くんにも会えます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" y="5760720"/>
            <a:ext cx="10058400" cy="5120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2400" b="1" i="0">
                <a:solidFill>
                  <a:srgbClr val="F2B01E"/>
                </a:solidFill>
                <a:latin typeface="Meiryo"/>
                <a:ea typeface="Meiryo"/>
                <a:cs typeface="Meiryo"/>
              </a:rPr>
              <a:t>福山大学 経済学部 国際経済学科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