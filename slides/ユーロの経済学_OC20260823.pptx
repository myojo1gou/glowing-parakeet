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4"/>
    <p:sldMasterId id="2147483688" r:id="rId5"/>
    <p:sldMasterId id="2147483700" r:id="rId6"/>
  </p:sldMasterIdLst>
  <p:notesMasterIdLst>
    <p:notesMasterId r:id="rId33"/>
  </p:notesMasterIdLst>
  <p:handoutMasterIdLst>
    <p:handoutMasterId r:id="rId34"/>
  </p:handoutMasterIdLst>
  <p:sldIdLst>
    <p:sldId id="258" r:id="rId7"/>
    <p:sldId id="676" r:id="rId8"/>
    <p:sldId id="915" r:id="rId9"/>
    <p:sldId id="916" r:id="rId10"/>
    <p:sldId id="892" r:id="rId11"/>
    <p:sldId id="917" r:id="rId12"/>
    <p:sldId id="918" r:id="rId13"/>
    <p:sldId id="292" r:id="rId14"/>
    <p:sldId id="919" r:id="rId15"/>
    <p:sldId id="909" r:id="rId16"/>
    <p:sldId id="1244" r:id="rId17"/>
    <p:sldId id="1236" r:id="rId18"/>
    <p:sldId id="1239" r:id="rId19"/>
    <p:sldId id="1245" r:id="rId20"/>
    <p:sldId id="1237" r:id="rId21"/>
    <p:sldId id="1238" r:id="rId22"/>
    <p:sldId id="1242" r:id="rId23"/>
    <p:sldId id="1240" r:id="rId24"/>
    <p:sldId id="1241" r:id="rId25"/>
    <p:sldId id="669" r:id="rId26"/>
    <p:sldId id="1243" r:id="rId27"/>
    <p:sldId id="1232" r:id="rId28"/>
    <p:sldId id="282" r:id="rId29"/>
    <p:sldId id="908" r:id="rId30"/>
    <p:sldId id="284" r:id="rId31"/>
    <p:sldId id="123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D1DBDD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16" autoAdjust="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8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6/11/relationships/changesInfo" Target="changesInfos/changesInfo1.xml"/><Relationship Id="rId21" Type="http://schemas.openxmlformats.org/officeDocument/2006/relationships/slide" Target="slides/slide15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鈴木　伸" userId="a9b9aecf-d779-4529-a3a8-ca7ec45d8b90" providerId="ADAL" clId="{9DDAE3B2-771F-49B3-873B-F6C4F3F340EA}"/>
    <pc:docChg chg="undo custSel modSld">
      <pc:chgData name="鈴木　伸" userId="a9b9aecf-d779-4529-a3a8-ca7ec45d8b90" providerId="ADAL" clId="{9DDAE3B2-771F-49B3-873B-F6C4F3F340EA}" dt="2026-08-23T04:47:22.311" v="182" actId="20577"/>
      <pc:docMkLst>
        <pc:docMk/>
      </pc:docMkLst>
      <pc:sldChg chg="modSp mod">
        <pc:chgData name="鈴木　伸" userId="a9b9aecf-d779-4529-a3a8-ca7ec45d8b90" providerId="ADAL" clId="{9DDAE3B2-771F-49B3-873B-F6C4F3F340EA}" dt="2026-08-23T04:47:22.311" v="182" actId="20577"/>
        <pc:sldMkLst>
          <pc:docMk/>
          <pc:sldMk cId="3745890272" sldId="258"/>
        </pc:sldMkLst>
        <pc:spChg chg="mod">
          <ac:chgData name="鈴木　伸" userId="a9b9aecf-d779-4529-a3a8-ca7ec45d8b90" providerId="ADAL" clId="{9DDAE3B2-771F-49B3-873B-F6C4F3F340EA}" dt="2026-08-23T04:47:22.311" v="182" actId="20577"/>
          <ac:spMkLst>
            <pc:docMk/>
            <pc:sldMk cId="3745890272" sldId="258"/>
            <ac:spMk id="2" creationId="{5039CD1B-3FF3-490C-B090-B726DEFA02C5}"/>
          </ac:spMkLst>
        </pc:spChg>
        <pc:spChg chg="mod">
          <ac:chgData name="鈴木　伸" userId="a9b9aecf-d779-4529-a3a8-ca7ec45d8b90" providerId="ADAL" clId="{9DDAE3B2-771F-49B3-873B-F6C4F3F340EA}" dt="2026-08-23T04:47:07.322" v="119" actId="20577"/>
          <ac:spMkLst>
            <pc:docMk/>
            <pc:sldMk cId="3745890272" sldId="258"/>
            <ac:spMk id="3" creationId="{6ABBD12C-E91E-44B5-9E76-D9AE8FFC619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fukuyamauniv-my.sharepoint.com/personal/f13059_fukuyama-u_ac_jp/Documents/&#31119;&#23665;&#22823;&#23398;/&#25480;&#26989;&#38306;&#36899;/EU&#32076;&#28168;&#35542;&#8544;/&#31532;3&#22238;&#30446;/1&#20154;&#12354;&#12383;&#12426;GDP&#20840;&#19990;&#30028;andEU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174386125965378E-2"/>
          <c:y val="2.4353524619199433E-2"/>
          <c:w val="0.82864500708029554"/>
          <c:h val="0.702721214377958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日本語!$B$1</c:f>
              <c:strCache>
                <c:ptCount val="1"/>
                <c:pt idx="0">
                  <c:v> 2024 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E0B-4719-87E6-023B34B669B2}"/>
              </c:ext>
            </c:extLst>
          </c:dPt>
          <c:dPt>
            <c:idx val="3"/>
            <c:invertIfNegative val="0"/>
            <c:bubble3D val="0"/>
            <c:spPr>
              <a:solidFill>
                <a:srgbClr val="8FAAD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4315-4537-9C33-DE947B9F85AE}"/>
              </c:ext>
            </c:extLst>
          </c:dPt>
          <c:dPt>
            <c:idx val="19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E0B-4719-87E6-023B34B669B2}"/>
              </c:ext>
            </c:extLst>
          </c:dPt>
          <c:dPt>
            <c:idx val="2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E0B-4719-87E6-023B34B669B2}"/>
              </c:ext>
            </c:extLst>
          </c:dPt>
          <c:dPt>
            <c:idx val="31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E0B-4719-87E6-023B34B669B2}"/>
              </c:ext>
            </c:extLst>
          </c:dPt>
          <c:cat>
            <c:strRef>
              <c:f>日本語!$A$2:$A$37</c:f>
              <c:strCache>
                <c:ptCount val="36"/>
                <c:pt idx="0">
                  <c:v>ルクセンブルク</c:v>
                </c:pt>
                <c:pt idx="1">
                  <c:v>アイルランド</c:v>
                </c:pt>
                <c:pt idx="2">
                  <c:v>スイス</c:v>
                </c:pt>
                <c:pt idx="3">
                  <c:v>アイスランド</c:v>
                </c:pt>
                <c:pt idx="4">
                  <c:v>ノルウェー</c:v>
                </c:pt>
                <c:pt idx="5">
                  <c:v>デンマーク</c:v>
                </c:pt>
                <c:pt idx="6">
                  <c:v>オランダ</c:v>
                </c:pt>
                <c:pt idx="7">
                  <c:v>スウェーデン</c:v>
                </c:pt>
                <c:pt idx="8">
                  <c:v>オーストリア</c:v>
                </c:pt>
                <c:pt idx="9">
                  <c:v>ベルギー</c:v>
                </c:pt>
                <c:pt idx="10">
                  <c:v>ドイツ</c:v>
                </c:pt>
                <c:pt idx="11">
                  <c:v>フィンランド</c:v>
                </c:pt>
                <c:pt idx="12">
                  <c:v>イギリス</c:v>
                </c:pt>
                <c:pt idx="13">
                  <c:v>フランス</c:v>
                </c:pt>
                <c:pt idx="14">
                  <c:v>マルタ</c:v>
                </c:pt>
                <c:pt idx="15">
                  <c:v>イタリア</c:v>
                </c:pt>
                <c:pt idx="16">
                  <c:v>キプロス</c:v>
                </c:pt>
                <c:pt idx="17">
                  <c:v>スペイン</c:v>
                </c:pt>
                <c:pt idx="18">
                  <c:v>スロベニア</c:v>
                </c:pt>
                <c:pt idx="19">
                  <c:v>EU平均</c:v>
                </c:pt>
                <c:pt idx="20">
                  <c:v>日本</c:v>
                </c:pt>
                <c:pt idx="21">
                  <c:v>チェコ</c:v>
                </c:pt>
                <c:pt idx="22">
                  <c:v>エストニア</c:v>
                </c:pt>
                <c:pt idx="23">
                  <c:v>リトアニア</c:v>
                </c:pt>
                <c:pt idx="24">
                  <c:v>ポルトガル</c:v>
                </c:pt>
                <c:pt idx="25">
                  <c:v>ポーランド</c:v>
                </c:pt>
                <c:pt idx="26">
                  <c:v>ギリシャ</c:v>
                </c:pt>
                <c:pt idx="27">
                  <c:v>クロアチア</c:v>
                </c:pt>
                <c:pt idx="28">
                  <c:v>ハンガリー</c:v>
                </c:pt>
                <c:pt idx="29">
                  <c:v>ラトビア</c:v>
                </c:pt>
                <c:pt idx="30">
                  <c:v>ルーマニア</c:v>
                </c:pt>
                <c:pt idx="31">
                  <c:v>ブルガリア</c:v>
                </c:pt>
                <c:pt idx="32">
                  <c:v>セルビア</c:v>
                </c:pt>
                <c:pt idx="33">
                  <c:v>モンテネグロ</c:v>
                </c:pt>
                <c:pt idx="34">
                  <c:v>アルバニア</c:v>
                </c:pt>
                <c:pt idx="35">
                  <c:v>北マケドニア</c:v>
                </c:pt>
              </c:strCache>
            </c:strRef>
          </c:cat>
          <c:val>
            <c:numRef>
              <c:f>日本語!$B$2:$B$37</c:f>
              <c:numCache>
                <c:formatCode>_(* #,##0_);_(* \(#,##0\);_(* "-"_);_(@_)</c:formatCode>
                <c:ptCount val="36"/>
                <c:pt idx="0">
                  <c:v>138634.36799999999</c:v>
                </c:pt>
                <c:pt idx="1">
                  <c:v>106455.886</c:v>
                </c:pt>
                <c:pt idx="2">
                  <c:v>104523.348</c:v>
                </c:pt>
                <c:pt idx="3">
                  <c:v>87204.974000000002</c:v>
                </c:pt>
                <c:pt idx="4">
                  <c:v>86611.172999999995</c:v>
                </c:pt>
                <c:pt idx="5">
                  <c:v>72041.535999999993</c:v>
                </c:pt>
                <c:pt idx="6">
                  <c:v>68393.149999999994</c:v>
                </c:pt>
                <c:pt idx="7">
                  <c:v>57625.095000000001</c:v>
                </c:pt>
                <c:pt idx="8">
                  <c:v>56914.536999999997</c:v>
                </c:pt>
                <c:pt idx="9">
                  <c:v>56271.417000000001</c:v>
                </c:pt>
                <c:pt idx="10">
                  <c:v>54989.760000000002</c:v>
                </c:pt>
                <c:pt idx="11">
                  <c:v>53326.396000000001</c:v>
                </c:pt>
                <c:pt idx="12">
                  <c:v>52648.186999999998</c:v>
                </c:pt>
                <c:pt idx="13">
                  <c:v>46203.675000000003</c:v>
                </c:pt>
                <c:pt idx="14">
                  <c:v>43991.582999999999</c:v>
                </c:pt>
                <c:pt idx="15">
                  <c:v>40224.012000000002</c:v>
                </c:pt>
                <c:pt idx="16">
                  <c:v>38624.883000000002</c:v>
                </c:pt>
                <c:pt idx="17">
                  <c:v>35091.646999999997</c:v>
                </c:pt>
                <c:pt idx="18">
                  <c:v>34117.175000000003</c:v>
                </c:pt>
                <c:pt idx="19">
                  <c:v>33280</c:v>
                </c:pt>
                <c:pt idx="20">
                  <c:v>32498.146000000001</c:v>
                </c:pt>
                <c:pt idx="21" formatCode="General">
                  <c:v>31542.861000000001</c:v>
                </c:pt>
                <c:pt idx="22">
                  <c:v>31174.35</c:v>
                </c:pt>
                <c:pt idx="23">
                  <c:v>29338.624</c:v>
                </c:pt>
                <c:pt idx="24">
                  <c:v>28917.901000000002</c:v>
                </c:pt>
                <c:pt idx="25">
                  <c:v>24810.444</c:v>
                </c:pt>
                <c:pt idx="26">
                  <c:v>24716.307000000001</c:v>
                </c:pt>
                <c:pt idx="27">
                  <c:v>23989.148000000001</c:v>
                </c:pt>
                <c:pt idx="28">
                  <c:v>23271.805</c:v>
                </c:pt>
                <c:pt idx="29">
                  <c:v>23242.741999999998</c:v>
                </c:pt>
                <c:pt idx="30">
                  <c:v>20278.199000000001</c:v>
                </c:pt>
                <c:pt idx="31">
                  <c:v>17588.432000000001</c:v>
                </c:pt>
                <c:pt idx="32">
                  <c:v>13544.906999999999</c:v>
                </c:pt>
                <c:pt idx="33">
                  <c:v>12663.888999999999</c:v>
                </c:pt>
                <c:pt idx="34">
                  <c:v>10012.916999999999</c:v>
                </c:pt>
                <c:pt idx="35">
                  <c:v>9169.2729999999992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E0B-4719-87E6-023B34B66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7171424"/>
        <c:axId val="1537172384"/>
      </c:barChart>
      <c:catAx>
        <c:axId val="153717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wordArtVertRtl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pPr>
            <a:endParaRPr lang="en-US"/>
          </a:p>
        </c:txPr>
        <c:crossAx val="1537172384"/>
        <c:crosses val="autoZero"/>
        <c:auto val="1"/>
        <c:lblAlgn val="ctr"/>
        <c:lblOffset val="100"/>
        <c:noMultiLvlLbl val="0"/>
      </c:catAx>
      <c:valAx>
        <c:axId val="1537172384"/>
        <c:scaling>
          <c:orientation val="minMax"/>
          <c:max val="15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pPr>
            <a:endParaRPr lang="en-US"/>
          </a:p>
        </c:txPr>
        <c:crossAx val="1537171424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9E634F4-BA61-DB9C-C8A4-36F894DADB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DB3E18B-C65F-250A-5ADA-25148682B5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3DDB56-1166-47B7-B3B0-1C7351753AA6}" type="datetimeFigureOut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2C8D43-04DD-06FF-2042-AB29332E84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7615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7F7DE-F1D6-474A-872D-9B03C419E19A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CAAEB-C181-486A-8261-9BF43BC9C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2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CAAEB-C181-486A-8261-9BF43BC9C0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1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446F7-0E26-F576-AD1A-770BADD70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76A7979-E0B2-EA9C-2945-B88E2F9F6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6485872-C104-BF7E-90CB-956B17E77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0176A4B-53B7-EEF8-7C9F-5177CA3F7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E0D37E-B69D-4AA5-B9F4-58A4D765B9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9650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2CAAEB-C181-486A-8261-9BF43BC9C0E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80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E0D37E-B69D-4AA5-B9F4-58A4D765B9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590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E0D37E-B69D-4AA5-B9F4-58A4D765B9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614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reet.com/politics/what-is-european-union-14690672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reet.com/politics/what-is-european-union-14690672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reet.com/politics/what-is-european-union-14690672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reet.com/politics/what-is-european-union-14690672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jpe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reet.com/politics/what-is-european-union-14690672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jpe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jpe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reet.com/politics/what-is-european-union-14690672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jpe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reet.com/politics/what-is-european-union-14690672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eu-flag-europe-european-union-2891828/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F8C8B8-3801-2398-7939-0EE14C21F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98" b="7998"/>
          <a:stretch/>
        </p:blipFill>
        <p:spPr bwMode="auto">
          <a:xfrm>
            <a:off x="1" y="14288"/>
            <a:ext cx="12192000" cy="682783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A01CDC-BF0E-4EA6-B635-7ED981D3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88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DE7575-51B5-4B79-92E9-6EBC8EA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558"/>
            <a:ext cx="9144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8DD1734-0DF8-43A6-AD87-901ECE42A1C8}"/>
              </a:ext>
            </a:extLst>
          </p:cNvPr>
          <p:cNvSpPr/>
          <p:nvPr userDrawn="1"/>
        </p:nvSpPr>
        <p:spPr>
          <a:xfrm>
            <a:off x="516000" y="369000"/>
            <a:ext cx="11160000" cy="6120000"/>
          </a:xfrm>
          <a:custGeom>
            <a:avLst/>
            <a:gdLst>
              <a:gd name="connsiteX0" fmla="*/ 144000 w 11160000"/>
              <a:gd name="connsiteY0" fmla="*/ 140801 h 6120000"/>
              <a:gd name="connsiteX1" fmla="*/ 144000 w 11160000"/>
              <a:gd name="connsiteY1" fmla="*/ 5648801 h 6120000"/>
              <a:gd name="connsiteX2" fmla="*/ 11016000 w 11160000"/>
              <a:gd name="connsiteY2" fmla="*/ 5648801 h 6120000"/>
              <a:gd name="connsiteX3" fmla="*/ 11016000 w 11160000"/>
              <a:gd name="connsiteY3" fmla="*/ 140801 h 6120000"/>
              <a:gd name="connsiteX4" fmla="*/ 0 w 11160000"/>
              <a:gd name="connsiteY4" fmla="*/ 0 h 6120000"/>
              <a:gd name="connsiteX5" fmla="*/ 11160000 w 11160000"/>
              <a:gd name="connsiteY5" fmla="*/ 0 h 6120000"/>
              <a:gd name="connsiteX6" fmla="*/ 11160000 w 11160000"/>
              <a:gd name="connsiteY6" fmla="*/ 6120000 h 6120000"/>
              <a:gd name="connsiteX7" fmla="*/ 0 w 11160000"/>
              <a:gd name="connsiteY7" fmla="*/ 6120000 h 61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60000" h="6120000">
                <a:moveTo>
                  <a:pt x="144000" y="140801"/>
                </a:moveTo>
                <a:lnTo>
                  <a:pt x="144000" y="5648801"/>
                </a:lnTo>
                <a:lnTo>
                  <a:pt x="11016000" y="5648801"/>
                </a:lnTo>
                <a:lnTo>
                  <a:pt x="11016000" y="140801"/>
                </a:lnTo>
                <a:close/>
                <a:moveTo>
                  <a:pt x="0" y="0"/>
                </a:moveTo>
                <a:lnTo>
                  <a:pt x="11160000" y="0"/>
                </a:lnTo>
                <a:lnTo>
                  <a:pt x="11160000" y="6120000"/>
                </a:lnTo>
                <a:lnTo>
                  <a:pt x="0" y="61200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4116B04-EB5E-41AB-BF9E-89B2A1092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5564" y="5985320"/>
            <a:ext cx="8468540" cy="490617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E516C6-CAE8-DA73-0856-02FDB9EA1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886" y="694404"/>
            <a:ext cx="1476123" cy="14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84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A0816-04E9-40D1-9C8C-33109E1B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998"/>
            <a:ext cx="2142836" cy="6169791"/>
          </a:xfrm>
          <a:prstGeom prst="rect">
            <a:avLst/>
          </a:prstGeom>
        </p:spPr>
        <p:txBody>
          <a:bodyPr vert="eaVert" anchor="ctr"/>
          <a:lstStyle>
            <a:lvl1pPr algn="ctr">
              <a:tabLst/>
              <a:defRPr sz="32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B4B28-8A70-45A4-9EE0-5ED7D5DB1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10032001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E45FB-0CC3-C73C-3D85-2B5170E944FA}"/>
              </a:ext>
            </a:extLst>
          </p:cNvPr>
          <p:cNvSpPr txBox="1">
            <a:spLocks/>
          </p:cNvSpPr>
          <p:nvPr userDrawn="1"/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5054D941-491C-EEAB-85AA-FAF406F7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3989" y="6493789"/>
            <a:ext cx="1334857" cy="360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2026/8/23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11003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-6428" y="-140982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7FCA1F-D7AE-403A-9F16-DD7251F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" y="419591"/>
            <a:ext cx="12166292" cy="6078409"/>
          </a:xfrm>
          <a:prstGeom prst="rect">
            <a:avLst/>
          </a:prstGeom>
        </p:spPr>
        <p:txBody>
          <a:bodyPr anchor="ctr"/>
          <a:lstStyle>
            <a:lvl1pPr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創英角ｺﾞｼｯｸUB" panose="020B0909000000000000" pitchFamily="49" charset="-128"/>
                <a:ea typeface="HG創英角ｺﾞｼｯｸUB" panose="020B0909000000000000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330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E0FE47-FF66-45D9-854D-36E42DA8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579" y="-35060"/>
            <a:ext cx="10029255" cy="681037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18E72D-7C87-44A9-9390-AAE938D1D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3963" y="642801"/>
            <a:ext cx="4680000" cy="5824905"/>
          </a:xfrm>
          <a:noFill/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D7F17A-827D-46B8-81AC-B44E7FBE2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8257" y="642801"/>
            <a:ext cx="4680000" cy="5824905"/>
          </a:xfrm>
          <a:noFill/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6DE910-8CE7-4712-A26F-94CF9C38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BE7326-A653-4542-9E26-B204405C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83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C6321-C16A-4887-B5F5-A4B84FFC4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505AC3-9C52-48A4-A027-E54C31527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887353-C05B-4F3F-88B5-E0C3C3493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3C0D03A-52A8-4485-A7B1-1C4D33568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884CE2-03D0-453B-85E9-741FC6FF6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9427934-ECAE-49FE-AD16-15D102C9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DC4E052-BDB3-49B9-AF5C-E965993C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オープンキャンパス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BFC953-5201-4806-B8CD-E7E1229E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649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04BC-CF5C-451B-924B-960B9CEE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0"/>
            <a:ext cx="11160000" cy="681037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87FE8F1-3E4C-4F55-B06A-CF9404A5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20E473-03DA-4302-A07A-9D5E6BC2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オープンキャンパス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368366-CC23-403F-8BCE-7BD9D4B3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844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880656-B13E-428D-A73F-488413F2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19955E3-2C5D-434D-97CF-07275546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オープンキャンパス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2A9832-F943-4A54-8C79-91BA3718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54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354A5-ED58-4C46-A29A-7E6B3F38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744F63-FFDB-4644-9BF3-C0089C83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F552B0-CC01-4AE9-A3FA-DB8FC2E41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30EC30-B7C8-469E-B167-9EB34D55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98F866-5014-482A-8535-9BAE7ADE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オープンキャンパス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AD1791-3AD3-4FB4-AC89-A1D4CD51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80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0F0C46-486B-4B9D-8F25-B8A8B78B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7D038F9-E471-4918-8893-C61038C34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CF671F-D18C-432C-998D-7DB9E85F3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E24BC7-C154-4F7A-AC82-6F7AFF72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00ECFC-7FA9-43D9-9CFF-B81964A3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オープンキャンパス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6F6601-3E1F-4951-970E-C1318BCB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124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349DAF-F470-4CD0-8850-B28306085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0"/>
            <a:ext cx="11160000" cy="681037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480324-0041-4CB8-A809-391DA00A4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5529D3-25F7-4084-A741-E29880E4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B47844-9E06-44EA-9636-178F6EC1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オープンキャンパス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280D9A-DF9D-4AD6-A8E1-5A815C26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996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04C0A53-3793-4CB5-A1D9-19AC2DA3E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7BD0DA-58CF-4E4B-9C6B-76063ED4B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F313C-3535-4DED-B2B5-E18C1ADE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DAE586-5968-44F6-AFC8-5BC55E26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オープンキャンパス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CB304A-1675-40F7-87BA-737ADA85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088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F8C8B8-3801-2398-7939-0EE14C21F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98" b="7998"/>
          <a:stretch/>
        </p:blipFill>
        <p:spPr bwMode="auto">
          <a:xfrm>
            <a:off x="1" y="14288"/>
            <a:ext cx="12192000" cy="682783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A01CDC-BF0E-4EA6-B635-7ED981D3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88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DE7575-51B5-4B79-92E9-6EBC8EA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558"/>
            <a:ext cx="9144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8DD1734-0DF8-43A6-AD87-901ECE42A1C8}"/>
              </a:ext>
            </a:extLst>
          </p:cNvPr>
          <p:cNvSpPr/>
          <p:nvPr userDrawn="1"/>
        </p:nvSpPr>
        <p:spPr>
          <a:xfrm>
            <a:off x="516000" y="369000"/>
            <a:ext cx="11160000" cy="6120000"/>
          </a:xfrm>
          <a:custGeom>
            <a:avLst/>
            <a:gdLst>
              <a:gd name="connsiteX0" fmla="*/ 144000 w 11160000"/>
              <a:gd name="connsiteY0" fmla="*/ 140801 h 6120000"/>
              <a:gd name="connsiteX1" fmla="*/ 144000 w 11160000"/>
              <a:gd name="connsiteY1" fmla="*/ 5648801 h 6120000"/>
              <a:gd name="connsiteX2" fmla="*/ 11016000 w 11160000"/>
              <a:gd name="connsiteY2" fmla="*/ 5648801 h 6120000"/>
              <a:gd name="connsiteX3" fmla="*/ 11016000 w 11160000"/>
              <a:gd name="connsiteY3" fmla="*/ 140801 h 6120000"/>
              <a:gd name="connsiteX4" fmla="*/ 0 w 11160000"/>
              <a:gd name="connsiteY4" fmla="*/ 0 h 6120000"/>
              <a:gd name="connsiteX5" fmla="*/ 11160000 w 11160000"/>
              <a:gd name="connsiteY5" fmla="*/ 0 h 6120000"/>
              <a:gd name="connsiteX6" fmla="*/ 11160000 w 11160000"/>
              <a:gd name="connsiteY6" fmla="*/ 6120000 h 6120000"/>
              <a:gd name="connsiteX7" fmla="*/ 0 w 11160000"/>
              <a:gd name="connsiteY7" fmla="*/ 6120000 h 61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60000" h="6120000">
                <a:moveTo>
                  <a:pt x="144000" y="140801"/>
                </a:moveTo>
                <a:lnTo>
                  <a:pt x="144000" y="5648801"/>
                </a:lnTo>
                <a:lnTo>
                  <a:pt x="11016000" y="5648801"/>
                </a:lnTo>
                <a:lnTo>
                  <a:pt x="11016000" y="140801"/>
                </a:lnTo>
                <a:close/>
                <a:moveTo>
                  <a:pt x="0" y="0"/>
                </a:moveTo>
                <a:lnTo>
                  <a:pt x="11160000" y="0"/>
                </a:lnTo>
                <a:lnTo>
                  <a:pt x="11160000" y="6120000"/>
                </a:lnTo>
                <a:lnTo>
                  <a:pt x="0" y="61200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4116B04-EB5E-41AB-BF9E-89B2A1092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5564" y="5985320"/>
            <a:ext cx="8468540" cy="490617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E516C6-CAE8-DA73-0856-02FDB9EA1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886" y="694404"/>
            <a:ext cx="1476123" cy="14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022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A0816-04E9-40D1-9C8C-33109E1B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998"/>
            <a:ext cx="2142836" cy="6169791"/>
          </a:xfrm>
          <a:prstGeom prst="rect">
            <a:avLst/>
          </a:prstGeom>
        </p:spPr>
        <p:txBody>
          <a:bodyPr vert="eaVert" anchor="ctr"/>
          <a:lstStyle>
            <a:lvl1pPr algn="ctr">
              <a:tabLst/>
              <a:defRPr sz="32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B4B28-8A70-45A4-9EE0-5ED7D5DB1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10032001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E45FB-0CC3-C73C-3D85-2B5170E944FA}"/>
              </a:ext>
            </a:extLst>
          </p:cNvPr>
          <p:cNvSpPr txBox="1">
            <a:spLocks/>
          </p:cNvSpPr>
          <p:nvPr userDrawn="1"/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5054D941-491C-EEAB-85AA-FAF406F7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3989" y="6493789"/>
            <a:ext cx="1334857" cy="360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2026/8/23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21873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-6428" y="-140982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7FCA1F-D7AE-403A-9F16-DD7251F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" y="419591"/>
            <a:ext cx="12166292" cy="6078409"/>
          </a:xfrm>
          <a:prstGeom prst="rect">
            <a:avLst/>
          </a:prstGeom>
        </p:spPr>
        <p:txBody>
          <a:bodyPr anchor="ctr"/>
          <a:lstStyle>
            <a:lvl1pPr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創英角ｺﾞｼｯｸUB" panose="020B0909000000000000" pitchFamily="49" charset="-128"/>
                <a:ea typeface="HG創英角ｺﾞｼｯｸUB" panose="020B0909000000000000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036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F8C8B8-3801-2398-7939-0EE14C21F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98" b="7998"/>
          <a:stretch/>
        </p:blipFill>
        <p:spPr bwMode="auto">
          <a:xfrm>
            <a:off x="1" y="14288"/>
            <a:ext cx="12192000" cy="682783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A01CDC-BF0E-4EA6-B635-7ED981D3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88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DE7575-51B5-4B79-92E9-6EBC8EA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558"/>
            <a:ext cx="9144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8DD1734-0DF8-43A6-AD87-901ECE42A1C8}"/>
              </a:ext>
            </a:extLst>
          </p:cNvPr>
          <p:cNvSpPr/>
          <p:nvPr userDrawn="1"/>
        </p:nvSpPr>
        <p:spPr>
          <a:xfrm>
            <a:off x="516000" y="369000"/>
            <a:ext cx="11160000" cy="6120000"/>
          </a:xfrm>
          <a:custGeom>
            <a:avLst/>
            <a:gdLst>
              <a:gd name="connsiteX0" fmla="*/ 144000 w 11160000"/>
              <a:gd name="connsiteY0" fmla="*/ 140801 h 6120000"/>
              <a:gd name="connsiteX1" fmla="*/ 144000 w 11160000"/>
              <a:gd name="connsiteY1" fmla="*/ 5648801 h 6120000"/>
              <a:gd name="connsiteX2" fmla="*/ 11016000 w 11160000"/>
              <a:gd name="connsiteY2" fmla="*/ 5648801 h 6120000"/>
              <a:gd name="connsiteX3" fmla="*/ 11016000 w 11160000"/>
              <a:gd name="connsiteY3" fmla="*/ 140801 h 6120000"/>
              <a:gd name="connsiteX4" fmla="*/ 0 w 11160000"/>
              <a:gd name="connsiteY4" fmla="*/ 0 h 6120000"/>
              <a:gd name="connsiteX5" fmla="*/ 11160000 w 11160000"/>
              <a:gd name="connsiteY5" fmla="*/ 0 h 6120000"/>
              <a:gd name="connsiteX6" fmla="*/ 11160000 w 11160000"/>
              <a:gd name="connsiteY6" fmla="*/ 6120000 h 6120000"/>
              <a:gd name="connsiteX7" fmla="*/ 0 w 11160000"/>
              <a:gd name="connsiteY7" fmla="*/ 6120000 h 61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60000" h="6120000">
                <a:moveTo>
                  <a:pt x="144000" y="140801"/>
                </a:moveTo>
                <a:lnTo>
                  <a:pt x="144000" y="5648801"/>
                </a:lnTo>
                <a:lnTo>
                  <a:pt x="11016000" y="5648801"/>
                </a:lnTo>
                <a:lnTo>
                  <a:pt x="11016000" y="140801"/>
                </a:lnTo>
                <a:close/>
                <a:moveTo>
                  <a:pt x="0" y="0"/>
                </a:moveTo>
                <a:lnTo>
                  <a:pt x="11160000" y="0"/>
                </a:lnTo>
                <a:lnTo>
                  <a:pt x="11160000" y="6120000"/>
                </a:lnTo>
                <a:lnTo>
                  <a:pt x="0" y="61200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4116B04-EB5E-41AB-BF9E-89B2A1092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5564" y="5985320"/>
            <a:ext cx="8468540" cy="490617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E516C6-CAE8-DA73-0856-02FDB9EA1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886" y="694404"/>
            <a:ext cx="1476123" cy="14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1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A0816-04E9-40D1-9C8C-33109E1B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998"/>
            <a:ext cx="2142836" cy="6169791"/>
          </a:xfrm>
          <a:prstGeom prst="rect">
            <a:avLst/>
          </a:prstGeom>
        </p:spPr>
        <p:txBody>
          <a:bodyPr vert="eaVert" anchor="ctr"/>
          <a:lstStyle>
            <a:lvl1pPr algn="ctr">
              <a:tabLst/>
              <a:defRPr sz="32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B4B28-8A70-45A4-9EE0-5ED7D5DB1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10032001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E45FB-0CC3-C73C-3D85-2B5170E944FA}"/>
              </a:ext>
            </a:extLst>
          </p:cNvPr>
          <p:cNvSpPr txBox="1">
            <a:spLocks/>
          </p:cNvSpPr>
          <p:nvPr userDrawn="1"/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5054D941-491C-EEAB-85AA-FAF406F7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3989" y="6493789"/>
            <a:ext cx="1334857" cy="360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2026/8/23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87956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-6428" y="-140982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7FCA1F-D7AE-403A-9F16-DD7251F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" y="419591"/>
            <a:ext cx="12166292" cy="6078409"/>
          </a:xfrm>
          <a:prstGeom prst="rect">
            <a:avLst/>
          </a:prstGeom>
        </p:spPr>
        <p:txBody>
          <a:bodyPr anchor="ctr"/>
          <a:lstStyle>
            <a:lvl1pPr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創英角ｺﾞｼｯｸUB" panose="020B0909000000000000" pitchFamily="49" charset="-128"/>
                <a:ea typeface="HG創英角ｺﾞｼｯｸUB" panose="020B0909000000000000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781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F8C8B8-3801-2398-7939-0EE14C21F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98" b="7998"/>
          <a:stretch/>
        </p:blipFill>
        <p:spPr bwMode="auto">
          <a:xfrm>
            <a:off x="1" y="14288"/>
            <a:ext cx="12192000" cy="682783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A01CDC-BF0E-4EA6-B635-7ED981D3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88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DE7575-51B5-4B79-92E9-6EBC8EA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558"/>
            <a:ext cx="9144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8DD1734-0DF8-43A6-AD87-901ECE42A1C8}"/>
              </a:ext>
            </a:extLst>
          </p:cNvPr>
          <p:cNvSpPr/>
          <p:nvPr userDrawn="1"/>
        </p:nvSpPr>
        <p:spPr>
          <a:xfrm>
            <a:off x="516000" y="369000"/>
            <a:ext cx="11160000" cy="6120000"/>
          </a:xfrm>
          <a:custGeom>
            <a:avLst/>
            <a:gdLst>
              <a:gd name="connsiteX0" fmla="*/ 144000 w 11160000"/>
              <a:gd name="connsiteY0" fmla="*/ 140801 h 6120000"/>
              <a:gd name="connsiteX1" fmla="*/ 144000 w 11160000"/>
              <a:gd name="connsiteY1" fmla="*/ 5648801 h 6120000"/>
              <a:gd name="connsiteX2" fmla="*/ 11016000 w 11160000"/>
              <a:gd name="connsiteY2" fmla="*/ 5648801 h 6120000"/>
              <a:gd name="connsiteX3" fmla="*/ 11016000 w 11160000"/>
              <a:gd name="connsiteY3" fmla="*/ 140801 h 6120000"/>
              <a:gd name="connsiteX4" fmla="*/ 0 w 11160000"/>
              <a:gd name="connsiteY4" fmla="*/ 0 h 6120000"/>
              <a:gd name="connsiteX5" fmla="*/ 11160000 w 11160000"/>
              <a:gd name="connsiteY5" fmla="*/ 0 h 6120000"/>
              <a:gd name="connsiteX6" fmla="*/ 11160000 w 11160000"/>
              <a:gd name="connsiteY6" fmla="*/ 6120000 h 6120000"/>
              <a:gd name="connsiteX7" fmla="*/ 0 w 11160000"/>
              <a:gd name="connsiteY7" fmla="*/ 6120000 h 61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60000" h="6120000">
                <a:moveTo>
                  <a:pt x="144000" y="140801"/>
                </a:moveTo>
                <a:lnTo>
                  <a:pt x="144000" y="5648801"/>
                </a:lnTo>
                <a:lnTo>
                  <a:pt x="11016000" y="5648801"/>
                </a:lnTo>
                <a:lnTo>
                  <a:pt x="11016000" y="140801"/>
                </a:lnTo>
                <a:close/>
                <a:moveTo>
                  <a:pt x="0" y="0"/>
                </a:moveTo>
                <a:lnTo>
                  <a:pt x="11160000" y="0"/>
                </a:lnTo>
                <a:lnTo>
                  <a:pt x="11160000" y="6120000"/>
                </a:lnTo>
                <a:lnTo>
                  <a:pt x="0" y="61200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4116B04-EB5E-41AB-BF9E-89B2A1092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5564" y="5985320"/>
            <a:ext cx="8468540" cy="490617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E516C6-CAE8-DA73-0856-02FDB9EA1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886" y="694404"/>
            <a:ext cx="1476123" cy="14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257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A0816-04E9-40D1-9C8C-33109E1B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998"/>
            <a:ext cx="2142836" cy="6169791"/>
          </a:xfrm>
          <a:prstGeom prst="rect">
            <a:avLst/>
          </a:prstGeom>
        </p:spPr>
        <p:txBody>
          <a:bodyPr vert="eaVert" anchor="ctr"/>
          <a:lstStyle>
            <a:lvl1pPr algn="ctr">
              <a:tabLst/>
              <a:defRPr sz="32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B4B28-8A70-45A4-9EE0-5ED7D5DB1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10032001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E45FB-0CC3-C73C-3D85-2B5170E944FA}"/>
              </a:ext>
            </a:extLst>
          </p:cNvPr>
          <p:cNvSpPr txBox="1">
            <a:spLocks/>
          </p:cNvSpPr>
          <p:nvPr userDrawn="1"/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5054D941-491C-EEAB-85AA-FAF406F7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3989" y="6493789"/>
            <a:ext cx="1334857" cy="360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2026/8/23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72586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-6428" y="-140982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7FCA1F-D7AE-403A-9F16-DD7251F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" y="419591"/>
            <a:ext cx="12166292" cy="6078409"/>
          </a:xfrm>
          <a:prstGeom prst="rect">
            <a:avLst/>
          </a:prstGeom>
        </p:spPr>
        <p:txBody>
          <a:bodyPr anchor="ctr"/>
          <a:lstStyle>
            <a:lvl1pPr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創英角ｺﾞｼｯｸUB" panose="020B0909000000000000" pitchFamily="49" charset="-128"/>
                <a:ea typeface="HG創英角ｺﾞｼｯｸUB" panose="020B0909000000000000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7539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E0FE47-FF66-45D9-854D-36E42DA8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579" y="-35060"/>
            <a:ext cx="10029255" cy="681037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18E72D-7C87-44A9-9390-AAE938D1D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3963" y="642801"/>
            <a:ext cx="4680000" cy="5824905"/>
          </a:xfrm>
          <a:noFill/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D7F17A-827D-46B8-81AC-B44E7FBE2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48257" y="642801"/>
            <a:ext cx="4680000" cy="5824905"/>
          </a:xfrm>
          <a:noFill/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6DE910-8CE7-4712-A26F-94CF9C38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3BE7326-A653-4542-9E26-B204405C9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3026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C6321-C16A-4887-B5F5-A4B84FFC4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505AC3-9C52-48A4-A027-E54C31527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8887353-C05B-4F3F-88B5-E0C3C3493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3C0D03A-52A8-4485-A7B1-1C4D33568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884CE2-03D0-453B-85E9-741FC6FF6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9427934-ECAE-49FE-AD16-15D102C9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DC4E052-BDB3-49B9-AF5C-E965993C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BFC953-5201-4806-B8CD-E7E1229E4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5064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04BC-CF5C-451B-924B-960B9CEE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0"/>
            <a:ext cx="11160000" cy="681037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87FE8F1-3E4C-4F55-B06A-CF9404A5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920E473-03DA-4302-A07A-9D5E6BC2C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368366-CC23-403F-8BCE-7BD9D4B3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79905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880656-B13E-428D-A73F-488413F2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19955E3-2C5D-434D-97CF-072755463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2A9832-F943-4A54-8C79-91BA3718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513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0354A5-ED58-4C46-A29A-7E6B3F389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744F63-FFDB-4644-9BF3-C0089C83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DF552B0-CC01-4AE9-A3FA-DB8FC2E41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30EC30-B7C8-469E-B167-9EB34D55F4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98F866-5014-482A-8535-9BAE7ADE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AD1791-3AD3-4FB4-AC89-A1D4CD51C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892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0F0C46-486B-4B9D-8F25-B8A8B78BB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7D038F9-E471-4918-8893-C61038C34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CF671F-D18C-432C-998D-7DB9E85F3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0E24BC7-C154-4F7A-AC82-6F7AFF72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00ECFC-7FA9-43D9-9CFF-B81964A3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6F6601-3E1F-4951-970E-C1318BCB6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71499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349DAF-F470-4CD0-8850-B28306085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00" y="0"/>
            <a:ext cx="11160000" cy="681037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7480324-0041-4CB8-A809-391DA00A4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5529D3-25F7-4084-A741-E29880E4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B47844-9E06-44EA-9636-178F6EC1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280D9A-DF9D-4AD6-A8E1-5A815C26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5403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04C0A53-3793-4CB5-A1D9-19AC2DA3E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7BD0DA-58CF-4E4B-9C6B-76063ED4B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7F313C-3535-4DED-B2B5-E18C1ADE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2026/8/23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DAE586-5968-44F6-AFC8-5BC55E26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CB304A-1675-40F7-87BA-737ADA85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31340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F8C8B8-3801-2398-7939-0EE14C21F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98" b="7998"/>
          <a:stretch/>
        </p:blipFill>
        <p:spPr bwMode="auto">
          <a:xfrm>
            <a:off x="1" y="14288"/>
            <a:ext cx="12192000" cy="682783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A01CDC-BF0E-4EA6-B635-7ED981D3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883"/>
            <a:ext cx="9144000" cy="2387600"/>
          </a:xfrm>
          <a:prstGeom prst="rect">
            <a:avLst/>
          </a:prstGeom>
        </p:spPr>
        <p:txBody>
          <a:bodyPr vert="horz" anchor="b"/>
          <a:lstStyle>
            <a:lvl1pPr algn="ctr">
              <a:defRPr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DE7575-51B5-4B79-92E9-6EBC8EA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558"/>
            <a:ext cx="9144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8DD1734-0DF8-43A6-AD87-901ECE42A1C8}"/>
              </a:ext>
            </a:extLst>
          </p:cNvPr>
          <p:cNvSpPr/>
          <p:nvPr userDrawn="1"/>
        </p:nvSpPr>
        <p:spPr>
          <a:xfrm>
            <a:off x="516000" y="369000"/>
            <a:ext cx="11160000" cy="6120000"/>
          </a:xfrm>
          <a:custGeom>
            <a:avLst/>
            <a:gdLst>
              <a:gd name="connsiteX0" fmla="*/ 144000 w 11160000"/>
              <a:gd name="connsiteY0" fmla="*/ 140801 h 6120000"/>
              <a:gd name="connsiteX1" fmla="*/ 144000 w 11160000"/>
              <a:gd name="connsiteY1" fmla="*/ 5648801 h 6120000"/>
              <a:gd name="connsiteX2" fmla="*/ 11016000 w 11160000"/>
              <a:gd name="connsiteY2" fmla="*/ 5648801 h 6120000"/>
              <a:gd name="connsiteX3" fmla="*/ 11016000 w 11160000"/>
              <a:gd name="connsiteY3" fmla="*/ 140801 h 6120000"/>
              <a:gd name="connsiteX4" fmla="*/ 0 w 11160000"/>
              <a:gd name="connsiteY4" fmla="*/ 0 h 6120000"/>
              <a:gd name="connsiteX5" fmla="*/ 11160000 w 11160000"/>
              <a:gd name="connsiteY5" fmla="*/ 0 h 6120000"/>
              <a:gd name="connsiteX6" fmla="*/ 11160000 w 11160000"/>
              <a:gd name="connsiteY6" fmla="*/ 6120000 h 6120000"/>
              <a:gd name="connsiteX7" fmla="*/ 0 w 11160000"/>
              <a:gd name="connsiteY7" fmla="*/ 6120000 h 61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60000" h="6120000">
                <a:moveTo>
                  <a:pt x="144000" y="140801"/>
                </a:moveTo>
                <a:lnTo>
                  <a:pt x="144000" y="5648801"/>
                </a:lnTo>
                <a:lnTo>
                  <a:pt x="11016000" y="5648801"/>
                </a:lnTo>
                <a:lnTo>
                  <a:pt x="11016000" y="140801"/>
                </a:lnTo>
                <a:close/>
                <a:moveTo>
                  <a:pt x="0" y="0"/>
                </a:moveTo>
                <a:lnTo>
                  <a:pt x="11160000" y="0"/>
                </a:lnTo>
                <a:lnTo>
                  <a:pt x="11160000" y="6120000"/>
                </a:lnTo>
                <a:lnTo>
                  <a:pt x="0" y="61200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4116B04-EB5E-41AB-BF9E-89B2A1092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5564" y="5985320"/>
            <a:ext cx="8468540" cy="490617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E516C6-CAE8-DA73-0856-02FDB9EA1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886" y="694404"/>
            <a:ext cx="1476123" cy="14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71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B4B28-8A70-45A4-9EE0-5ED7D5DB1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10032001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E45FB-0CC3-C73C-3D85-2B5170E944FA}"/>
              </a:ext>
            </a:extLst>
          </p:cNvPr>
          <p:cNvSpPr txBox="1">
            <a:spLocks/>
          </p:cNvSpPr>
          <p:nvPr userDrawn="1"/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5054D941-491C-EEAB-85AA-FAF406F7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3989" y="6493789"/>
            <a:ext cx="1334857" cy="360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1585029E-B14D-4B04-A2FA-7F6A8229113F}" type="datetime1">
              <a:rPr lang="ja-JP" altLang="en-US" smtClean="0"/>
              <a:t>2026/8/23</a:t>
            </a:fld>
            <a:endParaRPr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77252D2-B8EA-9B49-65A6-0F59F7E3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91775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-6428" y="-140982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fld id="{D608C094-10FC-4A48-AB21-83C23032B75E}" type="datetime1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208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880656-B13E-428D-A73F-488413F2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18B40E-67F2-4D66-8F95-B6202AE7029A}" type="datetime1">
              <a:rPr kumimoji="1" lang="ja-JP" altLang="en-US" smtClean="0"/>
              <a:pPr/>
              <a:t>2026/8/23</a:t>
            </a:fld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2A9832-F943-4A54-8C79-91BA3718F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70D075E-E604-5976-6EB0-2344F46CD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100" y="4595183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A240B62-DC6E-F66C-D8A7-99E7E2E4A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8312469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807CFF1E-BEF6-F54C-3D5A-10659ACA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110565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25708" y="-165737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kumimoji="1" lang="ja-JP" altLang="en-US" sz="3600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7FCA1F-D7AE-403A-9F16-DD7251F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" y="419591"/>
            <a:ext cx="12166292" cy="6078409"/>
          </a:xfrm>
          <a:prstGeom prst="rect">
            <a:avLst/>
          </a:prstGeom>
        </p:spPr>
        <p:txBody>
          <a:bodyPr vert="horz" anchor="ctr"/>
          <a:lstStyle>
            <a:lvl1pPr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創英角ｺﾞｼｯｸUB" panose="020B0909000000000000" pitchFamily="49" charset="-128"/>
                <a:ea typeface="HG創英角ｺﾞｼｯｸUB" panose="020B0909000000000000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fld id="{38FEBEFE-ED22-498F-B0C0-0E99792C7571}" type="datetime1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764" y="6567162"/>
            <a:ext cx="517236" cy="307778"/>
          </a:xfrm>
          <a:prstGeom prst="rect">
            <a:avLst/>
          </a:prstGeom>
        </p:spPr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4194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F8C8B8-3801-2398-7939-0EE14C21F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98" b="7998"/>
          <a:stretch/>
        </p:blipFill>
        <p:spPr bwMode="auto">
          <a:xfrm>
            <a:off x="1" y="14288"/>
            <a:ext cx="12192000" cy="682783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A01CDC-BF0E-4EA6-B635-7ED981D3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88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DE7575-51B5-4B79-92E9-6EBC8EA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558"/>
            <a:ext cx="9144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8DD1734-0DF8-43A6-AD87-901ECE42A1C8}"/>
              </a:ext>
            </a:extLst>
          </p:cNvPr>
          <p:cNvSpPr/>
          <p:nvPr userDrawn="1"/>
        </p:nvSpPr>
        <p:spPr>
          <a:xfrm>
            <a:off x="516000" y="369000"/>
            <a:ext cx="11160000" cy="6120000"/>
          </a:xfrm>
          <a:custGeom>
            <a:avLst/>
            <a:gdLst>
              <a:gd name="connsiteX0" fmla="*/ 144000 w 11160000"/>
              <a:gd name="connsiteY0" fmla="*/ 140801 h 6120000"/>
              <a:gd name="connsiteX1" fmla="*/ 144000 w 11160000"/>
              <a:gd name="connsiteY1" fmla="*/ 5648801 h 6120000"/>
              <a:gd name="connsiteX2" fmla="*/ 11016000 w 11160000"/>
              <a:gd name="connsiteY2" fmla="*/ 5648801 h 6120000"/>
              <a:gd name="connsiteX3" fmla="*/ 11016000 w 11160000"/>
              <a:gd name="connsiteY3" fmla="*/ 140801 h 6120000"/>
              <a:gd name="connsiteX4" fmla="*/ 0 w 11160000"/>
              <a:gd name="connsiteY4" fmla="*/ 0 h 6120000"/>
              <a:gd name="connsiteX5" fmla="*/ 11160000 w 11160000"/>
              <a:gd name="connsiteY5" fmla="*/ 0 h 6120000"/>
              <a:gd name="connsiteX6" fmla="*/ 11160000 w 11160000"/>
              <a:gd name="connsiteY6" fmla="*/ 6120000 h 6120000"/>
              <a:gd name="connsiteX7" fmla="*/ 0 w 11160000"/>
              <a:gd name="connsiteY7" fmla="*/ 6120000 h 61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60000" h="6120000">
                <a:moveTo>
                  <a:pt x="144000" y="140801"/>
                </a:moveTo>
                <a:lnTo>
                  <a:pt x="144000" y="5648801"/>
                </a:lnTo>
                <a:lnTo>
                  <a:pt x="11016000" y="5648801"/>
                </a:lnTo>
                <a:lnTo>
                  <a:pt x="11016000" y="140801"/>
                </a:lnTo>
                <a:close/>
                <a:moveTo>
                  <a:pt x="0" y="0"/>
                </a:moveTo>
                <a:lnTo>
                  <a:pt x="11160000" y="0"/>
                </a:lnTo>
                <a:lnTo>
                  <a:pt x="11160000" y="6120000"/>
                </a:lnTo>
                <a:lnTo>
                  <a:pt x="0" y="61200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4116B04-EB5E-41AB-BF9E-89B2A1092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5564" y="5985320"/>
            <a:ext cx="8468540" cy="490617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E516C6-CAE8-DA73-0856-02FDB9EA1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886" y="694404"/>
            <a:ext cx="1476123" cy="14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092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A0816-04E9-40D1-9C8C-33109E1B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998"/>
            <a:ext cx="2142836" cy="6169791"/>
          </a:xfrm>
          <a:prstGeom prst="rect">
            <a:avLst/>
          </a:prstGeom>
        </p:spPr>
        <p:txBody>
          <a:bodyPr vert="eaVert" anchor="ctr"/>
          <a:lstStyle>
            <a:lvl1pPr algn="ctr">
              <a:tabLst/>
              <a:defRPr sz="32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B4B28-8A70-45A4-9EE0-5ED7D5DB1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10032001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E45FB-0CC3-C73C-3D85-2B5170E944FA}"/>
              </a:ext>
            </a:extLst>
          </p:cNvPr>
          <p:cNvSpPr txBox="1">
            <a:spLocks/>
          </p:cNvSpPr>
          <p:nvPr userDrawn="1"/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5054D941-491C-EEAB-85AA-FAF406F7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3989" y="6493789"/>
            <a:ext cx="1334857" cy="360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1585029E-B14D-4B04-A2FA-7F6A8229113F}" type="datetime1">
              <a:rPr lang="ja-JP" altLang="en-US" smtClean="0"/>
              <a:t>2026/8/23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64408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-6428" y="-140982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7FCA1F-D7AE-403A-9F16-DD7251F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" y="419591"/>
            <a:ext cx="12166292" cy="6078409"/>
          </a:xfrm>
          <a:prstGeom prst="rect">
            <a:avLst/>
          </a:prstGeom>
        </p:spPr>
        <p:txBody>
          <a:bodyPr anchor="ctr"/>
          <a:lstStyle>
            <a:lvl1pPr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創英角ｺﾞｼｯｸUB" panose="020B0909000000000000" pitchFamily="49" charset="-128"/>
                <a:ea typeface="HG創英角ｺﾞｼｯｸUB" panose="020B0909000000000000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fld id="{D608C094-10FC-4A48-AB21-83C23032B75E}" type="datetime1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4975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F8C8B8-3801-2398-7939-0EE14C21F6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1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998" b="7998"/>
          <a:stretch/>
        </p:blipFill>
        <p:spPr bwMode="auto">
          <a:xfrm>
            <a:off x="1" y="14288"/>
            <a:ext cx="12192000" cy="6827837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A01CDC-BF0E-4EA6-B635-7ED981D3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088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</a:lstStyle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CDE7575-51B5-4B79-92E9-6EBC8EA5B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0558"/>
            <a:ext cx="9144000" cy="1655762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ja-JP" altLang="en-US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18DD1734-0DF8-43A6-AD87-901ECE42A1C8}"/>
              </a:ext>
            </a:extLst>
          </p:cNvPr>
          <p:cNvSpPr/>
          <p:nvPr userDrawn="1"/>
        </p:nvSpPr>
        <p:spPr>
          <a:xfrm>
            <a:off x="516000" y="369000"/>
            <a:ext cx="11160000" cy="6120000"/>
          </a:xfrm>
          <a:custGeom>
            <a:avLst/>
            <a:gdLst>
              <a:gd name="connsiteX0" fmla="*/ 144000 w 11160000"/>
              <a:gd name="connsiteY0" fmla="*/ 140801 h 6120000"/>
              <a:gd name="connsiteX1" fmla="*/ 144000 w 11160000"/>
              <a:gd name="connsiteY1" fmla="*/ 5648801 h 6120000"/>
              <a:gd name="connsiteX2" fmla="*/ 11016000 w 11160000"/>
              <a:gd name="connsiteY2" fmla="*/ 5648801 h 6120000"/>
              <a:gd name="connsiteX3" fmla="*/ 11016000 w 11160000"/>
              <a:gd name="connsiteY3" fmla="*/ 140801 h 6120000"/>
              <a:gd name="connsiteX4" fmla="*/ 0 w 11160000"/>
              <a:gd name="connsiteY4" fmla="*/ 0 h 6120000"/>
              <a:gd name="connsiteX5" fmla="*/ 11160000 w 11160000"/>
              <a:gd name="connsiteY5" fmla="*/ 0 h 6120000"/>
              <a:gd name="connsiteX6" fmla="*/ 11160000 w 11160000"/>
              <a:gd name="connsiteY6" fmla="*/ 6120000 h 6120000"/>
              <a:gd name="connsiteX7" fmla="*/ 0 w 11160000"/>
              <a:gd name="connsiteY7" fmla="*/ 6120000 h 61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160000" h="6120000">
                <a:moveTo>
                  <a:pt x="144000" y="140801"/>
                </a:moveTo>
                <a:lnTo>
                  <a:pt x="144000" y="5648801"/>
                </a:lnTo>
                <a:lnTo>
                  <a:pt x="11016000" y="5648801"/>
                </a:lnTo>
                <a:lnTo>
                  <a:pt x="11016000" y="140801"/>
                </a:lnTo>
                <a:close/>
                <a:moveTo>
                  <a:pt x="0" y="0"/>
                </a:moveTo>
                <a:lnTo>
                  <a:pt x="11160000" y="0"/>
                </a:lnTo>
                <a:lnTo>
                  <a:pt x="11160000" y="6120000"/>
                </a:lnTo>
                <a:lnTo>
                  <a:pt x="0" y="612000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4116B04-EB5E-41AB-BF9E-89B2A1092A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35564" y="5985320"/>
            <a:ext cx="8468540" cy="490617"/>
          </a:xfrm>
          <a:noFill/>
        </p:spPr>
        <p:txBody>
          <a:bodyPr anchor="ctr">
            <a:noAutofit/>
          </a:bodyPr>
          <a:lstStyle>
            <a:lvl1pPr marL="0" indent="0" algn="r">
              <a:buNone/>
              <a:defRPr sz="180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E516C6-CAE8-DA73-0856-02FDB9EA1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886" y="694404"/>
            <a:ext cx="1476123" cy="148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6857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A0816-04E9-40D1-9C8C-33109E1B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3998"/>
            <a:ext cx="2142836" cy="6169791"/>
          </a:xfrm>
          <a:prstGeom prst="rect">
            <a:avLst/>
          </a:prstGeom>
        </p:spPr>
        <p:txBody>
          <a:bodyPr vert="eaVert" anchor="ctr"/>
          <a:lstStyle>
            <a:lvl1pPr algn="ctr">
              <a:tabLst/>
              <a:defRPr sz="3200" b="1">
                <a:solidFill>
                  <a:schemeClr val="bg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AB4B28-8A70-45A4-9EE0-5ED7D5DB1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10032001" cy="6858000"/>
          </a:xfrm>
          <a:noFill/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  <a:lvl2pPr>
              <a:defRPr b="0">
                <a:latin typeface="+mn-ea"/>
                <a:ea typeface="+mn-ea"/>
              </a:defRPr>
            </a:lvl2pPr>
            <a:lvl3pPr>
              <a:defRPr b="0">
                <a:latin typeface="+mn-ea"/>
                <a:ea typeface="+mn-ea"/>
              </a:defRPr>
            </a:lvl3pPr>
            <a:lvl4pPr>
              <a:defRPr b="0">
                <a:latin typeface="+mn-ea"/>
                <a:ea typeface="+mn-ea"/>
              </a:defRPr>
            </a:lvl4pPr>
            <a:lvl5pPr>
              <a:defRPr b="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E45FB-0CC3-C73C-3D85-2B5170E944FA}"/>
              </a:ext>
            </a:extLst>
          </p:cNvPr>
          <p:cNvSpPr txBox="1">
            <a:spLocks/>
          </p:cNvSpPr>
          <p:nvPr userDrawn="1"/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5054D941-491C-EEAB-85AA-FAF406F79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03989" y="6493789"/>
            <a:ext cx="1334857" cy="3600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1585029E-B14D-4B04-A2FA-7F6A8229113F}" type="datetime1">
              <a:rPr lang="ja-JP" altLang="en-US" smtClean="0"/>
              <a:t>2026/8/23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0941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C86FFCF-9D72-4344-9061-CBB06CDF86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2847" b="12847"/>
          <a:stretch/>
        </p:blipFill>
        <p:spPr bwMode="auto">
          <a:xfrm>
            <a:off x="-6428" y="-41152"/>
            <a:ext cx="12192001" cy="679446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2F9C3D9-8C20-4312-9847-0C09F23B6FBF}"/>
              </a:ext>
            </a:extLst>
          </p:cNvPr>
          <p:cNvSpPr/>
          <p:nvPr userDrawn="1"/>
        </p:nvSpPr>
        <p:spPr>
          <a:xfrm>
            <a:off x="-6428" y="-140982"/>
            <a:ext cx="12192001" cy="6732899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36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7FCA1F-D7AE-403A-9F16-DD7251F9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08" y="419591"/>
            <a:ext cx="12166292" cy="6078409"/>
          </a:xfrm>
          <a:prstGeom prst="rect">
            <a:avLst/>
          </a:prstGeom>
        </p:spPr>
        <p:txBody>
          <a:bodyPr anchor="ctr"/>
          <a:lstStyle>
            <a:lvl1pPr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創英角ｺﾞｼｯｸUB" panose="020B0909000000000000" pitchFamily="49" charset="-128"/>
                <a:ea typeface="HG創英角ｺﾞｼｯｸUB" panose="020B0909000000000000" pitchFamily="49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760F03-C56D-4F8F-BB04-BB5B561B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0095" y="6501943"/>
            <a:ext cx="1334857" cy="360000"/>
          </a:xfrm>
          <a:prstGeom prst="rect">
            <a:avLst/>
          </a:prstGeom>
        </p:spPr>
        <p:txBody>
          <a:bodyPr/>
          <a:lstStyle/>
          <a:p>
            <a:fld id="{D608C094-10FC-4A48-AB21-83C23032B75E}" type="datetime1">
              <a:rPr kumimoji="1" lang="ja-JP" altLang="en-US" smtClean="0"/>
              <a:t>2026/8/23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35BFC9-EDB2-4E76-8450-7A6D038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957BB-3961-4B07-A0B1-388F65A3690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CE5073F5-800B-40B5-AC0B-0B20CC532547}"/>
              </a:ext>
            </a:extLst>
          </p:cNvPr>
          <p:cNvSpPr txBox="1">
            <a:spLocks/>
          </p:cNvSpPr>
          <p:nvPr userDrawn="1"/>
        </p:nvSpPr>
        <p:spPr>
          <a:xfrm>
            <a:off x="0" y="-1"/>
            <a:ext cx="646545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721D78D-7962-41E6-A838-609528AB42D0}"/>
              </a:ext>
            </a:extLst>
          </p:cNvPr>
          <p:cNvSpPr/>
          <p:nvPr userDrawn="1"/>
        </p:nvSpPr>
        <p:spPr>
          <a:xfrm>
            <a:off x="-25709" y="6492086"/>
            <a:ext cx="12204855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D3A12F0-EF9A-4F0C-A0EC-E467FD413662}"/>
              </a:ext>
            </a:extLst>
          </p:cNvPr>
          <p:cNvSpPr/>
          <p:nvPr userDrawn="1"/>
        </p:nvSpPr>
        <p:spPr>
          <a:xfrm>
            <a:off x="-25709" y="-41152"/>
            <a:ext cx="12224137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6461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hyperlink" Target="https://www.bundesregierung.de/breg-de/themen/europa/europaparlament-kurz-erklaert-479720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hyperlink" Target="https://www.bundesregierung.de/breg-de/themen/europa/europaparlament-kurz-erklaert-479720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hyperlink" Target="https://www.bundesregierung.de/breg-de/themen/europa/europaparlament-kurz-erklaert-479720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D14C5-13D6-4115-814E-CDFF25659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429" y="-3943"/>
            <a:ext cx="10032001" cy="6858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FC459D9-5D94-6997-1427-351DBADC767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0"/>
              </a:ext>
            </a:extLst>
          </a:blip>
          <a:srcRect l="41014" r="41014"/>
          <a:stretch/>
        </p:blipFill>
        <p:spPr>
          <a:xfrm>
            <a:off x="-8286" y="102382"/>
            <a:ext cx="2160001" cy="675561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A86FAB-5646-0100-2FB4-68B823AE6983}"/>
              </a:ext>
            </a:extLst>
          </p:cNvPr>
          <p:cNvSpPr/>
          <p:nvPr userDrawn="1"/>
        </p:nvSpPr>
        <p:spPr>
          <a:xfrm>
            <a:off x="0" y="3943"/>
            <a:ext cx="2167144" cy="68540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79000"/>
                </a:schemeClr>
              </a:gs>
              <a:gs pos="74000">
                <a:schemeClr val="tx2">
                  <a:lumMod val="60000"/>
                  <a:lumOff val="40000"/>
                  <a:alpha val="90000"/>
                </a:schemeClr>
              </a:gs>
              <a:gs pos="83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50000"/>
                  <a:alpha val="8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CEB91F5-C4CB-4AD2-AD66-61E6AAC310F3}"/>
              </a:ext>
            </a:extLst>
          </p:cNvPr>
          <p:cNvSpPr/>
          <p:nvPr userDrawn="1"/>
        </p:nvSpPr>
        <p:spPr>
          <a:xfrm>
            <a:off x="-1" y="-1"/>
            <a:ext cx="215943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CB0763-3B41-4F7B-BA32-72E195C9E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C583C2-5087-4E97-8E1E-3772B43B33DF}"/>
              </a:ext>
            </a:extLst>
          </p:cNvPr>
          <p:cNvSpPr/>
          <p:nvPr userDrawn="1"/>
        </p:nvSpPr>
        <p:spPr>
          <a:xfrm>
            <a:off x="7619" y="6501943"/>
            <a:ext cx="215981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6877C06-A5A7-0F4A-08B3-90952B5C80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32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85" r:id="rId15"/>
    <p:sldLayoutId id="2147483686" r:id="rId16"/>
    <p:sldLayoutId id="2147483687" r:id="rId17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105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D14C5-13D6-4115-814E-CDFF25659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429" y="-3943"/>
            <a:ext cx="10032001" cy="6858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FC459D9-5D94-6997-1427-351DBADC7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 l="41014" r="41014"/>
          <a:stretch/>
        </p:blipFill>
        <p:spPr>
          <a:xfrm>
            <a:off x="-8286" y="102382"/>
            <a:ext cx="2160001" cy="675561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A86FAB-5646-0100-2FB4-68B823AE6983}"/>
              </a:ext>
            </a:extLst>
          </p:cNvPr>
          <p:cNvSpPr/>
          <p:nvPr userDrawn="1"/>
        </p:nvSpPr>
        <p:spPr>
          <a:xfrm>
            <a:off x="0" y="3943"/>
            <a:ext cx="2167144" cy="68540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79000"/>
                </a:schemeClr>
              </a:gs>
              <a:gs pos="74000">
                <a:schemeClr val="tx2">
                  <a:lumMod val="60000"/>
                  <a:lumOff val="40000"/>
                  <a:alpha val="90000"/>
                </a:schemeClr>
              </a:gs>
              <a:gs pos="83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50000"/>
                  <a:alpha val="8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CEB91F5-C4CB-4AD2-AD66-61E6AAC310F3}"/>
              </a:ext>
            </a:extLst>
          </p:cNvPr>
          <p:cNvSpPr/>
          <p:nvPr userDrawn="1"/>
        </p:nvSpPr>
        <p:spPr>
          <a:xfrm>
            <a:off x="-1" y="-1"/>
            <a:ext cx="215943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CB0763-3B41-4F7B-BA32-72E195C9E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C583C2-5087-4E97-8E1E-3772B43B33DF}"/>
              </a:ext>
            </a:extLst>
          </p:cNvPr>
          <p:cNvSpPr/>
          <p:nvPr userDrawn="1"/>
        </p:nvSpPr>
        <p:spPr>
          <a:xfrm>
            <a:off x="7619" y="6501943"/>
            <a:ext cx="215981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6877C06-A5A7-0F4A-08B3-90952B5C80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3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105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D14C5-13D6-4115-814E-CDFF25659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59429" y="-3943"/>
            <a:ext cx="10032001" cy="6858000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FC459D9-5D94-6997-1427-351DBADC7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rcRect l="41014" r="41014"/>
          <a:stretch/>
        </p:blipFill>
        <p:spPr>
          <a:xfrm>
            <a:off x="-8286" y="102382"/>
            <a:ext cx="2160001" cy="675561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A86FAB-5646-0100-2FB4-68B823AE6983}"/>
              </a:ext>
            </a:extLst>
          </p:cNvPr>
          <p:cNvSpPr/>
          <p:nvPr userDrawn="1"/>
        </p:nvSpPr>
        <p:spPr>
          <a:xfrm>
            <a:off x="-8286" y="-19546"/>
            <a:ext cx="2167144" cy="685405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79000"/>
                </a:schemeClr>
              </a:gs>
              <a:gs pos="74000">
                <a:schemeClr val="tx2">
                  <a:lumMod val="60000"/>
                  <a:lumOff val="40000"/>
                  <a:alpha val="90000"/>
                </a:schemeClr>
              </a:gs>
              <a:gs pos="83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50000"/>
                  <a:alpha val="8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CEB91F5-C4CB-4AD2-AD66-61E6AAC310F3}"/>
              </a:ext>
            </a:extLst>
          </p:cNvPr>
          <p:cNvSpPr/>
          <p:nvPr userDrawn="1"/>
        </p:nvSpPr>
        <p:spPr>
          <a:xfrm>
            <a:off x="-1" y="-1"/>
            <a:ext cx="215943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CB0763-3B41-4F7B-BA32-72E195C9E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764" y="6567162"/>
            <a:ext cx="517236" cy="30777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691957BB-3961-4B07-A0B1-388F65A36906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6C583C2-5087-4E97-8E1E-3772B43B33DF}"/>
              </a:ext>
            </a:extLst>
          </p:cNvPr>
          <p:cNvSpPr/>
          <p:nvPr userDrawn="1"/>
        </p:nvSpPr>
        <p:spPr>
          <a:xfrm>
            <a:off x="7619" y="6501943"/>
            <a:ext cx="215981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6877C06-A5A7-0F4A-08B3-90952B5C80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FFF30D-96EB-3A79-174A-61C34B9B4F11}"/>
              </a:ext>
            </a:extLst>
          </p:cNvPr>
          <p:cNvSpPr txBox="1"/>
          <p:nvPr userDrawn="1"/>
        </p:nvSpPr>
        <p:spPr>
          <a:xfrm>
            <a:off x="10797309" y="6101833"/>
            <a:ext cx="1387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0" dirty="0">
                <a:solidFill>
                  <a:srgbClr val="FFC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</a:rPr>
              <a:t>654 492 252</a:t>
            </a:r>
            <a:endParaRPr lang="en-US" sz="1600" b="1" dirty="0">
              <a:solidFill>
                <a:srgbClr val="FFC00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5EFA4229-CEE4-5EB1-2D34-F28389421696}"/>
              </a:ext>
            </a:extLst>
          </p:cNvPr>
          <p:cNvSpPr txBox="1">
            <a:spLocks/>
          </p:cNvSpPr>
          <p:nvPr userDrawn="1"/>
        </p:nvSpPr>
        <p:spPr>
          <a:xfrm>
            <a:off x="0" y="323998"/>
            <a:ext cx="2142836" cy="6169791"/>
          </a:xfrm>
          <a:prstGeom prst="rect">
            <a:avLst/>
          </a:prstGeom>
        </p:spPr>
        <p:txBody>
          <a:bodyPr vert="eaVert"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/>
              <a:defRPr kumimoji="1" sz="3200" b="1" kern="1200">
                <a:solidFill>
                  <a:schemeClr val="bg1"/>
                </a:solidFill>
                <a:effectLst/>
                <a:latin typeface="+mn-ea"/>
                <a:ea typeface="+mn-ea"/>
                <a:cs typeface="+mj-cs"/>
              </a:defRPr>
            </a:lvl1pPr>
          </a:lstStyle>
          <a:p>
            <a:endParaRPr lang="ja-JP" altLang="en-US" dirty="0"/>
          </a:p>
        </p:txBody>
      </p:sp>
      <p:sp>
        <p:nvSpPr>
          <p:cNvPr id="11" name="タイトル プレースホルダー 10">
            <a:extLst>
              <a:ext uri="{FF2B5EF4-FFF2-40B4-BE49-F238E27FC236}">
                <a16:creationId xmlns:a16="http://schemas.microsoft.com/office/drawing/2014/main" id="{55F95B94-C915-1B24-56EE-BCC88580D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4"/>
            <a:ext cx="2142837" cy="6115935"/>
          </a:xfrm>
          <a:prstGeom prst="rect">
            <a:avLst/>
          </a:prstGeom>
        </p:spPr>
        <p:txBody>
          <a:bodyPr vert="eaVert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A66F32C-B0CD-79B4-B680-047D4DF8C631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966252" y="5014030"/>
            <a:ext cx="1080001" cy="108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1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>
          <a:solidFill>
            <a:schemeClr val="bg1"/>
          </a:solidFill>
          <a:latin typeface="游ゴシック" panose="020B0400000000000000" pitchFamily="50" charset="-128"/>
          <a:ea typeface="游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rasbourg-european-parliament-1166650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fi/photo/864705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hurraki.org/english/wiki/Money" TargetMode="Externa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ank-notes-bills-bronze-cash-158776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ja-jp/photo/2977565/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vagareconversar.blogspot.com/2018/02/os-15-paises-mais-bonitos-da-europa.html" TargetMode="External"/><Relationship Id="rId5" Type="http://schemas.openxmlformats.org/officeDocument/2006/relationships/image" Target="../media/image29.jpe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39CD1B-3FF3-490C-B090-B726DEFA0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7491"/>
            <a:ext cx="9144000" cy="2387600"/>
          </a:xfrm>
        </p:spPr>
        <p:txBody>
          <a:bodyPr/>
          <a:lstStyle/>
          <a:p>
            <a:r>
              <a:rPr lang="ja-JP" altLang="en-US" sz="8000" b="1" dirty="0">
                <a:latin typeface="+mn-ea"/>
                <a:ea typeface="+mn-ea"/>
              </a:rPr>
              <a:t>ユーロの経済学</a:t>
            </a:r>
            <a:br>
              <a:rPr lang="en-US" altLang="ja-JP" b="1" dirty="0">
                <a:latin typeface="+mn-ea"/>
                <a:ea typeface="+mn-ea"/>
              </a:rPr>
            </a:br>
            <a:r>
              <a:rPr lang="ja-JP" altLang="en-US" sz="2800" b="1">
                <a:latin typeface="+mn-ea"/>
                <a:ea typeface="+mn-ea"/>
              </a:rPr>
              <a:t>なぜ違う国なのに同じ通貨？</a:t>
            </a:r>
            <a:endParaRPr kumimoji="1" lang="ja-JP" altLang="en-US" b="1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ABBD12C-E91E-44B5-9E76-D9AE8FFC6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0355"/>
            <a:ext cx="9144000" cy="1655762"/>
          </a:xfrm>
        </p:spPr>
        <p:txBody>
          <a:bodyPr>
            <a:normAutofit/>
          </a:bodyPr>
          <a:lstStyle/>
          <a:p>
            <a:r>
              <a:rPr kumimoji="1" lang="ja-JP" altLang="en-US" sz="2800" b="1" dirty="0">
                <a:solidFill>
                  <a:srgbClr val="002060"/>
                </a:solidFill>
                <a:latin typeface="+mn-ea"/>
                <a:ea typeface="+mn-ea"/>
              </a:rPr>
              <a:t>2026年8月23日　オープンキャンパス</a:t>
            </a:r>
            <a:endParaRPr kumimoji="1" lang="en-US" altLang="ja-JP" sz="2800" b="1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A6EBB9-1328-406E-8930-1D28DDFCE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9187" y="5985320"/>
            <a:ext cx="7828277" cy="490617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/>
              <a:t>福山大学経済学部国際経済学科</a:t>
            </a:r>
            <a:r>
              <a:rPr lang="ja-JP" altLang="en-US"/>
              <a:t>専任講師　鈴木　伸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8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63547E1-7641-F29E-2024-FDBD9389C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501" y="4272902"/>
            <a:ext cx="4620189" cy="207881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F1A110B-B54F-E972-D109-4B0AEDCCF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601" y="3633468"/>
            <a:ext cx="2265209" cy="271825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D04953D-92E9-E426-A04C-D1D854135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自己紹介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ED3C9F30-D8A4-CD2F-51F9-103E2B6D7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62999"/>
              </p:ext>
            </p:extLst>
          </p:nvPr>
        </p:nvGraphicFramePr>
        <p:xfrm>
          <a:off x="2357073" y="343380"/>
          <a:ext cx="8691927" cy="3290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333">
                  <a:extLst>
                    <a:ext uri="{9D8B030D-6E8A-4147-A177-3AD203B41FA5}">
                      <a16:colId xmlns:a16="http://schemas.microsoft.com/office/drawing/2014/main" val="1755673835"/>
                    </a:ext>
                  </a:extLst>
                </a:gridCol>
                <a:gridCol w="6376594">
                  <a:extLst>
                    <a:ext uri="{9D8B030D-6E8A-4147-A177-3AD203B41FA5}">
                      <a16:colId xmlns:a16="http://schemas.microsoft.com/office/drawing/2014/main" val="409061884"/>
                    </a:ext>
                  </a:extLst>
                </a:gridCol>
              </a:tblGrid>
              <a:tr h="58131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名前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　鈴木　伸　（すずき　しん）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15978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役職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2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　経済学部　国際経済学科　講師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38229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研究</a:t>
                      </a:r>
                      <a:endParaRPr kumimoji="1" lang="en-US" altLang="ja-JP" b="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kumimoji="1" lang="ja-JP" altLang="en-US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テーマ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kumimoji="1" lang="ja-JP" altLang="en-US" sz="2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フィンランドを中心に、政策におけるヨーロッパ諸国と</a:t>
                      </a:r>
                      <a:r>
                        <a:rPr kumimoji="1" lang="en-US" altLang="ja-JP" sz="2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EU</a:t>
                      </a:r>
                      <a:r>
                        <a:rPr kumimoji="1" lang="ja-JP" altLang="en-US" sz="2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の関係性を研究しています！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174773"/>
                  </a:ext>
                </a:extLst>
              </a:tr>
              <a:tr h="1156203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担当</a:t>
                      </a:r>
                      <a:endParaRPr kumimoji="1" lang="en-US" altLang="ja-JP" b="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kumimoji="1" lang="ja-JP" altLang="en-US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科目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ja-JP" sz="2000" b="1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EU</a:t>
                      </a:r>
                      <a:r>
                        <a:rPr kumimoji="1" lang="ja-JP" altLang="en-US" sz="2000" b="1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経済論</a:t>
                      </a:r>
                      <a:r>
                        <a:rPr kumimoji="1" lang="en-US" altLang="ja-JP" sz="2000" b="1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Ⅰ</a:t>
                      </a:r>
                      <a:r>
                        <a:rPr kumimoji="1" lang="ja-JP" altLang="en-US" sz="2000" b="1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・</a:t>
                      </a:r>
                      <a:r>
                        <a:rPr kumimoji="1" lang="en-US" altLang="ja-JP" sz="2000" b="1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Ⅱ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1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専門英語</a:t>
                      </a:r>
                      <a:endParaRPr kumimoji="1" lang="en-US" altLang="ja-JP" sz="2000" b="1" dirty="0">
                        <a:solidFill>
                          <a:srgbClr val="002060"/>
                        </a:solidFill>
                        <a:latin typeface="+mn-ea"/>
                        <a:ea typeface="+mn-ea"/>
                      </a:endParaRP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2000" b="1" dirty="0">
                          <a:solidFill>
                            <a:srgbClr val="002060"/>
                          </a:solidFill>
                          <a:latin typeface="+mn-ea"/>
                          <a:ea typeface="+mn-ea"/>
                        </a:rPr>
                        <a:t>国際機関</a:t>
                      </a:r>
                      <a:r>
                        <a:rPr kumimoji="1" lang="ja-JP" altLang="en-US" sz="2000" b="1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142311"/>
                  </a:ext>
                </a:extLst>
              </a:tr>
            </a:tbl>
          </a:graphicData>
        </a:graphic>
      </p:graphicFrame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97E989-9872-5B9A-9685-00B1ADF76D8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2026/8/23</a:t>
            </a: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983C3FA-49DD-8A56-F24B-07A4321B01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26"/>
          <a:stretch>
            <a:fillRect/>
          </a:stretch>
        </p:blipFill>
        <p:spPr>
          <a:xfrm>
            <a:off x="9613877" y="3847416"/>
            <a:ext cx="1722833" cy="229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54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43DB8F-D110-6DE5-3050-30376F98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本日の講演テーマ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C8071E-FE6F-475B-1FB9-C58E02347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6224" y="323998"/>
            <a:ext cx="9006131" cy="590551"/>
          </a:xfrm>
        </p:spPr>
        <p:txBody>
          <a:bodyPr/>
          <a:lstStyle/>
          <a:p>
            <a:pPr marL="0" indent="0" algn="ctr">
              <a:buNone/>
            </a:pPr>
            <a:r>
              <a:rPr kumimoji="1" lang="ja-JP" altLang="en-US" b="1" dirty="0"/>
              <a:t>なぜ</a:t>
            </a:r>
            <a:r>
              <a:rPr kumimoji="1" lang="en-US" altLang="ja-JP" b="1" dirty="0"/>
              <a:t>EU</a:t>
            </a:r>
            <a:r>
              <a:rPr kumimoji="1" lang="ja-JP" altLang="en-US" b="1" dirty="0"/>
              <a:t>諸国の研究をするのか？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023DCE29-FEE7-DFD1-455A-11A11BEC9010}"/>
              </a:ext>
            </a:extLst>
          </p:cNvPr>
          <p:cNvSpPr txBox="1">
            <a:spLocks/>
          </p:cNvSpPr>
          <p:nvPr/>
        </p:nvSpPr>
        <p:spPr>
          <a:xfrm>
            <a:off x="2436226" y="1688573"/>
            <a:ext cx="9006132" cy="10095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ja-JP" b="1" dirty="0"/>
              <a:t>EU</a:t>
            </a:r>
            <a:r>
              <a:rPr lang="ja-JP" altLang="en-US" b="1" dirty="0"/>
              <a:t>という組織の謎で気になる</a:t>
            </a:r>
            <a:endParaRPr lang="en-US" altLang="ja-JP" b="1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b="1" dirty="0"/>
              <a:t>各国と</a:t>
            </a:r>
            <a:r>
              <a:rPr lang="en-US" altLang="ja-JP" b="1" dirty="0"/>
              <a:t>EU</a:t>
            </a:r>
            <a:r>
              <a:rPr lang="ja-JP" altLang="en-US" b="1" dirty="0"/>
              <a:t>の関わり方がそれぞれ違うので面白い</a:t>
            </a:r>
          </a:p>
        </p:txBody>
      </p:sp>
      <p:sp>
        <p:nvSpPr>
          <p:cNvPr id="5" name="二等辺三角形 4">
            <a:extLst>
              <a:ext uri="{FF2B5EF4-FFF2-40B4-BE49-F238E27FC236}">
                <a16:creationId xmlns:a16="http://schemas.microsoft.com/office/drawing/2014/main" id="{283C256E-99A0-0F95-A9E9-5D83926D5528}"/>
              </a:ext>
            </a:extLst>
          </p:cNvPr>
          <p:cNvSpPr/>
          <p:nvPr/>
        </p:nvSpPr>
        <p:spPr>
          <a:xfrm rot="10800000">
            <a:off x="6939292" y="1039991"/>
            <a:ext cx="741405" cy="33363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 descr="屋外, 建物, 大きい, タワー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D546FE-1C73-29F4-0E12-951A0FBF1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54492" y="3013024"/>
            <a:ext cx="4951971" cy="3301314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426514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9600F1-3A6B-D296-7AFB-347D94DC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ユーロについて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F9191E6-086C-E40F-F0A1-2D5A91AD24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65338" y="364211"/>
            <a:ext cx="9412287" cy="5882679"/>
          </a:xfrm>
          <a:effectLst>
            <a:softEdge rad="635000"/>
          </a:effec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6A35E2D-45B1-FF19-351E-2D741195C0D5}"/>
              </a:ext>
            </a:extLst>
          </p:cNvPr>
          <p:cNvSpPr txBox="1"/>
          <p:nvPr/>
        </p:nvSpPr>
        <p:spPr>
          <a:xfrm>
            <a:off x="3009900" y="2624063"/>
            <a:ext cx="8467725" cy="156966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ユーロという通貨について</a:t>
            </a:r>
            <a:endParaRPr kumimoji="1" lang="en-US" altLang="ja-JP" sz="4800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r>
              <a:rPr kumimoji="1" lang="ja-JP" altLang="en-US" sz="4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どれぐらい知っていますか？</a:t>
            </a:r>
          </a:p>
        </p:txBody>
      </p:sp>
    </p:spTree>
    <p:extLst>
      <p:ext uri="{BB962C8B-B14F-4D97-AF65-F5344CB8AC3E}">
        <p14:creationId xmlns:p14="http://schemas.microsoft.com/office/powerpoint/2010/main" val="344221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42E6D-9216-5795-EAAF-0EAF6A41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2354C46-CF6E-8453-DA75-51D8F75C8DC9}"/>
              </a:ext>
            </a:extLst>
          </p:cNvPr>
          <p:cNvSpPr/>
          <p:nvPr/>
        </p:nvSpPr>
        <p:spPr>
          <a:xfrm>
            <a:off x="2409310" y="412492"/>
            <a:ext cx="8716138" cy="9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Q.</a:t>
            </a: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ヨーロッパでユーロを導入しているのは何カ国？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8AA8CC7-4D50-A2D8-3CF1-DE61A919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もんだい</a:t>
            </a:r>
            <a:endParaRPr 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0937F0F-534B-83ED-D174-4CC3828F67D4}"/>
              </a:ext>
            </a:extLst>
          </p:cNvPr>
          <p:cNvSpPr txBox="1"/>
          <p:nvPr/>
        </p:nvSpPr>
        <p:spPr>
          <a:xfrm>
            <a:off x="8546065" y="1984334"/>
            <a:ext cx="2426735" cy="369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4000" b="1" dirty="0">
                <a:solidFill>
                  <a:srgbClr val="0070C0"/>
                </a:solidFill>
              </a:rPr>
              <a:t>１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.</a:t>
            </a:r>
            <a:r>
              <a:rPr kumimoji="1" lang="ja-JP" altLang="en-US" sz="4000" b="1" dirty="0">
                <a:solidFill>
                  <a:srgbClr val="0070C0"/>
                </a:solidFill>
              </a:rPr>
              <a:t>　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27</a:t>
            </a:r>
          </a:p>
          <a:p>
            <a:pPr>
              <a:lnSpc>
                <a:spcPct val="150000"/>
              </a:lnSpc>
            </a:pPr>
            <a:r>
              <a:rPr kumimoji="1" lang="ja-JP" altLang="en-US" sz="4000" b="1" dirty="0">
                <a:solidFill>
                  <a:srgbClr val="0070C0"/>
                </a:solidFill>
              </a:rPr>
              <a:t>２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.</a:t>
            </a:r>
            <a:r>
              <a:rPr kumimoji="1" lang="ja-JP" altLang="en-US" sz="4000" b="1" dirty="0">
                <a:solidFill>
                  <a:srgbClr val="0070C0"/>
                </a:solidFill>
              </a:rPr>
              <a:t>　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21</a:t>
            </a:r>
          </a:p>
          <a:p>
            <a:pPr>
              <a:lnSpc>
                <a:spcPct val="150000"/>
              </a:lnSpc>
            </a:pPr>
            <a:r>
              <a:rPr kumimoji="1" lang="ja-JP" altLang="en-US" sz="4000" b="1" dirty="0">
                <a:solidFill>
                  <a:srgbClr val="0070C0"/>
                </a:solidFill>
              </a:rPr>
              <a:t>３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.</a:t>
            </a:r>
            <a:r>
              <a:rPr kumimoji="1" lang="ja-JP" altLang="en-US" sz="4000" b="1" dirty="0">
                <a:solidFill>
                  <a:srgbClr val="0070C0"/>
                </a:solidFill>
              </a:rPr>
              <a:t>　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15</a:t>
            </a:r>
          </a:p>
          <a:p>
            <a:pPr>
              <a:lnSpc>
                <a:spcPct val="150000"/>
              </a:lnSpc>
            </a:pPr>
            <a:r>
              <a:rPr kumimoji="1" lang="ja-JP" altLang="en-US" sz="4000" b="1" dirty="0">
                <a:solidFill>
                  <a:srgbClr val="0070C0"/>
                </a:solidFill>
              </a:rPr>
              <a:t>４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.</a:t>
            </a:r>
            <a:r>
              <a:rPr kumimoji="1" lang="ja-JP" altLang="en-US" sz="4000" b="1" dirty="0">
                <a:solidFill>
                  <a:srgbClr val="0070C0"/>
                </a:solidFill>
              </a:rPr>
              <a:t>　</a:t>
            </a:r>
            <a:r>
              <a:rPr kumimoji="1" lang="en-US" altLang="ja-JP" sz="4000" b="1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BD59FD-D820-17FD-CFE7-866B157C3E9C}"/>
              </a:ext>
            </a:extLst>
          </p:cNvPr>
          <p:cNvSpPr txBox="1"/>
          <p:nvPr/>
        </p:nvSpPr>
        <p:spPr>
          <a:xfrm>
            <a:off x="8142667" y="6169254"/>
            <a:ext cx="294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※EU</a:t>
            </a:r>
            <a:r>
              <a:rPr kumimoji="1" lang="ja-JP" altLang="en-US"/>
              <a:t>加盟国は</a:t>
            </a:r>
            <a:r>
              <a:rPr kumimoji="1" lang="en-US" altLang="ja-JP"/>
              <a:t>27</a:t>
            </a:r>
            <a:r>
              <a:rPr kumimoji="1" lang="ja-JP" altLang="en-US"/>
              <a:t>カ国</a:t>
            </a: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085FE9EB-4AAD-4FC3-4B1F-C57E15DE7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801350" y="5219127"/>
            <a:ext cx="1219886" cy="1219886"/>
          </a:xfrm>
          <a:prstGeom prst="rect">
            <a:avLst/>
          </a:prstGeom>
        </p:spPr>
      </p:pic>
      <p:pic>
        <p:nvPicPr>
          <p:cNvPr id="7" name="図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998FBFC3-4FBF-4E3E-9943-2833BBAC21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335571" y="1734953"/>
            <a:ext cx="6017759" cy="4011839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97735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72D0B-B69C-7FFE-75A5-637F69C38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こたえ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A2AD9A-9510-CEA5-3E52-B6552F338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6676" y="5582202"/>
            <a:ext cx="4253192" cy="285198"/>
          </a:xfrm>
        </p:spPr>
        <p:txBody>
          <a:bodyPr>
            <a:normAutofit fontScale="92500" lnSpcReduction="10000"/>
          </a:bodyPr>
          <a:lstStyle/>
          <a:p>
            <a:pPr marL="0" indent="0" algn="r">
              <a:buNone/>
            </a:pPr>
            <a:r>
              <a:rPr kumimoji="1" lang="ja-JP" altLang="en-US" sz="1600" dirty="0"/>
              <a:t>出典：日本経済新聞</a:t>
            </a:r>
            <a:r>
              <a:rPr lang="en-US" altLang="ja-JP" sz="1600" dirty="0"/>
              <a:t>(2023)</a:t>
            </a:r>
            <a:endParaRPr kumimoji="1" lang="ja-JP" altLang="en-US" sz="16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D4BCBD7-B50F-7CB2-F235-941A84A76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676" y="1390650"/>
            <a:ext cx="4253192" cy="419155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3D5C3B-19C8-FBF8-65BB-400D3903C724}"/>
              </a:ext>
            </a:extLst>
          </p:cNvPr>
          <p:cNvSpPr txBox="1"/>
          <p:nvPr/>
        </p:nvSpPr>
        <p:spPr>
          <a:xfrm>
            <a:off x="2771775" y="2105561"/>
            <a:ext cx="4914901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600" b="1" dirty="0">
                <a:solidFill>
                  <a:srgbClr val="C00000"/>
                </a:solidFill>
              </a:rPr>
              <a:t>21</a:t>
            </a:r>
            <a:r>
              <a:rPr kumimoji="1" lang="ja-JP" altLang="en-US" sz="7200" b="1" dirty="0"/>
              <a:t>カ国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D76A58-2D4A-2BB5-D1E4-30CEC2349119}"/>
              </a:ext>
            </a:extLst>
          </p:cNvPr>
          <p:cNvSpPr txBox="1"/>
          <p:nvPr/>
        </p:nvSpPr>
        <p:spPr>
          <a:xfrm>
            <a:off x="8058150" y="6042633"/>
            <a:ext cx="3295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＋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26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　ブルガリア</a:t>
            </a:r>
          </a:p>
        </p:txBody>
      </p:sp>
    </p:spTree>
    <p:extLst>
      <p:ext uri="{BB962C8B-B14F-4D97-AF65-F5344CB8AC3E}">
        <p14:creationId xmlns:p14="http://schemas.microsoft.com/office/powerpoint/2010/main" val="342341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A6ED-564A-E685-8B17-12CDF3707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図 38" descr="マップ&#10;&#10;自動的に生成された説明">
            <a:extLst>
              <a:ext uri="{FF2B5EF4-FFF2-40B4-BE49-F238E27FC236}">
                <a16:creationId xmlns:a16="http://schemas.microsoft.com/office/drawing/2014/main" id="{D61E2350-ED27-0A72-D9E8-8AD254C199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5" r="1979"/>
          <a:stretch/>
        </p:blipFill>
        <p:spPr>
          <a:xfrm>
            <a:off x="2785522" y="0"/>
            <a:ext cx="9405908" cy="6858000"/>
          </a:xfrm>
          <a:prstGeom prst="rect">
            <a:avLst/>
          </a:prstGeom>
        </p:spPr>
      </p:pic>
      <p:pic>
        <p:nvPicPr>
          <p:cNvPr id="37" name="コンテンツ プレースホルダー 36" descr="マップ&#10;&#10;自動的に生成された説明">
            <a:extLst>
              <a:ext uri="{FF2B5EF4-FFF2-40B4-BE49-F238E27FC236}">
                <a16:creationId xmlns:a16="http://schemas.microsoft.com/office/drawing/2014/main" id="{F8FACCF7-0220-E072-E9CB-1C486C65B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" r="19018"/>
          <a:stretch/>
        </p:blipFill>
        <p:spPr>
          <a:xfrm>
            <a:off x="2785521" y="0"/>
            <a:ext cx="7738099" cy="6858000"/>
          </a:xfr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51E72213-3E9F-BD18-5740-F1C1BD71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ヨーロッパの現在</a:t>
            </a:r>
            <a:endParaRPr lang="en-US" dirty="0"/>
          </a:p>
        </p:txBody>
      </p:sp>
      <p:pic>
        <p:nvPicPr>
          <p:cNvPr id="44" name="Picture 2">
            <a:extLst>
              <a:ext uri="{FF2B5EF4-FFF2-40B4-BE49-F238E27FC236}">
                <a16:creationId xmlns:a16="http://schemas.microsoft.com/office/drawing/2014/main" id="{BAB58F88-AE55-68E0-1111-1A5ED8BA5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-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FD3CA9-04B1-FCE5-7A2A-13510630428B}"/>
              </a:ext>
            </a:extLst>
          </p:cNvPr>
          <p:cNvSpPr txBox="1"/>
          <p:nvPr/>
        </p:nvSpPr>
        <p:spPr>
          <a:xfrm>
            <a:off x="3105150" y="3429000"/>
            <a:ext cx="171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EU</a:t>
            </a:r>
            <a:r>
              <a:rPr kumimoji="1" lang="ja-JP" altLang="en-US"/>
              <a:t>に加盟している国と</a:t>
            </a:r>
          </a:p>
        </p:txBody>
      </p:sp>
    </p:spTree>
    <p:extLst>
      <p:ext uri="{BB962C8B-B14F-4D97-AF65-F5344CB8AC3E}">
        <p14:creationId xmlns:p14="http://schemas.microsoft.com/office/powerpoint/2010/main" val="2474471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C31076-CA97-6F52-F431-BCC75D53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多様なヨーロッパの国々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94349D-63BA-EF49-9590-25EB835D0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825" y="505746"/>
            <a:ext cx="8604394" cy="240760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3200" b="1"/>
          </a:p>
          <a:p>
            <a:pPr marL="0" indent="0">
              <a:buNone/>
            </a:pPr>
            <a:r>
              <a:rPr lang="ja-JP" altLang="en-US" b="1"/>
              <a:t>  デンマーク、スウェーデン、ポーランド、</a:t>
            </a:r>
            <a:endParaRPr lang="en-US" altLang="ja-JP" b="1"/>
          </a:p>
          <a:p>
            <a:pPr marL="0" indent="0">
              <a:buNone/>
            </a:pPr>
            <a:r>
              <a:rPr lang="ja-JP" altLang="en-US" b="1"/>
              <a:t>  チェコ、ブルガリア、ルーマニア、ハンガリー</a:t>
            </a:r>
            <a:endParaRPr lang="en-US" altLang="ja-JP" b="1"/>
          </a:p>
          <a:p>
            <a:pPr marL="0" indent="0">
              <a:buNone/>
            </a:pPr>
            <a:endParaRPr lang="en-US" altLang="ja-JP" sz="3200" b="1"/>
          </a:p>
          <a:p>
            <a:pPr marL="0" indent="0">
              <a:buNone/>
            </a:pPr>
            <a:endParaRPr lang="en-US" altLang="ja-JP" sz="3200" b="1"/>
          </a:p>
          <a:p>
            <a:pPr marL="0" indent="0">
              <a:buNone/>
            </a:pPr>
            <a:endParaRPr lang="en-US" altLang="ja-JP" sz="3200" b="1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69407EA-6456-1670-017F-595CE1BDEF86}"/>
              </a:ext>
            </a:extLst>
          </p:cNvPr>
          <p:cNvSpPr txBox="1"/>
          <p:nvPr/>
        </p:nvSpPr>
        <p:spPr>
          <a:xfrm>
            <a:off x="2546824" y="457374"/>
            <a:ext cx="8604395" cy="461665"/>
          </a:xfrm>
          <a:prstGeom prst="rect">
            <a:avLst/>
          </a:prstGeom>
          <a:solidFill>
            <a:srgbClr val="002060"/>
          </a:solidFill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EU</a:t>
            </a:r>
            <a:r>
              <a:rPr kumimoji="0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加盟国だけどユーロを導入していない</a:t>
            </a:r>
            <a:endParaRPr kumimoji="0" lang="en-US" altLang="ja-JP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2AB2D9E-A2DB-178D-F9C4-902F2611CE83}"/>
              </a:ext>
            </a:extLst>
          </p:cNvPr>
          <p:cNvSpPr txBox="1"/>
          <p:nvPr/>
        </p:nvSpPr>
        <p:spPr>
          <a:xfrm>
            <a:off x="9072563" y="2088636"/>
            <a:ext cx="18680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7</a:t>
            </a:r>
            <a:r>
              <a:rPr kumimoji="0" lang="ja-JP" altLang="en-US" sz="4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ヶ国</a:t>
            </a:r>
            <a:endParaRPr kumimoji="0" lang="en-US" altLang="ja-JP" sz="4800" b="1" i="0" u="sng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0A70EA33-73F8-08D0-5946-B1E38031D365}"/>
              </a:ext>
            </a:extLst>
          </p:cNvPr>
          <p:cNvSpPr txBox="1">
            <a:spLocks/>
          </p:cNvSpPr>
          <p:nvPr/>
        </p:nvSpPr>
        <p:spPr>
          <a:xfrm>
            <a:off x="2546825" y="3429001"/>
            <a:ext cx="8604394" cy="2426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b="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ja-JP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EU</a:t>
            </a: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加盟国（</a:t>
            </a:r>
            <a:r>
              <a:rPr kumimoji="1" lang="en-US" altLang="ja-JP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27</a:t>
            </a: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ヶ国）－アイルランド・キプロス</a:t>
            </a:r>
            <a:endParaRPr kumimoji="1" lang="en-US" altLang="ja-JP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　　　 </a:t>
            </a:r>
            <a:r>
              <a:rPr kumimoji="1" lang="en-US" altLang="ja-JP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+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EFTA</a:t>
            </a: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加盟国（</a:t>
            </a:r>
            <a:r>
              <a:rPr kumimoji="1" lang="en-US" altLang="ja-JP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4</a:t>
            </a: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ヵ国）</a:t>
            </a:r>
            <a:endParaRPr kumimoji="1" lang="en-US" altLang="ja-JP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D36FF2F-153B-5298-249C-6944CF0C1987}"/>
              </a:ext>
            </a:extLst>
          </p:cNvPr>
          <p:cNvSpPr txBox="1"/>
          <p:nvPr/>
        </p:nvSpPr>
        <p:spPr>
          <a:xfrm>
            <a:off x="2546823" y="3198167"/>
            <a:ext cx="8604395" cy="461665"/>
          </a:xfrm>
          <a:prstGeom prst="rect">
            <a:avLst/>
          </a:prstGeom>
          <a:solidFill>
            <a:srgbClr val="002060"/>
          </a:solidFill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シェンゲン協定加盟国</a:t>
            </a:r>
            <a:endParaRPr kumimoji="0" lang="en-US" altLang="ja-JP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FC915EB-D377-E877-91A1-E40EBFEC11DF}"/>
              </a:ext>
            </a:extLst>
          </p:cNvPr>
          <p:cNvSpPr txBox="1"/>
          <p:nvPr/>
        </p:nvSpPr>
        <p:spPr>
          <a:xfrm>
            <a:off x="7074020" y="4922051"/>
            <a:ext cx="36808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=</a:t>
            </a:r>
            <a:r>
              <a:rPr kumimoji="0" lang="ja-JP" altLang="en-US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　</a:t>
            </a:r>
            <a:r>
              <a:rPr kumimoji="0" lang="en-US" altLang="ja-JP" sz="4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29</a:t>
            </a:r>
            <a:r>
              <a:rPr kumimoji="0" lang="ja-JP" altLang="en-US" sz="4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ヶ国</a:t>
            </a:r>
            <a:endParaRPr kumimoji="0" lang="en-US" altLang="ja-JP" sz="4800" b="1" i="0" u="sng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CDC9057-E60A-E057-557E-8E4E22175059}"/>
              </a:ext>
            </a:extLst>
          </p:cNvPr>
          <p:cNvSpPr txBox="1"/>
          <p:nvPr/>
        </p:nvSpPr>
        <p:spPr>
          <a:xfrm>
            <a:off x="2546823" y="6086303"/>
            <a:ext cx="8604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国ごとで統合度合が異なる！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FD6363-F5A2-5008-8184-E1AD0CBDE38D}"/>
              </a:ext>
            </a:extLst>
          </p:cNvPr>
          <p:cNvSpPr txBox="1"/>
          <p:nvPr/>
        </p:nvSpPr>
        <p:spPr>
          <a:xfrm>
            <a:off x="2686410" y="2223995"/>
            <a:ext cx="5982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cf.</a:t>
            </a:r>
            <a:r>
              <a:rPr kumimoji="0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東欧はなぜユーロを導入しないのか？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1FE69CB-5CDD-991C-F312-587C52BB8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5448" y="5256379"/>
            <a:ext cx="739129" cy="73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9CEAE0-6D42-1B3F-7D68-8C9242504E6F}"/>
              </a:ext>
            </a:extLst>
          </p:cNvPr>
          <p:cNvSpPr txBox="1"/>
          <p:nvPr/>
        </p:nvSpPr>
        <p:spPr>
          <a:xfrm flipH="1">
            <a:off x="10497066" y="6021619"/>
            <a:ext cx="1995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259</a:t>
            </a:r>
            <a:r>
              <a:rPr lang="ja-JP" altLang="en-US" sz="1400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995 470</a:t>
            </a:r>
            <a:endParaRPr lang="ja-JP" altLang="en-US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64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086671-F752-5AFB-47B1-30E3A303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国による違い</a:t>
            </a:r>
            <a:endParaRPr 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29E4B8-FD45-53CD-B985-4714A6C45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878" y="1261641"/>
            <a:ext cx="9680294" cy="674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200" b="1"/>
              <a:t>どうして国によってユーロを導入が違うのか？</a:t>
            </a:r>
            <a:endParaRPr lang="en-US" altLang="ja-JP" sz="3200" b="1"/>
          </a:p>
        </p:txBody>
      </p:sp>
      <p:pic>
        <p:nvPicPr>
          <p:cNvPr id="5" name="図 4" descr="背景パター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5EEEE01-CAFC-9B81-2EDC-4306E197C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590636" y="2197371"/>
            <a:ext cx="7162800" cy="3742563"/>
          </a:xfrm>
          <a:prstGeom prst="rect">
            <a:avLst/>
          </a:prstGeom>
          <a:effectLst>
            <a:softEdge rad="635000"/>
          </a:effectLst>
        </p:spPr>
      </p:pic>
    </p:spTree>
    <p:extLst>
      <p:ext uri="{BB962C8B-B14F-4D97-AF65-F5344CB8AC3E}">
        <p14:creationId xmlns:p14="http://schemas.microsoft.com/office/powerpoint/2010/main" val="96238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01C7E2-B0ED-79AD-7C0B-55925B1BC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ゲームで考えよう！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4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392D3A-0186-9B9D-336F-31B4B24E1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本日のゲーム参加画面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0BB5E67F-E8F7-170F-9299-20E789BB3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1060" y="144820"/>
            <a:ext cx="6568359" cy="656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24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E92541-8126-5B98-F2ED-BB1A9E15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ゲームの振り返り</a:t>
            </a:r>
          </a:p>
        </p:txBody>
      </p:sp>
    </p:spTree>
    <p:extLst>
      <p:ext uri="{BB962C8B-B14F-4D97-AF65-F5344CB8AC3E}">
        <p14:creationId xmlns:p14="http://schemas.microsoft.com/office/powerpoint/2010/main" val="8793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6B10CD-AA75-9FBE-4CCD-74449F24D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141" y="963826"/>
            <a:ext cx="9349946" cy="57458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sz="3600" b="1" dirty="0">
                <a:solidFill>
                  <a:srgbClr val="C00000"/>
                </a:solidFill>
              </a:rPr>
              <a:t>各チーム国として貿易で利益をあげよう！</a:t>
            </a:r>
            <a:endParaRPr lang="en-US" altLang="ja-JP" sz="3600" b="1" dirty="0">
              <a:solidFill>
                <a:srgbClr val="C00000"/>
              </a:solidFill>
            </a:endParaRPr>
          </a:p>
          <a:p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　　お菓子を巧みに貿易して、自分の国をヨーロッパで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　　</a:t>
            </a:r>
            <a:r>
              <a:rPr kumimoji="1" lang="ja-JP" altLang="en-US" dirty="0"/>
              <a:t>一番豊かにすることを目指すゲームです。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lnSpc>
                <a:spcPct val="150000"/>
              </a:lnSpc>
              <a:buNone/>
            </a:pPr>
            <a:r>
              <a:rPr lang="ja-JP" altLang="en-US" u="sng" dirty="0"/>
              <a:t>みなさんの国の</a:t>
            </a:r>
            <a:r>
              <a:rPr kumimoji="1" lang="ja-JP" altLang="en-US" u="sng" dirty="0"/>
              <a:t>資産（ゲーム開始時）</a:t>
            </a:r>
            <a:endParaRPr kumimoji="1" lang="en-US" altLang="ja-JP" u="sng" dirty="0"/>
          </a:p>
          <a:p>
            <a:pPr lvl="1">
              <a:lnSpc>
                <a:spcPct val="150000"/>
              </a:lnSpc>
            </a:pPr>
            <a:r>
              <a:rPr kumimoji="1" lang="ja-JP" altLang="en-US" sz="3600" b="1" dirty="0"/>
              <a:t>自国通貨</a:t>
            </a:r>
            <a:r>
              <a:rPr kumimoji="1" lang="en-US" altLang="ja-JP" sz="3600" b="1" dirty="0"/>
              <a:t>: </a:t>
            </a:r>
            <a:r>
              <a:rPr kumimoji="1" lang="en-US" altLang="ja-JP" sz="3600" b="1" dirty="0">
                <a:solidFill>
                  <a:srgbClr val="0070C0"/>
                </a:solidFill>
              </a:rPr>
              <a:t>30</a:t>
            </a:r>
            <a:r>
              <a:rPr kumimoji="1" lang="ja-JP" altLang="en-US" sz="3600" b="1" dirty="0">
                <a:solidFill>
                  <a:srgbClr val="0070C0"/>
                </a:solidFill>
              </a:rPr>
              <a:t>＄</a:t>
            </a:r>
            <a:endParaRPr kumimoji="1" lang="en-US" altLang="ja-JP" sz="3600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  <a:tabLst>
                <a:tab pos="3132138" algn="l"/>
              </a:tabLst>
            </a:pPr>
            <a:r>
              <a:rPr kumimoji="1" lang="ja-JP" altLang="en-US" sz="3600" b="1" dirty="0"/>
              <a:t>お菓子</a:t>
            </a:r>
            <a:r>
              <a:rPr kumimoji="1" lang="en-US" altLang="ja-JP" sz="3600" b="1" dirty="0"/>
              <a:t>: </a:t>
            </a:r>
            <a:r>
              <a:rPr lang="ja-JP" altLang="en-US" sz="3600" b="1" dirty="0">
                <a:solidFill>
                  <a:srgbClr val="0070C0"/>
                </a:solidFill>
              </a:rPr>
              <a:t>各</a:t>
            </a:r>
            <a:r>
              <a:rPr kumimoji="1" lang="ja-JP" altLang="en-US" sz="3600" b="1" dirty="0">
                <a:solidFill>
                  <a:srgbClr val="0070C0"/>
                </a:solidFill>
              </a:rPr>
              <a:t>国の色の飴 </a:t>
            </a:r>
            <a:r>
              <a:rPr lang="ja-JP" altLang="en-US" sz="3600" b="1" dirty="0">
                <a:solidFill>
                  <a:srgbClr val="0070C0"/>
                </a:solidFill>
              </a:rPr>
              <a:t>８</a:t>
            </a:r>
            <a:r>
              <a:rPr kumimoji="1" lang="ja-JP" altLang="en-US" sz="3600" b="1" dirty="0">
                <a:solidFill>
                  <a:srgbClr val="0070C0"/>
                </a:solidFill>
              </a:rPr>
              <a:t>個</a:t>
            </a:r>
            <a:endParaRPr kumimoji="1" lang="en-US" altLang="ja-JP" sz="3600" b="1" dirty="0">
              <a:solidFill>
                <a:srgbClr val="0070C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ja-JP" altLang="en-US" sz="3600" b="1" dirty="0"/>
              <a:t>中央銀行カード</a:t>
            </a:r>
            <a:r>
              <a:rPr kumimoji="1" lang="en-US" altLang="ja-JP" sz="3600" b="1" dirty="0"/>
              <a:t>: </a:t>
            </a:r>
            <a:r>
              <a:rPr kumimoji="1" lang="en-US" altLang="ja-JP" sz="3600" b="1" dirty="0">
                <a:solidFill>
                  <a:srgbClr val="0070C0"/>
                </a:solidFill>
              </a:rPr>
              <a:t>1</a:t>
            </a:r>
            <a:r>
              <a:rPr kumimoji="1" lang="ja-JP" altLang="en-US" sz="3600" b="1" dirty="0">
                <a:solidFill>
                  <a:srgbClr val="0070C0"/>
                </a:solidFill>
              </a:rPr>
              <a:t>枚 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E2CD69C-61F1-C59E-1B47-61FFB2AEB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欧州貿易ゲーム　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F96A628-DABC-4F4A-0311-5EFF3506CE20}"/>
              </a:ext>
            </a:extLst>
          </p:cNvPr>
          <p:cNvSpPr/>
          <p:nvPr/>
        </p:nvSpPr>
        <p:spPr>
          <a:xfrm>
            <a:off x="10848975" y="4924425"/>
            <a:ext cx="1266825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79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3D944A-F01C-7230-8127-035B944F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-1"/>
            <a:ext cx="8908051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ja-JP" sz="2000">
              <a:highlight>
                <a:srgbClr val="002060"/>
              </a:highlight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chemeClr val="bg1"/>
                </a:solidFill>
                <a:highlight>
                  <a:srgbClr val="002060"/>
                </a:highlight>
              </a:rPr>
              <a:t>チーム分け</a:t>
            </a:r>
            <a:endParaRPr lang="en-US" altLang="ja-JP" sz="2000" b="1">
              <a:solidFill>
                <a:schemeClr val="bg1"/>
              </a:solidFill>
              <a:highlight>
                <a:srgbClr val="00206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ja-JP"/>
              <a:t>4</a:t>
            </a:r>
            <a:r>
              <a:rPr lang="ja-JP" altLang="en-US"/>
              <a:t>つの</a:t>
            </a:r>
            <a:r>
              <a:rPr lang="en-US" altLang="ja-JP"/>
              <a:t>『</a:t>
            </a:r>
            <a:r>
              <a:rPr lang="ja-JP" altLang="en-US"/>
              <a:t>島（経済圏）</a:t>
            </a:r>
            <a:r>
              <a:rPr lang="en-US" altLang="ja-JP"/>
              <a:t>』</a:t>
            </a:r>
            <a:r>
              <a:rPr lang="ja-JP" altLang="en-US"/>
              <a:t>への分割。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各島の構成国（チーム）は</a:t>
            </a:r>
            <a:r>
              <a:rPr lang="ja-JP" altLang="en-US" b="1">
                <a:solidFill>
                  <a:srgbClr val="FF33CC"/>
                </a:solidFill>
              </a:rPr>
              <a:t>ロザリア</a:t>
            </a:r>
            <a:r>
              <a:rPr lang="en-US" altLang="ja-JP"/>
              <a:t>,</a:t>
            </a:r>
            <a:r>
              <a:rPr lang="ja-JP" altLang="en-US" b="1">
                <a:solidFill>
                  <a:srgbClr val="0070C0"/>
                </a:solidFill>
              </a:rPr>
              <a:t>アズーリ</a:t>
            </a:r>
            <a:r>
              <a:rPr lang="en-US" altLang="ja-JP"/>
              <a:t>,</a:t>
            </a:r>
            <a:r>
              <a:rPr lang="ja-JP" altLang="en-US" b="1">
                <a:solidFill>
                  <a:srgbClr val="7030A0"/>
                </a:solidFill>
              </a:rPr>
              <a:t>ヴィオラ</a:t>
            </a:r>
            <a:r>
              <a:rPr lang="en-US" altLang="ja-JP"/>
              <a:t>,</a:t>
            </a:r>
            <a:r>
              <a:rPr lang="ja-JP" altLang="en-US" b="1">
                <a:solidFill>
                  <a:srgbClr val="FFC000"/>
                </a:solidFill>
              </a:rPr>
              <a:t>アナナス</a:t>
            </a:r>
            <a:r>
              <a:rPr lang="ja-JP" altLang="en-US"/>
              <a:t>の</a:t>
            </a:r>
            <a:r>
              <a:rPr lang="en-US" altLang="ja-JP"/>
              <a:t>4</a:t>
            </a:r>
            <a:r>
              <a:rPr lang="ja-JP" altLang="en-US"/>
              <a:t>カ国。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ja-JP" altLang="en-US"/>
              <a:t>各国</a:t>
            </a:r>
            <a:r>
              <a:rPr lang="en-US" altLang="ja-JP"/>
              <a:t>3</a:t>
            </a:r>
            <a:r>
              <a:rPr lang="ja-JP" altLang="en-US"/>
              <a:t>～</a:t>
            </a:r>
            <a:r>
              <a:rPr lang="en-US" altLang="ja-JP"/>
              <a:t>5</a:t>
            </a:r>
            <a:r>
              <a:rPr lang="ja-JP" altLang="en-US"/>
              <a:t>人ずつで構成</a:t>
            </a:r>
          </a:p>
          <a:p>
            <a:endParaRPr lang="en-US" sz="1600"/>
          </a:p>
          <a:p>
            <a:pPr marL="0" indent="0">
              <a:buNone/>
            </a:pPr>
            <a:r>
              <a:rPr lang="ja-JP" altLang="en-US" sz="1800" b="1">
                <a:solidFill>
                  <a:schemeClr val="bg1"/>
                </a:solidFill>
                <a:highlight>
                  <a:srgbClr val="002060"/>
                </a:highlight>
              </a:rPr>
              <a:t>銀行役の募集</a:t>
            </a:r>
          </a:p>
          <a:p>
            <a:pPr marL="285750" indent="-285750"/>
            <a:r>
              <a:rPr lang="ja-JP" altLang="en-US"/>
              <a:t>各島から、ゲームの進行を支える</a:t>
            </a:r>
            <a:r>
              <a:rPr lang="ja-JP" altLang="en-US" b="1">
                <a:solidFill>
                  <a:srgbClr val="C00000"/>
                </a:solidFill>
              </a:rPr>
              <a:t>銀行役を</a:t>
            </a:r>
            <a:r>
              <a:rPr lang="en-US" altLang="ja-JP" b="1">
                <a:solidFill>
                  <a:srgbClr val="C00000"/>
                </a:solidFill>
              </a:rPr>
              <a:t>1</a:t>
            </a:r>
            <a:r>
              <a:rPr lang="ja-JP" altLang="en-US" b="1">
                <a:solidFill>
                  <a:srgbClr val="C00000"/>
                </a:solidFill>
              </a:rPr>
              <a:t>名</a:t>
            </a:r>
            <a:r>
              <a:rPr lang="ja-JP" altLang="en-US"/>
              <a:t>募集。</a:t>
            </a:r>
          </a:p>
          <a:p>
            <a:pPr marL="285750" indent="-285750"/>
            <a:r>
              <a:rPr lang="ja-JP" altLang="en-US" b="1"/>
              <a:t>役割：</a:t>
            </a:r>
            <a:r>
              <a:rPr lang="ja-JP" altLang="en-US"/>
              <a:t> 両替所としての、</a:t>
            </a:r>
            <a:r>
              <a:rPr lang="ja-JP" altLang="en-US" b="1">
                <a:solidFill>
                  <a:srgbClr val="C00000"/>
                </a:solidFill>
              </a:rPr>
              <a:t>通貨の両替と為替手数料</a:t>
            </a:r>
            <a:r>
              <a:rPr lang="ja-JP" altLang="en-US"/>
              <a:t>の徴収。</a:t>
            </a:r>
            <a:endParaRPr lang="en-US" altLang="ja-JP"/>
          </a:p>
          <a:p>
            <a:pPr marL="0" indent="0">
              <a:buNone/>
            </a:pPr>
            <a:endParaRPr lang="en-US" altLang="ja-JP" sz="800" b="1"/>
          </a:p>
          <a:p>
            <a:pPr marL="0" indent="0">
              <a:buNone/>
            </a:pPr>
            <a:r>
              <a:rPr lang="en-US" altLang="ja-JP" sz="1800" b="1"/>
              <a:t>【</a:t>
            </a:r>
            <a:r>
              <a:rPr lang="ja-JP" altLang="en-US" sz="1800" b="1"/>
              <a:t>銀行役の特典</a:t>
            </a:r>
            <a:r>
              <a:rPr lang="en-US" altLang="ja-JP" sz="1800" b="1"/>
              <a:t>】</a:t>
            </a:r>
            <a:endParaRPr lang="ja-JP" altLang="en-US" sz="1800"/>
          </a:p>
          <a:p>
            <a:pPr lvl="1"/>
            <a:r>
              <a:rPr lang="ja-JP" altLang="en-US"/>
              <a:t>プレイヤーとは異なる、島全体の経済を俯瞰する「マクロな視点」を獲得。</a:t>
            </a:r>
          </a:p>
          <a:p>
            <a:pPr lvl="1"/>
            <a:r>
              <a:rPr lang="ja-JP" altLang="en-US" b="1"/>
              <a:t>特別報酬</a:t>
            </a:r>
            <a:r>
              <a:rPr lang="en-US" altLang="ja-JP" b="1"/>
              <a:t>:</a:t>
            </a:r>
            <a:r>
              <a:rPr lang="ja-JP" altLang="en-US"/>
              <a:t> 鈴木がフィンランド</a:t>
            </a:r>
            <a:r>
              <a:rPr lang="ja-JP" altLang="en-US" b="1">
                <a:solidFill>
                  <a:srgbClr val="C00000"/>
                </a:solidFill>
              </a:rPr>
              <a:t>「マスタード」</a:t>
            </a:r>
            <a:r>
              <a:rPr lang="ja-JP" altLang="en-US"/>
              <a:t>か、</a:t>
            </a:r>
            <a:endParaRPr lang="en-US" altLang="ja-JP"/>
          </a:p>
          <a:p>
            <a:pPr marL="457200" lvl="1" indent="0">
              <a:buNone/>
            </a:pPr>
            <a:r>
              <a:rPr lang="ja-JP" altLang="en-US"/>
              <a:t>　　　　　ノルウェーの</a:t>
            </a:r>
            <a:r>
              <a:rPr lang="ja-JP" altLang="en-US" b="1">
                <a:solidFill>
                  <a:srgbClr val="C00000"/>
                </a:solidFill>
              </a:rPr>
              <a:t>「トマト鯖パテ」</a:t>
            </a:r>
            <a:r>
              <a:rPr lang="ja-JP" altLang="en-US"/>
              <a:t>を贈呈。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7B2A10E-CA12-7677-FD3D-D227B101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チーム分けと銀行役</a:t>
            </a:r>
            <a:endParaRPr 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0EF6FD-FBFF-A491-FAC2-F1DB05A38E31}"/>
              </a:ext>
            </a:extLst>
          </p:cNvPr>
          <p:cNvSpPr/>
          <p:nvPr/>
        </p:nvSpPr>
        <p:spPr>
          <a:xfrm>
            <a:off x="10848975" y="4924425"/>
            <a:ext cx="1266825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0414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C218D67-5A63-F505-89A2-4EF66212AA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68919" y="513830"/>
            <a:ext cx="8246706" cy="50190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2400" b="1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①</a:t>
            </a:r>
            <a:r>
              <a:rPr kumimoji="0" lang="ja-JP" altLang="ja-JP" sz="2400" b="1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市場トレンド決定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鈴木</a:t>
            </a:r>
            <a:r>
              <a: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が</a:t>
            </a:r>
            <a:r>
              <a:rPr kumimoji="0" lang="ja-JP" altLang="ja-JP" sz="24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サイコロを振り</a:t>
            </a:r>
            <a:r>
              <a: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、その回</a:t>
            </a:r>
            <a:r>
              <a:rPr kumimoji="0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ごと</a:t>
            </a:r>
            <a:r>
              <a: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の</a:t>
            </a:r>
            <a:r>
              <a:rPr kumimoji="0" lang="ja-JP" altLang="en-US" sz="2400">
                <a:latin typeface="Arial" panose="020B0604020202020204" pitchFamily="34" charset="0"/>
              </a:rPr>
              <a:t>価格高騰</a:t>
            </a:r>
            <a:r>
              <a: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や特別ルールを発表します 。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2400" b="1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②</a:t>
            </a:r>
            <a:r>
              <a:rPr kumimoji="0" lang="ja-JP" altLang="ja-JP" sz="2400" b="1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交渉</a:t>
            </a:r>
            <a:r>
              <a:rPr kumimoji="0" lang="ja-JP" altLang="en-US" sz="2400" b="1" u="sng">
                <a:solidFill>
                  <a:srgbClr val="0070C0"/>
                </a:solidFill>
                <a:latin typeface="Arial" panose="020B0604020202020204" pitchFamily="34" charset="0"/>
              </a:rPr>
              <a:t>・貿易の実行と決裁</a:t>
            </a:r>
            <a:r>
              <a:rPr kumimoji="0" lang="ja-JP" altLang="ja-JP" sz="2400" b="1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（約</a:t>
            </a:r>
            <a:r>
              <a:rPr kumimoji="0" lang="ja-JP" altLang="en-US" sz="2400" b="1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３</a:t>
            </a:r>
            <a:r>
              <a:rPr kumimoji="0" lang="ja-JP" altLang="ja-JP" sz="2400" b="1" i="0" u="sng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分）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島の中の</a:t>
            </a:r>
            <a:r>
              <a: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自由に席を立ち、他の国と貿易の交渉をします 。</a:t>
            </a:r>
            <a:endParaRPr kumimoji="0" lang="en-US" altLang="ja-JP" sz="24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2400">
                <a:latin typeface="Arial" panose="020B0604020202020204" pitchFamily="34" charset="0"/>
              </a:rPr>
              <a:t>　</a:t>
            </a:r>
            <a:r>
              <a:rPr kumimoji="0" lang="en-US" altLang="ja-JP" sz="2400">
                <a:latin typeface="Arial" panose="020B0604020202020204" pitchFamily="34" charset="0"/>
              </a:rPr>
              <a:t>※</a:t>
            </a:r>
            <a:r>
              <a:rPr kumimoji="0" lang="ja-JP" altLang="en-US" sz="2400">
                <a:latin typeface="Arial" panose="020B0604020202020204" pitchFamily="34" charset="0"/>
              </a:rPr>
              <a:t>商品価格の交渉はできません</a:t>
            </a:r>
            <a:endParaRPr kumimoji="0" lang="ja-JP" altLang="ja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合意した取引を実行します 。</a:t>
            </a:r>
            <a:endParaRPr kumimoji="0" lang="en-US" altLang="ja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　</a:t>
            </a:r>
            <a:r>
              <a:rPr kumimoji="0" lang="en-US" altLang="ja-JP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※</a:t>
            </a:r>
            <a:r>
              <a:rPr kumimoji="0" lang="ja-JP" altLang="en-US" sz="2400">
                <a:latin typeface="Arial" panose="020B0604020202020204" pitchFamily="34" charset="0"/>
              </a:rPr>
              <a:t>買い手</a:t>
            </a:r>
            <a:r>
              <a:rPr kumimoji="0" lang="ja-JP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→銀行：５＄につき為替手数料１＄</a:t>
            </a:r>
            <a:endParaRPr kumimoji="0" lang="en-US" altLang="ja-JP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A56B5AF-07AA-62D2-C215-7F7E8FBD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ゲームの流れ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F3E20B7-5BF2-D295-67EA-38FD78A8492C}"/>
              </a:ext>
            </a:extLst>
          </p:cNvPr>
          <p:cNvSpPr txBox="1"/>
          <p:nvPr/>
        </p:nvSpPr>
        <p:spPr>
          <a:xfrm>
            <a:off x="2468919" y="5739892"/>
            <a:ext cx="8615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>
                <a:solidFill>
                  <a:srgbClr val="C00000"/>
                </a:solidFill>
              </a:rPr>
              <a:t>トレンド→交渉・貿易を</a:t>
            </a:r>
            <a:r>
              <a:rPr lang="en-US" altLang="ja-JP" sz="2800" b="1">
                <a:solidFill>
                  <a:srgbClr val="C00000"/>
                </a:solidFill>
              </a:rPr>
              <a:t>12</a:t>
            </a:r>
            <a:r>
              <a:rPr lang="ja-JP" altLang="en-US" sz="2800" b="1">
                <a:solidFill>
                  <a:srgbClr val="C00000"/>
                </a:solidFill>
              </a:rPr>
              <a:t>ラウンド繰り返す！</a:t>
            </a:r>
            <a:endParaRPr lang="en-US" sz="2800" b="1">
              <a:solidFill>
                <a:srgbClr val="C00000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7E5AD48-B284-7920-FF40-A27151084F9C}"/>
              </a:ext>
            </a:extLst>
          </p:cNvPr>
          <p:cNvSpPr/>
          <p:nvPr/>
        </p:nvSpPr>
        <p:spPr>
          <a:xfrm>
            <a:off x="10848975" y="4924425"/>
            <a:ext cx="1266825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93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35AE87-7F02-B009-F56B-3E7D8AC47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5006" y="488406"/>
            <a:ext cx="9696994" cy="60053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ja-JP" altLang="en-US" b="1" u="sng">
                <a:solidFill>
                  <a:srgbClr val="0070C0"/>
                </a:solidFill>
              </a:rPr>
              <a:t>ルール①交渉タイム</a:t>
            </a:r>
            <a:endParaRPr kumimoji="1" lang="en-US" altLang="ja-JP" b="1" u="sng">
              <a:solidFill>
                <a:srgbClr val="0070C0"/>
              </a:solidFill>
            </a:endParaRPr>
          </a:p>
          <a:p>
            <a:r>
              <a:rPr kumimoji="1" lang="ja-JP" altLang="en-US"/>
              <a:t>交渉は完全に自由　</a:t>
            </a:r>
            <a:r>
              <a:rPr kumimoji="1" lang="en-US" altLang="ja-JP" sz="1800" b="1">
                <a:solidFill>
                  <a:srgbClr val="C00000"/>
                </a:solidFill>
              </a:rPr>
              <a:t>※</a:t>
            </a:r>
            <a:r>
              <a:rPr kumimoji="1" lang="ja-JP" altLang="en-US" sz="1800" b="1">
                <a:solidFill>
                  <a:srgbClr val="C00000"/>
                </a:solidFill>
              </a:rPr>
              <a:t>価格以外</a:t>
            </a:r>
            <a:endParaRPr kumimoji="1" lang="en-US" altLang="ja-JP" b="1">
              <a:solidFill>
                <a:srgbClr val="C00000"/>
              </a:solidFill>
            </a:endParaRPr>
          </a:p>
          <a:p>
            <a:r>
              <a:rPr kumimoji="1" lang="ja-JP" altLang="en-US"/>
              <a:t>有利な条件でなければ、もちろん「断る」ことも</a:t>
            </a:r>
            <a:r>
              <a:rPr kumimoji="1" lang="en-US" altLang="ja-JP"/>
              <a:t>OK</a:t>
            </a:r>
          </a:p>
          <a:p>
            <a:r>
              <a:rPr kumimoji="1" lang="ja-JP" altLang="en-US"/>
              <a:t>貿易は、同じお菓子</a:t>
            </a:r>
            <a:r>
              <a:rPr kumimoji="1" lang="en-US" altLang="ja-JP"/>
              <a:t>2</a:t>
            </a:r>
            <a:r>
              <a:rPr kumimoji="1" lang="ja-JP" altLang="en-US"/>
              <a:t>個を</a:t>
            </a:r>
            <a:r>
              <a:rPr kumimoji="1" lang="en-US" altLang="ja-JP"/>
              <a:t>1</a:t>
            </a:r>
            <a:r>
              <a:rPr kumimoji="1" lang="ja-JP" altLang="en-US"/>
              <a:t>単位として行う</a:t>
            </a:r>
            <a:endParaRPr kumimoji="1" lang="en-US" altLang="ja-JP"/>
          </a:p>
          <a:p>
            <a:pPr marL="0" indent="0">
              <a:buNone/>
            </a:pPr>
            <a:r>
              <a:rPr kumimoji="1" lang="ja-JP" altLang="en-US"/>
              <a:t>　</a:t>
            </a:r>
            <a:r>
              <a:rPr kumimoji="1" lang="en-US" altLang="ja-JP"/>
              <a:t>※4</a:t>
            </a:r>
            <a:r>
              <a:rPr kumimoji="1" lang="ja-JP" altLang="en-US"/>
              <a:t>個、</a:t>
            </a:r>
            <a:r>
              <a:rPr kumimoji="1" lang="en-US" altLang="ja-JP"/>
              <a:t>6</a:t>
            </a:r>
            <a:r>
              <a:rPr kumimoji="1" lang="ja-JP" altLang="en-US"/>
              <a:t>個など、まとめての取引も可能</a:t>
            </a:r>
            <a:endParaRPr kumimoji="1" lang="en-US" altLang="ja-JP"/>
          </a:p>
          <a:p>
            <a:pPr marL="0" indent="0">
              <a:buNone/>
            </a:pPr>
            <a:endParaRPr lang="en-US" altLang="ja-JP"/>
          </a:p>
          <a:p>
            <a:pPr marL="0" indent="0">
              <a:buNone/>
            </a:pPr>
            <a:r>
              <a:rPr kumimoji="1" lang="ja-JP" altLang="en-US" b="1" u="sng">
                <a:solidFill>
                  <a:srgbClr val="0070C0"/>
                </a:solidFill>
              </a:rPr>
              <a:t>ルール② 貿易の実行と決済</a:t>
            </a:r>
            <a:endParaRPr kumimoji="1" lang="en-US" altLang="ja-JP" b="1" u="sng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kumimoji="1" lang="ja-JP" altLang="en-US"/>
              <a:t>商品を「買う側」の国が、進行役（銀行）のところへ</a:t>
            </a:r>
            <a:endParaRPr kumimoji="1" lang="en-US" altLang="ja-JP"/>
          </a:p>
          <a:p>
            <a:pPr marL="0" indent="0">
              <a:buNone/>
            </a:pPr>
            <a:r>
              <a:rPr kumimoji="1" lang="ja-JP" altLang="en-US"/>
              <a:t>自分の国の通貨を、相手の国の通貨に両替</a:t>
            </a:r>
            <a:endParaRPr kumimoji="1" lang="en-US" altLang="ja-JP"/>
          </a:p>
          <a:p>
            <a:pPr marL="0" indent="0">
              <a:buNone/>
            </a:pPr>
            <a:r>
              <a:rPr kumimoji="1" lang="ja-JP" altLang="en-US" sz="2000" b="1">
                <a:solidFill>
                  <a:srgbClr val="C00000"/>
                </a:solidFill>
              </a:rPr>
              <a:t>　</a:t>
            </a:r>
            <a:r>
              <a:rPr kumimoji="1" lang="en-US" altLang="ja-JP" sz="2000" b="1">
                <a:solidFill>
                  <a:srgbClr val="C00000"/>
                </a:solidFill>
              </a:rPr>
              <a:t>※</a:t>
            </a:r>
            <a:r>
              <a:rPr kumimoji="1" lang="ja-JP" altLang="en-US" sz="2000" b="1">
                <a:solidFill>
                  <a:srgbClr val="C00000"/>
                </a:solidFill>
              </a:rPr>
              <a:t>手数料</a:t>
            </a:r>
            <a:r>
              <a:rPr lang="ja-JP" altLang="en-US" sz="2000" b="1">
                <a:solidFill>
                  <a:srgbClr val="C00000"/>
                </a:solidFill>
              </a:rPr>
              <a:t>は</a:t>
            </a:r>
            <a:r>
              <a:rPr lang="en-US" altLang="ja-JP" sz="2000" b="1">
                <a:solidFill>
                  <a:srgbClr val="C00000"/>
                </a:solidFill>
              </a:rPr>
              <a:t>5</a:t>
            </a:r>
            <a:r>
              <a:rPr lang="ja-JP" altLang="en-US" sz="2000" b="1">
                <a:solidFill>
                  <a:srgbClr val="C00000"/>
                </a:solidFill>
              </a:rPr>
              <a:t>＄につき１＄</a:t>
            </a:r>
            <a:endParaRPr lang="en-US" altLang="ja-JP" sz="2000" b="1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ja-JP" altLang="en-US" sz="2000" b="1">
                <a:solidFill>
                  <a:srgbClr val="C00000"/>
                </a:solidFill>
              </a:rPr>
              <a:t>　　</a:t>
            </a:r>
            <a:r>
              <a:rPr lang="en-US" altLang="ja-JP" sz="2000" b="1">
                <a:solidFill>
                  <a:srgbClr val="C00000"/>
                </a:solidFill>
              </a:rPr>
              <a:t>6</a:t>
            </a:r>
            <a:r>
              <a:rPr lang="ja-JP" altLang="en-US" sz="2000" b="1">
                <a:solidFill>
                  <a:srgbClr val="C00000"/>
                </a:solidFill>
              </a:rPr>
              <a:t>＄で他国通貨</a:t>
            </a:r>
            <a:r>
              <a:rPr lang="en-US" altLang="ja-JP" sz="2000" b="1">
                <a:solidFill>
                  <a:srgbClr val="C00000"/>
                </a:solidFill>
              </a:rPr>
              <a:t>5</a:t>
            </a:r>
            <a:r>
              <a:rPr lang="ja-JP" altLang="en-US" sz="2000" b="1">
                <a:solidFill>
                  <a:srgbClr val="C00000"/>
                </a:solidFill>
              </a:rPr>
              <a:t>＄が手に入る</a:t>
            </a:r>
            <a:endParaRPr lang="en-US" altLang="ja-JP" sz="2000" b="1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ja-JP" sz="2000" b="1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ja-JP" altLang="en-US"/>
              <a:t>両替した通貨で、相手の国とお菓子を交換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FFBF84E-0B1E-B3E9-D046-AA9FDF0B8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ルール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E4F416-3EB5-A5DD-850C-1B67F9717B6A}"/>
              </a:ext>
            </a:extLst>
          </p:cNvPr>
          <p:cNvSpPr/>
          <p:nvPr/>
        </p:nvSpPr>
        <p:spPr>
          <a:xfrm>
            <a:off x="10848975" y="4924425"/>
            <a:ext cx="1266825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675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A47FB6B5-F458-A739-E44C-90B1ADB576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49039" y="684933"/>
          <a:ext cx="7910805" cy="3357576"/>
        </p:xfrm>
        <a:graphic>
          <a:graphicData uri="http://schemas.openxmlformats.org/drawingml/2006/table">
            <a:tbl>
              <a:tblPr/>
              <a:tblGrid>
                <a:gridCol w="5628813">
                  <a:extLst>
                    <a:ext uri="{9D8B030D-6E8A-4147-A177-3AD203B41FA5}">
                      <a16:colId xmlns:a16="http://schemas.microsoft.com/office/drawing/2014/main" val="3184478320"/>
                    </a:ext>
                  </a:extLst>
                </a:gridCol>
                <a:gridCol w="2281992">
                  <a:extLst>
                    <a:ext uri="{9D8B030D-6E8A-4147-A177-3AD203B41FA5}">
                      <a16:colId xmlns:a16="http://schemas.microsoft.com/office/drawing/2014/main" val="2961979435"/>
                    </a:ext>
                  </a:extLst>
                </a:gridCol>
              </a:tblGrid>
              <a:tr h="7058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000" b="1">
                          <a:solidFill>
                            <a:srgbClr val="FFFFFF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項目</a:t>
                      </a:r>
                      <a:endParaRPr lang="ja-JP" sz="20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000" b="1">
                          <a:solidFill>
                            <a:srgbClr val="FFFFFF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価格</a:t>
                      </a:r>
                      <a:endParaRPr lang="ja-JP" sz="20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92468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000" b="1">
                          <a:solidFill>
                            <a:srgbClr val="1B1C1D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お菓子</a:t>
                      </a:r>
                      <a:r>
                        <a:rPr lang="en-US" sz="2000" b="1">
                          <a:solidFill>
                            <a:srgbClr val="1B1C1D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2</a:t>
                      </a:r>
                      <a:r>
                        <a:rPr lang="ja-JP" sz="2000" b="1">
                          <a:solidFill>
                            <a:srgbClr val="1B1C1D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個の基本価格</a:t>
                      </a:r>
                      <a:endParaRPr lang="ja-JP" sz="20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70C0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4</a:t>
                      </a:r>
                      <a:r>
                        <a:rPr lang="ja-JP" sz="2000" b="1">
                          <a:solidFill>
                            <a:srgbClr val="0070C0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＄</a:t>
                      </a:r>
                      <a:endParaRPr lang="ja-JP" sz="20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70002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2000" b="1">
                          <a:solidFill>
                            <a:srgbClr val="C00000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商品価格高騰時</a:t>
                      </a:r>
                      <a:endParaRPr lang="en-US" altLang="ja-JP" sz="2000" b="1">
                        <a:solidFill>
                          <a:srgbClr val="C00000"/>
                        </a:solidFill>
                        <a:effectLst/>
                        <a:latin typeface="游明朝" panose="02020400000000000000" pitchFamily="18" charset="-128"/>
                        <a:ea typeface="游ゴシック" panose="020B0400000000000000" pitchFamily="50" charset="-128"/>
                        <a:cs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ja-JP" sz="2000" b="1">
                          <a:solidFill>
                            <a:srgbClr val="C00000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5</a:t>
                      </a:r>
                      <a:r>
                        <a:rPr lang="ja-JP" sz="2000" b="1">
                          <a:solidFill>
                            <a:srgbClr val="C00000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＄</a:t>
                      </a:r>
                      <a:endParaRPr lang="ja-JP" sz="200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99727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sz="2000" b="1">
                          <a:solidFill>
                            <a:srgbClr val="1B1C1D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為替手数料</a:t>
                      </a:r>
                      <a:endParaRPr lang="en-US" altLang="ja-JP" sz="2000" b="1">
                        <a:solidFill>
                          <a:srgbClr val="1B1C1D"/>
                        </a:solidFill>
                        <a:effectLst/>
                        <a:latin typeface="游明朝" panose="02020400000000000000" pitchFamily="18" charset="-128"/>
                        <a:ea typeface="游ゴシック" panose="020B0400000000000000" pitchFamily="50" charset="-128"/>
                        <a:cs typeface="Google Sans Text"/>
                      </a:endParaRPr>
                    </a:p>
                    <a:p>
                      <a:pPr algn="ctr">
                        <a:buNone/>
                      </a:pPr>
                      <a:r>
                        <a:rPr lang="ja-JP" sz="200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  <a:ea typeface="游明朝" panose="02020400000000000000" pitchFamily="18" charset="-128"/>
                          <a:cs typeface="Google Sans Text"/>
                        </a:rPr>
                        <a:t>（</a:t>
                      </a:r>
                      <a:r>
                        <a:rPr lang="ja-JP" sz="2000" b="0">
                          <a:solidFill>
                            <a:srgbClr val="1B1C1D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買い手</a:t>
                      </a:r>
                      <a:r>
                        <a:rPr lang="ja-JP" sz="2000" b="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  <a:ea typeface="游明朝" panose="02020400000000000000" pitchFamily="18" charset="-128"/>
                          <a:cs typeface="Google Sans Text"/>
                        </a:rPr>
                        <a:t>が両</a:t>
                      </a:r>
                      <a:r>
                        <a:rPr lang="ja-JP" sz="200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  <a:ea typeface="游明朝" panose="02020400000000000000" pitchFamily="18" charset="-128"/>
                          <a:cs typeface="Google Sans Text"/>
                        </a:rPr>
                        <a:t>替時に</a:t>
                      </a:r>
                      <a:r>
                        <a:rPr lang="ja-JP" altLang="en-US" sz="200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  <a:ea typeface="游明朝" panose="02020400000000000000" pitchFamily="18" charset="-128"/>
                          <a:cs typeface="Google Sans Text"/>
                        </a:rPr>
                        <a:t>銀行に</a:t>
                      </a:r>
                      <a:r>
                        <a:rPr lang="ja-JP" sz="2000">
                          <a:solidFill>
                            <a:srgbClr val="1B1C1D"/>
                          </a:solidFill>
                          <a:effectLst/>
                          <a:latin typeface="Arial" panose="020B0604020202020204" pitchFamily="34" charset="0"/>
                          <a:ea typeface="游明朝" panose="02020400000000000000" pitchFamily="18" charset="-128"/>
                          <a:cs typeface="Google Sans Text"/>
                        </a:rPr>
                        <a:t>支払う）</a:t>
                      </a:r>
                      <a:endParaRPr lang="ja-JP" sz="20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0070C0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1</a:t>
                      </a:r>
                      <a:r>
                        <a:rPr lang="ja-JP" sz="2000" b="1">
                          <a:solidFill>
                            <a:srgbClr val="0070C0"/>
                          </a:solidFill>
                          <a:effectLst/>
                          <a:latin typeface="游明朝" panose="02020400000000000000" pitchFamily="18" charset="-128"/>
                          <a:ea typeface="游ゴシック" panose="020B0400000000000000" pitchFamily="50" charset="-128"/>
                          <a:cs typeface="Google Sans Text"/>
                        </a:rPr>
                        <a:t>＄</a:t>
                      </a:r>
                      <a:endParaRPr lang="ja-JP" sz="2000">
                        <a:effectLst/>
                        <a:latin typeface="Arial" panose="020B0604020202020204" pitchFamily="34" charset="0"/>
                        <a:ea typeface="ＭＳ 明朝" panose="02020609040205080304" pitchFamily="17" charset="-128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30731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C14FA49A-B04A-4286-74FF-F0E078BC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価格と手数料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6C2FEB-CE66-0C2B-A370-7A46880CC56F}"/>
              </a:ext>
            </a:extLst>
          </p:cNvPr>
          <p:cNvSpPr txBox="1"/>
          <p:nvPr/>
        </p:nvSpPr>
        <p:spPr>
          <a:xfrm>
            <a:off x="2659898" y="4500718"/>
            <a:ext cx="8535323" cy="1916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ja-JP" altLang="ja-JP" sz="1600" b="1">
                <a:solidFill>
                  <a:srgbClr val="1B1C1D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【例】</a:t>
            </a:r>
            <a:r>
              <a:rPr lang="ja-JP" altLang="en-US" sz="1600" b="1">
                <a:solidFill>
                  <a:srgbClr val="1B1C1D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基本価格</a:t>
            </a:r>
            <a:r>
              <a:rPr lang="ja-JP" altLang="ja-JP" sz="1600" b="1">
                <a:solidFill>
                  <a:srgbClr val="1B1C1D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の</a:t>
            </a:r>
            <a:r>
              <a:rPr lang="ja-JP" altLang="en-US" sz="1600" b="1">
                <a:solidFill>
                  <a:srgbClr val="FF33CC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ピンクの飴</a:t>
            </a:r>
            <a:r>
              <a:rPr lang="en-US" altLang="ja-JP" sz="1600" b="1">
                <a:solidFill>
                  <a:srgbClr val="FF33CC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2</a:t>
            </a:r>
            <a:r>
              <a:rPr lang="ja-JP" altLang="ja-JP" sz="1600" b="1">
                <a:solidFill>
                  <a:srgbClr val="FF33CC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個</a:t>
            </a:r>
            <a:r>
              <a:rPr lang="ja-JP" altLang="ja-JP" sz="1600" b="1">
                <a:solidFill>
                  <a:srgbClr val="1B1C1D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を</a:t>
            </a:r>
            <a:r>
              <a:rPr lang="ja-JP" altLang="ja-JP" sz="1600" b="1">
                <a:solidFill>
                  <a:srgbClr val="7030A0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ヴィオラ（買い手）</a:t>
            </a:r>
            <a:r>
              <a:rPr lang="ja-JP" altLang="ja-JP" sz="1600" b="1">
                <a:solidFill>
                  <a:srgbClr val="1B1C1D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が</a:t>
            </a:r>
            <a:r>
              <a:rPr lang="ja-JP" altLang="ja-JP" sz="1600" b="1">
                <a:solidFill>
                  <a:srgbClr val="FF33CC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ロザリア（売り手）</a:t>
            </a:r>
            <a:r>
              <a:rPr lang="ja-JP" altLang="ja-JP" sz="1600" b="1">
                <a:solidFill>
                  <a:srgbClr val="1B1C1D"/>
                </a:solidFill>
                <a:effectLst/>
                <a:latin typeface="Arial" panose="020B0604020202020204" pitchFamily="34" charset="0"/>
                <a:ea typeface="游ゴシック" panose="020B0400000000000000" pitchFamily="50" charset="-128"/>
                <a:cs typeface="Google Sans Text"/>
              </a:rPr>
              <a:t>から買う</a:t>
            </a:r>
            <a:endParaRPr lang="ja-JP" altLang="ja-JP" sz="1600">
              <a:effectLst/>
              <a:latin typeface="Arial" panose="020B0604020202020204" pitchFamily="34" charset="0"/>
              <a:ea typeface="ＭＳ 明朝" panose="02020609040205080304" pitchFamily="17" charset="-128"/>
            </a:endParaRPr>
          </a:p>
          <a:p>
            <a:pPr marL="342900" lvl="0" indent="-342900" fontAlgn="base">
              <a:lnSpc>
                <a:spcPct val="125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ja-JP" altLang="ja-JP" sz="1600" b="1" u="none" strike="noStrike">
                <a:solidFill>
                  <a:srgbClr val="7030A0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ヴィオラ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は</a:t>
            </a:r>
            <a:r>
              <a:rPr lang="ja-JP" altLang="en-US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銀行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（</a:t>
            </a:r>
            <a:r>
              <a:rPr lang="ja-JP" altLang="en-US" sz="1600">
                <a:solidFill>
                  <a:srgbClr val="1B1C1D"/>
                </a:solidFill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進行役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）に</a:t>
            </a:r>
            <a:r>
              <a:rPr lang="ja-JP" altLang="en-US" sz="1600" b="1" u="none" strike="noStrike">
                <a:solidFill>
                  <a:srgbClr val="7030A0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自国</a:t>
            </a:r>
            <a:r>
              <a:rPr lang="ja-JP" altLang="ja-JP" sz="1600" b="1" u="none" strike="noStrike">
                <a:solidFill>
                  <a:srgbClr val="7030A0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通貨＄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を渡して、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ロザリア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の通貨に両替を依頼。</a:t>
            </a:r>
            <a:endParaRPr lang="ja-JP" altLang="ja-JP" sz="1600" u="none" strike="noStrike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25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ja-JP" altLang="en-US" sz="1600" b="1">
                <a:solidFill>
                  <a:srgbClr val="1B1C1D"/>
                </a:solidFill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銀行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は、</a:t>
            </a:r>
            <a:r>
              <a:rPr lang="ja-JP" altLang="en-US" sz="1600" b="1" u="none" strike="noStrike">
                <a:solidFill>
                  <a:srgbClr val="0B5394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６＄を受け取り</a:t>
            </a:r>
            <a:r>
              <a:rPr lang="ja-JP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手数料</a:t>
            </a:r>
            <a:r>
              <a:rPr lang="en-US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1</a:t>
            </a:r>
            <a:r>
              <a:rPr lang="ja-JP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＄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を引いた、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ロザリア通貨</a:t>
            </a:r>
            <a:r>
              <a:rPr lang="en-US" altLang="ja-JP" sz="1600" b="1">
                <a:solidFill>
                  <a:srgbClr val="FF33CC"/>
                </a:solidFill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5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＄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を</a:t>
            </a:r>
            <a:r>
              <a:rPr lang="ja-JP" altLang="ja-JP" sz="1600" b="1" u="none" strike="noStrike">
                <a:solidFill>
                  <a:srgbClr val="7030A0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ヴィオラ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に渡す</a:t>
            </a:r>
            <a:endParaRPr lang="ja-JP" altLang="ja-JP" sz="1600" u="none" strike="noStrike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fontAlgn="base">
              <a:lnSpc>
                <a:spcPct val="125000"/>
              </a:lnSpc>
              <a:buClr>
                <a:srgbClr val="000000"/>
              </a:buClr>
              <a:buSzPts val="1100"/>
              <a:buFont typeface="+mj-lt"/>
              <a:buAutoNum type="arabicPeriod"/>
            </a:pPr>
            <a:r>
              <a:rPr lang="ja-JP" altLang="ja-JP" sz="1600" b="1" u="none" strike="noStrike">
                <a:solidFill>
                  <a:srgbClr val="7030A0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ヴィオラ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は、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ロザリア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に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ロザリア通貨</a:t>
            </a:r>
            <a:r>
              <a:rPr lang="en-US" altLang="ja-JP" sz="1600" b="1" u="none" strike="noStrike">
                <a:solidFill>
                  <a:srgbClr val="FF33CC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4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＄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を支払い、</a:t>
            </a:r>
            <a:r>
              <a:rPr lang="ja-JP" altLang="en-US" sz="1600" b="1" u="none" strike="noStrike">
                <a:solidFill>
                  <a:srgbClr val="FF33CC"/>
                </a:solidFill>
                <a:effectLst/>
                <a:latin typeface="+mn-ea"/>
                <a:cs typeface="Google Sans Text"/>
              </a:rPr>
              <a:t>ピンクの飴</a:t>
            </a:r>
            <a:r>
              <a:rPr lang="en-US" altLang="ja-JP" sz="1600" b="1" u="none" strike="noStrike">
                <a:solidFill>
                  <a:srgbClr val="FF33CC"/>
                </a:solidFill>
                <a:effectLst/>
                <a:latin typeface="+mn-ea"/>
                <a:cs typeface="Google Sans Text"/>
              </a:rPr>
              <a:t>2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+mn-ea"/>
                <a:cs typeface="Google Sans Text"/>
              </a:rPr>
              <a:t>個</a:t>
            </a:r>
            <a:r>
              <a:rPr lang="ja-JP" altLang="ja-JP" sz="1600" u="none" strike="noStrike">
                <a:solidFill>
                  <a:srgbClr val="1B1C1D"/>
                </a:solidFill>
                <a:effectLst/>
                <a:latin typeface="Arial" panose="020B0604020202020204" pitchFamily="34" charset="0"/>
                <a:ea typeface="游明朝" panose="02020400000000000000" pitchFamily="18" charset="-128"/>
                <a:cs typeface="Google Sans Text"/>
              </a:rPr>
              <a:t>を受け取る。</a:t>
            </a:r>
            <a:endParaRPr lang="ja-JP" altLang="ja-JP" sz="1600" u="none" strike="noStrike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fontAlgn="base">
              <a:lnSpc>
                <a:spcPct val="125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売り手（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ロザリア）の利益</a:t>
            </a:r>
            <a:r>
              <a:rPr lang="en-US" altLang="ja-JP" sz="1600" b="1" u="none" strike="noStrike">
                <a:solidFill>
                  <a:srgbClr val="FF33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:</a:t>
            </a:r>
            <a:r>
              <a:rPr lang="en-US" altLang="ja-JP" sz="1600" u="none" strike="noStrike">
                <a:solidFill>
                  <a:srgbClr val="FF33CC"/>
                </a:solidFill>
                <a:effectLst/>
                <a:latin typeface="游明朝" panose="02020400000000000000" pitchFamily="18" charset="-128"/>
                <a:ea typeface="Arial" panose="020B0604020202020204" pitchFamily="34" charset="0"/>
                <a:cs typeface="Google Sans Text"/>
              </a:rPr>
              <a:t> </a:t>
            </a:r>
            <a:r>
              <a:rPr lang="en-US" altLang="ja-JP" sz="1600" b="1" u="none" strike="noStrike">
                <a:solidFill>
                  <a:srgbClr val="FF33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+</a:t>
            </a:r>
            <a:r>
              <a:rPr lang="ja-JP" altLang="en-US" sz="1600" b="1">
                <a:solidFill>
                  <a:srgbClr val="FF33CC"/>
                </a:solidFill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４</a:t>
            </a:r>
            <a:r>
              <a:rPr lang="ja-JP" altLang="ja-JP" sz="1600" b="1" u="none" strike="noStrike">
                <a:solidFill>
                  <a:srgbClr val="FF33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＄</a:t>
            </a:r>
            <a:endParaRPr lang="ja-JP" altLang="ja-JP" sz="1600" u="none" strike="noStrike">
              <a:solidFill>
                <a:srgbClr val="FF33CC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fontAlgn="base">
              <a:lnSpc>
                <a:spcPct val="125000"/>
              </a:lnSpc>
              <a:buClr>
                <a:srgbClr val="000000"/>
              </a:buClr>
              <a:buSzPts val="1100"/>
              <a:buFont typeface="Arial" panose="020B0604020202020204" pitchFamily="34" charset="0"/>
              <a:buChar char="○"/>
            </a:pPr>
            <a:r>
              <a:rPr lang="ja-JP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買い手（</a:t>
            </a:r>
            <a:r>
              <a:rPr lang="ja-JP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ヴィオラ）のコスト</a:t>
            </a:r>
            <a:r>
              <a:rPr lang="en-US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:</a:t>
            </a:r>
            <a:r>
              <a:rPr lang="en-US" altLang="ja-JP" sz="1600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Arial" panose="020B0604020202020204" pitchFamily="34" charset="0"/>
                <a:cs typeface="Google Sans Text"/>
              </a:rPr>
              <a:t> </a:t>
            </a:r>
            <a:r>
              <a:rPr lang="en-US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-5</a:t>
            </a:r>
            <a:r>
              <a:rPr lang="ja-JP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＄</a:t>
            </a:r>
            <a:r>
              <a:rPr lang="ja-JP" altLang="en-US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（商品代金</a:t>
            </a:r>
            <a:r>
              <a:rPr lang="en-US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4</a:t>
            </a:r>
            <a:r>
              <a:rPr lang="ja-JP" altLang="en-US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＄</a:t>
            </a:r>
            <a:r>
              <a:rPr lang="en-US" altLang="ja-JP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+</a:t>
            </a:r>
            <a:r>
              <a:rPr lang="ja-JP" altLang="en-US" sz="1600" b="1" u="none" strike="noStrike">
                <a:solidFill>
                  <a:srgbClr val="1155CC"/>
                </a:solidFill>
                <a:effectLst/>
                <a:latin typeface="游明朝" panose="02020400000000000000" pitchFamily="18" charset="-128"/>
                <a:ea typeface="游ゴシック" panose="020B0400000000000000" pitchFamily="50" charset="-128"/>
                <a:cs typeface="Google Sans Text"/>
              </a:rPr>
              <a:t>為替手数料１＄）</a:t>
            </a:r>
            <a:endParaRPr lang="ja-JP" altLang="ja-JP" sz="1600" u="none" strike="noStrike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532007B-8EB9-6F83-C671-ECA56D353CA7}"/>
              </a:ext>
            </a:extLst>
          </p:cNvPr>
          <p:cNvSpPr/>
          <p:nvPr/>
        </p:nvSpPr>
        <p:spPr>
          <a:xfrm>
            <a:off x="10848975" y="4924425"/>
            <a:ext cx="1266825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99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3B7F38B5-116B-8436-011D-D240FCFF5A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84854" y="3902989"/>
          <a:ext cx="8387922" cy="2590800"/>
        </p:xfrm>
        <a:graphic>
          <a:graphicData uri="http://schemas.openxmlformats.org/drawingml/2006/table">
            <a:tbl>
              <a:tblPr/>
              <a:tblGrid>
                <a:gridCol w="4193961">
                  <a:extLst>
                    <a:ext uri="{9D8B030D-6E8A-4147-A177-3AD203B41FA5}">
                      <a16:colId xmlns:a16="http://schemas.microsoft.com/office/drawing/2014/main" val="73280149"/>
                    </a:ext>
                  </a:extLst>
                </a:gridCol>
                <a:gridCol w="4193961">
                  <a:extLst>
                    <a:ext uri="{9D8B030D-6E8A-4147-A177-3AD203B41FA5}">
                      <a16:colId xmlns:a16="http://schemas.microsoft.com/office/drawing/2014/main" val="3980497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持っているお菓子の種類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2400" b="1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ボーナス＄（ユーロ）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559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1</a:t>
                      </a:r>
                      <a:r>
                        <a:rPr lang="ja-JP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種類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0</a:t>
                      </a:r>
                      <a:r>
                        <a:rPr lang="ja-JP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＄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781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2</a:t>
                      </a:r>
                      <a:r>
                        <a:rPr lang="ja-JP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種類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+20</a:t>
                      </a:r>
                      <a:r>
                        <a:rPr lang="ja-JP" sz="2400" b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＄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139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3</a:t>
                      </a:r>
                      <a:r>
                        <a:rPr lang="ja-JP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種類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+40</a:t>
                      </a:r>
                      <a:r>
                        <a:rPr lang="ja-JP" sz="2400" b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＄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98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4</a:t>
                      </a:r>
                      <a:r>
                        <a:rPr lang="ja-JP" sz="2400" b="1">
                          <a:solidFill>
                            <a:srgbClr val="1B1C1D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種類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+70</a:t>
                      </a:r>
                      <a:r>
                        <a:rPr lang="ja-JP" sz="2400" b="1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Google Sans Text"/>
                        </a:rPr>
                        <a:t>＄</a:t>
                      </a:r>
                      <a:endParaRPr lang="ja-JP" sz="2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114300" marR="114300" marT="76200" marB="7620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770390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52628A55-F39F-A54D-E298-306299314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勝利条件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BE8F544-D06D-6E0C-7F34-22570DFFC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4854" y="75836"/>
            <a:ext cx="9514703" cy="4444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39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sz="3200" b="1" i="0" u="none" strike="noStrike" cap="none" normalizeH="0" baseline="0">
                <a:ln>
                  <a:noFill/>
                </a:ln>
                <a:solidFill>
                  <a:srgbClr val="1C4587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Arial Unicode MS" charset="0"/>
              </a:rPr>
              <a:t>勝利条件</a:t>
            </a: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ja-JP" b="0" i="0" u="none" strike="noStrike" cap="none" normalizeH="0" baseline="0">
                <a:ln>
                  <a:noFill/>
                </a:ln>
                <a:solidFill>
                  <a:srgbClr val="1B1C1D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Google Sans Text" charset="0"/>
              </a:rPr>
              <a:t>全</a:t>
            </a:r>
            <a:r>
              <a:rPr lang="en-US" altLang="ja-JP">
                <a:solidFill>
                  <a:srgbClr val="1B1C1D"/>
                </a:solidFill>
                <a:latin typeface="游明朝" panose="02020400000000000000" pitchFamily="18" charset="-128"/>
                <a:ea typeface="游明朝" panose="02020400000000000000" pitchFamily="18" charset="-128"/>
                <a:cs typeface="Google Sans Text" charset="0"/>
              </a:rPr>
              <a:t>2</a:t>
            </a:r>
            <a:r>
              <a:rPr kumimoji="0" lang="ja-JP" altLang="en-US" b="0" i="0" u="none" strike="noStrike" cap="none" normalizeH="0" baseline="0">
                <a:ln>
                  <a:noFill/>
                </a:ln>
                <a:solidFill>
                  <a:srgbClr val="1B1C1D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Google Sans Text" charset="0"/>
              </a:rPr>
              <a:t>ラウンド終了後、以下の合計点で勝敗を決定。</a:t>
            </a:r>
            <a:endParaRPr kumimoji="0" lang="ja-JP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最終総資産 </a:t>
            </a:r>
            <a:endParaRPr kumimoji="0" lang="en-US" altLang="ja-JP" sz="16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Google Sans Text" charset="0"/>
            </a:endParaRP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= ①</a:t>
            </a:r>
            <a:r>
              <a:rPr kumimoji="0" lang="ja-JP" altLang="en-US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残高（他国通貨も</a:t>
            </a:r>
            <a:r>
              <a:rPr kumimoji="0" lang="en-US" altLang="ja-JP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OK</a:t>
            </a:r>
            <a:r>
              <a:rPr kumimoji="0" lang="ja-JP" altLang="en-US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） ＋② 残りお菓子（</a:t>
            </a:r>
            <a:r>
              <a:rPr kumimoji="0" lang="en-US" altLang="ja-JP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1</a:t>
            </a:r>
            <a:r>
              <a:rPr kumimoji="0" lang="ja-JP" altLang="en-US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個</a:t>
            </a:r>
            <a:r>
              <a:rPr kumimoji="0" lang="en-US" altLang="ja-JP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1</a:t>
            </a:r>
            <a:r>
              <a:rPr kumimoji="0" lang="ja-JP" altLang="en-US" sz="1600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＄（ユーロ））＋③ お菓子の多様性ボーナス</a:t>
            </a:r>
            <a:endParaRPr kumimoji="0" lang="ja-JP" altLang="en-US" sz="2800" b="1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Arial Unicode MS" charset="0"/>
            </a:endParaRP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050" b="1" i="0" u="none" strike="noStrike" cap="none" normalizeH="0" baseline="0">
              <a:ln>
                <a:noFill/>
              </a:ln>
              <a:solidFill>
                <a:srgbClr val="1C4587"/>
              </a:solidFill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Arial Unicode MS" charset="0"/>
            </a:endParaRP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rgbClr val="1C4587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Arial Unicode MS" charset="0"/>
              </a:rPr>
              <a:t>★重要★ お菓子の多様性ボーナス</a:t>
            </a: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b="0" i="0" u="none" strike="noStrike" cap="none" normalizeH="0" baseline="0">
                <a:ln>
                  <a:noFill/>
                </a:ln>
                <a:solidFill>
                  <a:srgbClr val="1B1C1D"/>
                </a:solidFill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Google Sans Text" charset="0"/>
              </a:rPr>
              <a:t>ゲーム終了時に、持っているお菓子の種類が多いほど、高得点がもらえます！ </a:t>
            </a:r>
            <a:endParaRPr kumimoji="0" lang="ja-JP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b="1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游ゴシック" panose="020B0400000000000000" pitchFamily="50" charset="-128"/>
                <a:ea typeface="游ゴシック" panose="020B0400000000000000" pitchFamily="50" charset="-128"/>
                <a:cs typeface="Google Sans Text" charset="0"/>
              </a:rPr>
              <a:t>ポイントを稼ぐだけでなく、色々な種類のお菓子を集めることが勝利への近道です。</a:t>
            </a:r>
            <a:endParaRPr kumimoji="0" lang="ja-JP" altLang="en-US" sz="8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</a:endParaRPr>
          </a:p>
          <a:p>
            <a:pPr marL="0" marR="0" lvl="0" indent="1397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ja-JP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98B74DC-4FA2-CEEB-20C8-3D59144D6B5A}"/>
              </a:ext>
            </a:extLst>
          </p:cNvPr>
          <p:cNvSpPr/>
          <p:nvPr/>
        </p:nvSpPr>
        <p:spPr>
          <a:xfrm>
            <a:off x="10848975" y="4924425"/>
            <a:ext cx="1266825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97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6C240620-7E9D-8C11-60E1-ECC11EA00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824718"/>
              </p:ext>
            </p:extLst>
          </p:nvPr>
        </p:nvGraphicFramePr>
        <p:xfrm>
          <a:off x="3025559" y="815857"/>
          <a:ext cx="7564182" cy="5430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8080">
                  <a:extLst>
                    <a:ext uri="{9D8B030D-6E8A-4147-A177-3AD203B41FA5}">
                      <a16:colId xmlns:a16="http://schemas.microsoft.com/office/drawing/2014/main" val="473590760"/>
                    </a:ext>
                  </a:extLst>
                </a:gridCol>
                <a:gridCol w="5146102">
                  <a:extLst>
                    <a:ext uri="{9D8B030D-6E8A-4147-A177-3AD203B41FA5}">
                      <a16:colId xmlns:a16="http://schemas.microsoft.com/office/drawing/2014/main" val="3679378583"/>
                    </a:ext>
                  </a:extLst>
                </a:gridCol>
              </a:tblGrid>
              <a:tr h="7758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1">
                          <a:solidFill>
                            <a:schemeClr val="bg1"/>
                          </a:solidFill>
                        </a:rPr>
                        <a:t>さいころの目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>
                          <a:solidFill>
                            <a:schemeClr val="bg1"/>
                          </a:solidFill>
                        </a:rPr>
                        <a:t>イベント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05147"/>
                  </a:ext>
                </a:extLst>
              </a:tr>
              <a:tr h="7758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/>
                        <a:t>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rgbClr val="FF33CC"/>
                          </a:solidFill>
                        </a:rPr>
                        <a:t>ピンクの飴の価格高騰（</a:t>
                      </a:r>
                      <a:r>
                        <a:rPr kumimoji="1" lang="en-US" altLang="ja-JP" sz="2400" b="1" dirty="0">
                          <a:solidFill>
                            <a:srgbClr val="FF33CC"/>
                          </a:solidFill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rgbClr val="FF33CC"/>
                          </a:solidFill>
                        </a:rPr>
                        <a:t>＄</a:t>
                      </a:r>
                      <a:r>
                        <a:rPr kumimoji="1" lang="en-US" altLang="ja-JP" sz="2400" b="1" dirty="0">
                          <a:solidFill>
                            <a:srgbClr val="FF33CC"/>
                          </a:solidFill>
                        </a:rPr>
                        <a:t>/</a:t>
                      </a:r>
                      <a:r>
                        <a:rPr kumimoji="1" lang="ja-JP" altLang="en-US" sz="2400" b="1" dirty="0">
                          <a:solidFill>
                            <a:srgbClr val="FF33CC"/>
                          </a:solidFill>
                        </a:rPr>
                        <a:t>€）</a:t>
                      </a:r>
                      <a:endParaRPr kumimoji="1" lang="ja-JP" altLang="en-US" sz="2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614898"/>
                  </a:ext>
                </a:extLst>
              </a:tr>
              <a:tr h="7758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 dirty="0"/>
                        <a:t>２</a:t>
                      </a:r>
                      <a:endParaRPr kumimoji="1" lang="en-US" altLang="ja-JP" sz="28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rgbClr val="0070C0"/>
                          </a:solidFill>
                        </a:rPr>
                        <a:t>青の飴の価格高騰（</a:t>
                      </a:r>
                      <a:r>
                        <a:rPr kumimoji="1" lang="en-US" altLang="ja-JP" sz="2400" b="1" dirty="0">
                          <a:solidFill>
                            <a:srgbClr val="0070C0"/>
                          </a:solidFill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rgbClr val="0070C0"/>
                          </a:solidFill>
                        </a:rPr>
                        <a:t>＄</a:t>
                      </a:r>
                      <a:r>
                        <a:rPr kumimoji="1" lang="en-US" altLang="ja-JP" sz="2400" b="1" dirty="0">
                          <a:solidFill>
                            <a:srgbClr val="0070C0"/>
                          </a:solidFill>
                        </a:rPr>
                        <a:t>/</a:t>
                      </a:r>
                      <a:r>
                        <a:rPr kumimoji="1" lang="ja-JP" altLang="en-US" sz="2400" b="1" dirty="0">
                          <a:solidFill>
                            <a:srgbClr val="0070C0"/>
                          </a:solidFill>
                        </a:rPr>
                        <a:t>€）</a:t>
                      </a:r>
                      <a:endParaRPr kumimoji="1" lang="ja-JP" altLang="en-US" sz="24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147387"/>
                  </a:ext>
                </a:extLst>
              </a:tr>
              <a:tr h="7758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/>
                        <a:t>３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>
                          <a:solidFill>
                            <a:srgbClr val="7030A0"/>
                          </a:solidFill>
                        </a:rPr>
                        <a:t>紫の飴の価格高騰（</a:t>
                      </a:r>
                      <a:r>
                        <a:rPr kumimoji="1" lang="en-US" altLang="ja-JP" sz="2400" b="1">
                          <a:solidFill>
                            <a:srgbClr val="7030A0"/>
                          </a:solidFill>
                        </a:rPr>
                        <a:t>5</a:t>
                      </a:r>
                      <a:r>
                        <a:rPr kumimoji="1" lang="ja-JP" altLang="en-US" sz="2400" b="1">
                          <a:solidFill>
                            <a:srgbClr val="7030A0"/>
                          </a:solidFill>
                        </a:rPr>
                        <a:t>＄</a:t>
                      </a:r>
                      <a:r>
                        <a:rPr kumimoji="1" lang="en-US" altLang="ja-JP" sz="2400" b="1">
                          <a:solidFill>
                            <a:srgbClr val="7030A0"/>
                          </a:solidFill>
                        </a:rPr>
                        <a:t>/</a:t>
                      </a:r>
                      <a:r>
                        <a:rPr kumimoji="1" lang="ja-JP" altLang="en-US" sz="2400" b="1">
                          <a:solidFill>
                            <a:srgbClr val="7030A0"/>
                          </a:solidFill>
                        </a:rPr>
                        <a:t>€）</a:t>
                      </a:r>
                      <a:endParaRPr kumimoji="1" lang="ja-JP" altLang="en-US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943691"/>
                  </a:ext>
                </a:extLst>
              </a:tr>
              <a:tr h="7758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/>
                        <a:t>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>
                          <a:solidFill>
                            <a:srgbClr val="FFC000"/>
                          </a:solidFill>
                        </a:rPr>
                        <a:t>パインアメの価格高騰（</a:t>
                      </a:r>
                      <a:r>
                        <a:rPr kumimoji="1" lang="en-US" altLang="ja-JP" sz="2400" b="1">
                          <a:solidFill>
                            <a:srgbClr val="FFC000"/>
                          </a:solidFill>
                        </a:rPr>
                        <a:t>5</a:t>
                      </a:r>
                      <a:r>
                        <a:rPr kumimoji="1" lang="ja-JP" altLang="en-US" sz="2400" b="1">
                          <a:solidFill>
                            <a:srgbClr val="FFC000"/>
                          </a:solidFill>
                        </a:rPr>
                        <a:t>＄</a:t>
                      </a:r>
                      <a:r>
                        <a:rPr kumimoji="1" lang="en-US" altLang="ja-JP" sz="2400" b="1">
                          <a:solidFill>
                            <a:srgbClr val="FFC000"/>
                          </a:solidFill>
                        </a:rPr>
                        <a:t>/</a:t>
                      </a:r>
                      <a:r>
                        <a:rPr kumimoji="1" lang="ja-JP" altLang="en-US" sz="2400" b="1">
                          <a:solidFill>
                            <a:srgbClr val="FFC000"/>
                          </a:solidFill>
                        </a:rPr>
                        <a:t>€）</a:t>
                      </a:r>
                      <a:endParaRPr kumimoji="1" lang="ja-JP" altLang="en-US" sz="240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545831"/>
                  </a:ext>
                </a:extLst>
              </a:tr>
              <a:tr h="7758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/>
                        <a:t>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>
                          <a:solidFill>
                            <a:srgbClr val="002060"/>
                          </a:solidFill>
                        </a:rPr>
                        <a:t>市場停滞（貿易手数料</a:t>
                      </a:r>
                      <a:r>
                        <a:rPr kumimoji="1" lang="en-US" altLang="ja-JP" sz="2400" b="1">
                          <a:solidFill>
                            <a:srgbClr val="002060"/>
                          </a:solidFill>
                        </a:rPr>
                        <a:t>2</a:t>
                      </a:r>
                      <a:r>
                        <a:rPr kumimoji="1" lang="ja-JP" altLang="en-US" sz="2400" b="1">
                          <a:solidFill>
                            <a:srgbClr val="002060"/>
                          </a:solidFill>
                        </a:rPr>
                        <a:t>＄</a:t>
                      </a:r>
                      <a:r>
                        <a:rPr kumimoji="1" lang="en-US" altLang="ja-JP" sz="2400" b="1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kumimoji="1" lang="ja-JP" altLang="en-US" sz="2400" b="1">
                          <a:solidFill>
                            <a:srgbClr val="002060"/>
                          </a:solidFill>
                        </a:rPr>
                        <a:t>€）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797858"/>
                  </a:ext>
                </a:extLst>
              </a:tr>
              <a:tr h="77582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/>
                        <a:t>６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rgbClr val="C00000"/>
                          </a:solidFill>
                        </a:rPr>
                        <a:t>好景気（自由貿易）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852903"/>
                  </a:ext>
                </a:extLst>
              </a:tr>
            </a:tbl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057E90A2-C9B0-1F51-0DA6-159994D9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イベント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602EC5E-2FF7-AB4C-BEBC-A6739975A92A}"/>
              </a:ext>
            </a:extLst>
          </p:cNvPr>
          <p:cNvSpPr/>
          <p:nvPr/>
        </p:nvSpPr>
        <p:spPr>
          <a:xfrm>
            <a:off x="10848975" y="4924425"/>
            <a:ext cx="1266825" cy="1447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1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97D19FBD-A2C9-4799-931A-EC2A57492F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2195217"/>
              </p:ext>
            </p:extLst>
          </p:nvPr>
        </p:nvGraphicFramePr>
        <p:xfrm>
          <a:off x="2471896" y="966665"/>
          <a:ext cx="10480533" cy="5736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A5B5415-5DB1-0AAD-8531-27302881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wordArtVert"/>
          <a:lstStyle/>
          <a:p>
            <a:r>
              <a:rPr lang="ja-JP" altLang="en-US" dirty="0"/>
              <a:t>ヨーロッパ諸国</a:t>
            </a:r>
            <a:endParaRPr 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7D682EB-B569-0CD5-11F2-B4755AD0DF45}"/>
              </a:ext>
            </a:extLst>
          </p:cNvPr>
          <p:cNvCxnSpPr>
            <a:cxnSpLocks/>
          </p:cNvCxnSpPr>
          <p:nvPr/>
        </p:nvCxnSpPr>
        <p:spPr>
          <a:xfrm>
            <a:off x="3158867" y="1407743"/>
            <a:ext cx="7659329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04D39E5-A4B0-9FD6-304A-9242AFC95F9C}"/>
              </a:ext>
            </a:extLst>
          </p:cNvPr>
          <p:cNvGrpSpPr/>
          <p:nvPr/>
        </p:nvGrpSpPr>
        <p:grpSpPr>
          <a:xfrm>
            <a:off x="6898572" y="1407743"/>
            <a:ext cx="1778000" cy="2851496"/>
            <a:chOff x="5527662" y="1443435"/>
            <a:chExt cx="1778000" cy="2288304"/>
          </a:xfrm>
        </p:grpSpPr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379A98F9-E7EE-2898-9C8B-EE6CD8B6F402}"/>
                </a:ext>
              </a:extLst>
            </p:cNvPr>
            <p:cNvCxnSpPr>
              <a:cxnSpLocks/>
            </p:cNvCxnSpPr>
            <p:nvPr/>
          </p:nvCxnSpPr>
          <p:spPr>
            <a:xfrm>
              <a:off x="6390151" y="1443435"/>
              <a:ext cx="0" cy="2288304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789FAF17-9E41-F2CD-22BE-E5CD7827F72A}"/>
                </a:ext>
              </a:extLst>
            </p:cNvPr>
            <p:cNvSpPr txBox="1"/>
            <p:nvPr/>
          </p:nvSpPr>
          <p:spPr>
            <a:xfrm>
              <a:off x="5527662" y="2188164"/>
              <a:ext cx="1778000" cy="5680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約</a:t>
              </a:r>
              <a:r>
                <a:rPr kumimoji="0" lang="en-US" altLang="ja-JP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4</a:t>
              </a:r>
              <a:r>
                <a:rPr kumimoji="0" lang="ja-JP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倍</a:t>
              </a:r>
              <a:endPara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C6B9DC04-4381-3462-F1B5-917E24B7DCE8}"/>
              </a:ext>
            </a:extLst>
          </p:cNvPr>
          <p:cNvGrpSpPr/>
          <p:nvPr/>
        </p:nvGrpSpPr>
        <p:grpSpPr>
          <a:xfrm>
            <a:off x="9718839" y="1418722"/>
            <a:ext cx="1877142" cy="3275826"/>
            <a:chOff x="9551918" y="1418721"/>
            <a:chExt cx="1877142" cy="3430441"/>
          </a:xfrm>
        </p:grpSpPr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DE7FCEAB-ABF4-9C4B-C9EA-C51E5110854F}"/>
                </a:ext>
              </a:extLst>
            </p:cNvPr>
            <p:cNvCxnSpPr>
              <a:cxnSpLocks/>
            </p:cNvCxnSpPr>
            <p:nvPr/>
          </p:nvCxnSpPr>
          <p:spPr>
            <a:xfrm>
              <a:off x="10490489" y="1418721"/>
              <a:ext cx="0" cy="3430441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0FEF41AD-490E-CC5E-0D39-37BCA21612CD}"/>
                </a:ext>
              </a:extLst>
            </p:cNvPr>
            <p:cNvSpPr txBox="1"/>
            <p:nvPr/>
          </p:nvSpPr>
          <p:spPr>
            <a:xfrm>
              <a:off x="9551918" y="2628448"/>
              <a:ext cx="1877142" cy="7412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約</a:t>
              </a:r>
              <a:r>
                <a:rPr kumimoji="0" lang="en-US" altLang="ja-JP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8</a:t>
              </a:r>
              <a:r>
                <a:rPr kumimoji="0" lang="ja-JP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倍</a:t>
              </a:r>
              <a:endPara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AEEBAE9-03A0-2BE9-03D7-7FD74E2D1018}"/>
              </a:ext>
            </a:extLst>
          </p:cNvPr>
          <p:cNvSpPr txBox="1"/>
          <p:nvPr/>
        </p:nvSpPr>
        <p:spPr>
          <a:xfrm>
            <a:off x="10275216" y="6566626"/>
            <a:ext cx="1978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出典：</a:t>
            </a:r>
            <a:r>
              <a:rPr lang="en-US" altLang="ja-JP" sz="110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IMF</a:t>
            </a:r>
            <a:r>
              <a:rPr lang="ja-JP" altLang="en-US" sz="110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（</a:t>
            </a:r>
            <a:r>
              <a:rPr lang="en-US" altLang="ja-JP" sz="110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2025</a:t>
            </a:r>
            <a:r>
              <a:rPr lang="ja-JP" altLang="en-US" sz="110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379BEB1-3EF4-EF70-09F9-2C5086852E6A}"/>
              </a:ext>
            </a:extLst>
          </p:cNvPr>
          <p:cNvSpPr txBox="1"/>
          <p:nvPr/>
        </p:nvSpPr>
        <p:spPr>
          <a:xfrm>
            <a:off x="3002695" y="172048"/>
            <a:ext cx="586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所得が何倍も違う国が統合</a:t>
            </a:r>
            <a:endParaRPr kumimoji="0" lang="en-US" sz="3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53FBF5E-3C00-C8E1-84D4-7E193164E3A9}"/>
              </a:ext>
            </a:extLst>
          </p:cNvPr>
          <p:cNvSpPr txBox="1"/>
          <p:nvPr/>
        </p:nvSpPr>
        <p:spPr>
          <a:xfrm>
            <a:off x="8583861" y="172048"/>
            <a:ext cx="3048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→</a:t>
            </a:r>
            <a:r>
              <a:rPr lang="ja-JP" altLang="en-US" sz="3600" b="1" dirty="0">
                <a:solidFill>
                  <a:srgbClr val="C00000"/>
                </a:solidFill>
                <a:latin typeface="游ゴシック" panose="020F0502020204030204"/>
                <a:ea typeface="游ゴシック" panose="020B0400000000000000" pitchFamily="50" charset="-128"/>
              </a:rPr>
              <a:t>多種多様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946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B11712-8694-8232-F0DA-F5331B60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ゲームの設定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9348A7-A518-7728-0968-31831C277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999" y="688208"/>
            <a:ext cx="10032001" cy="67103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kumimoji="1" lang="ja-JP" altLang="en-US" sz="4400" b="1" dirty="0">
                <a:solidFill>
                  <a:srgbClr val="C00000"/>
                </a:solidFill>
              </a:rPr>
              <a:t>ゲームを振り返ってみよう</a:t>
            </a:r>
          </a:p>
        </p:txBody>
      </p:sp>
      <p:pic>
        <p:nvPicPr>
          <p:cNvPr id="5" name="図 4" descr="人, 男, ノートパソコン, 女性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EAE58AB-C325-CC97-4077-526F0919F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931251" y="1507524"/>
            <a:ext cx="6687840" cy="446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55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6BCD-1651-7158-CDCA-BCD143F5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BFC8825B-60FB-A044-C14A-C443B40042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-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C5BC79-E3BB-C589-6338-9505801CA87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2026/8/23</a:t>
            </a:r>
            <a:endParaRPr kumimoji="0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2B6E571-108D-EF7A-6638-247F7B0C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金融危機の震源</a:t>
            </a:r>
            <a:endParaRPr 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8B2B77-033A-2A92-6605-B875F8C2AFF5}"/>
              </a:ext>
            </a:extLst>
          </p:cNvPr>
          <p:cNvSpPr txBox="1"/>
          <p:nvPr/>
        </p:nvSpPr>
        <p:spPr>
          <a:xfrm>
            <a:off x="2751954" y="3173373"/>
            <a:ext cx="8639812" cy="83099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2009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年</a:t>
            </a: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10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月、ギリシャ政府の財政赤字に関する</a:t>
            </a:r>
            <a:endParaRPr kumimoji="0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b="1" dirty="0">
                <a:solidFill>
                  <a:prstClr val="white"/>
                </a:solidFill>
                <a:latin typeface="游ゴシック" panose="020F0502020204030204"/>
                <a:ea typeface="游ゴシック" panose="020B0400000000000000" pitchFamily="50" charset="-128"/>
              </a:rPr>
              <a:t>粉飾決算が発覚。ユーロの価値が暴落。</a:t>
            </a:r>
            <a:endParaRPr kumimoji="0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73B143C4-22F5-EE53-AD00-CFA630114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 r="15195"/>
          <a:stretch/>
        </p:blipFill>
        <p:spPr>
          <a:xfrm>
            <a:off x="2751954" y="323998"/>
            <a:ext cx="2572645" cy="2572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741E6B-D5C6-4D6C-F562-A412E1AE90AA}"/>
              </a:ext>
            </a:extLst>
          </p:cNvPr>
          <p:cNvSpPr txBox="1"/>
          <p:nvPr/>
        </p:nvSpPr>
        <p:spPr>
          <a:xfrm>
            <a:off x="8540629" y="323998"/>
            <a:ext cx="2570801" cy="24152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人口：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1,046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万人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面積：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13.2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万㎢　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※</a:t>
            </a:r>
            <a:r>
              <a:rPr kumimoji="0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日本の３分の</a:t>
            </a:r>
            <a:r>
              <a:rPr kumimoji="0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</a:t>
            </a:r>
            <a:r>
              <a:rPr kumimoji="0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強</a:t>
            </a:r>
            <a:endParaRPr kumimoji="0" lang="en-US" altLang="ja-JP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首都：アテネ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公用語：ギリシャ語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１人あたり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GDP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：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23,400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ドル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◎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EU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　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×EFTA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◎ユーロ ◎シェンゲン協定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4759B2F-E131-A887-15F0-43894C73A6F7}"/>
              </a:ext>
            </a:extLst>
          </p:cNvPr>
          <p:cNvSpPr txBox="1"/>
          <p:nvPr/>
        </p:nvSpPr>
        <p:spPr>
          <a:xfrm>
            <a:off x="5452305" y="260864"/>
            <a:ext cx="304628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ギリシャ</a:t>
            </a:r>
            <a:endParaRPr kumimoji="0" lang="en-US" altLang="ja-JP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9C8BA41-A8CF-8DC5-2080-D569B325A57A}"/>
              </a:ext>
            </a:extLst>
          </p:cNvPr>
          <p:cNvSpPr txBox="1"/>
          <p:nvPr/>
        </p:nvSpPr>
        <p:spPr>
          <a:xfrm>
            <a:off x="5452305" y="1085052"/>
            <a:ext cx="3046282" cy="12992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西欧文明の源流</a:t>
            </a:r>
            <a:endParaRPr kumimoji="0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オリンピックの故郷</a:t>
            </a:r>
            <a:endParaRPr kumimoji="0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世界有数の海運国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F2CAFE3-5DD4-F977-5B7D-62095B708D98}"/>
              </a:ext>
            </a:extLst>
          </p:cNvPr>
          <p:cNvSpPr txBox="1"/>
          <p:nvPr/>
        </p:nvSpPr>
        <p:spPr>
          <a:xfrm>
            <a:off x="8328455" y="4362541"/>
            <a:ext cx="2782975" cy="1701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b="1" dirty="0">
                <a:solidFill>
                  <a:srgbClr val="C00000"/>
                </a:solidFill>
                <a:latin typeface="游ゴシック" panose="020F0502020204030204"/>
                <a:ea typeface="游ゴシック" panose="020B0400000000000000" pitchFamily="50" charset="-128"/>
              </a:rPr>
              <a:t>ギリシャの危機が</a:t>
            </a:r>
            <a:endParaRPr lang="en-US" altLang="ja-JP" sz="2400" b="1" dirty="0">
              <a:solidFill>
                <a:srgbClr val="C00000"/>
              </a:solidFill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b="1" dirty="0">
                <a:solidFill>
                  <a:srgbClr val="C00000"/>
                </a:solidFill>
                <a:latin typeface="游ゴシック" panose="020F0502020204030204"/>
                <a:ea typeface="游ゴシック" panose="020B0400000000000000" pitchFamily="50" charset="-128"/>
              </a:rPr>
              <a:t>他のユーロ圏に</a:t>
            </a:r>
            <a:endParaRPr lang="en-US" altLang="ja-JP" sz="2400" b="1" dirty="0">
              <a:solidFill>
                <a:srgbClr val="C00000"/>
              </a:solidFill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400" b="1" dirty="0">
                <a:solidFill>
                  <a:srgbClr val="C00000"/>
                </a:solidFill>
                <a:latin typeface="游ゴシック" panose="020F0502020204030204"/>
                <a:ea typeface="游ゴシック" panose="020B0400000000000000" pitchFamily="50" charset="-128"/>
              </a:rPr>
              <a:t>悪影響が</a:t>
            </a:r>
            <a:endParaRPr lang="en-US" altLang="ja-JP" sz="2400" b="1" dirty="0">
              <a:solidFill>
                <a:srgbClr val="C00000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9B20DE-9150-D365-5BD8-983B599DEF77}"/>
              </a:ext>
            </a:extLst>
          </p:cNvPr>
          <p:cNvSpPr txBox="1"/>
          <p:nvPr/>
        </p:nvSpPr>
        <p:spPr>
          <a:xfrm>
            <a:off x="2514445" y="3104765"/>
            <a:ext cx="110064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ポイント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1E05FD7-488E-D1AA-9324-A2045BA75F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60" t="25592" r="2566" b="48619"/>
          <a:stretch>
            <a:fillRect/>
          </a:stretch>
        </p:blipFill>
        <p:spPr>
          <a:xfrm>
            <a:off x="2751954" y="4123996"/>
            <a:ext cx="5576500" cy="217864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741319B-5410-63FB-5E2A-6A93718298E2}"/>
              </a:ext>
            </a:extLst>
          </p:cNvPr>
          <p:cNvSpPr txBox="1"/>
          <p:nvPr/>
        </p:nvSpPr>
        <p:spPr>
          <a:xfrm>
            <a:off x="2751954" y="6303456"/>
            <a:ext cx="34027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/>
              <a:t>出典：</a:t>
            </a:r>
            <a:r>
              <a:rPr lang="en-US" altLang="ja-JP" sz="1200" dirty="0"/>
              <a:t>2015</a:t>
            </a:r>
            <a:r>
              <a:rPr lang="ja-JP" altLang="en-US" sz="1200" dirty="0"/>
              <a:t>年</a:t>
            </a:r>
            <a:r>
              <a:rPr lang="en-US" altLang="ja-JP" sz="1200" dirty="0"/>
              <a:t>9</a:t>
            </a:r>
            <a:r>
              <a:rPr lang="ja-JP" altLang="en-US" sz="1200" dirty="0"/>
              <a:t>月</a:t>
            </a:r>
            <a:r>
              <a:rPr lang="en-US" altLang="ja-JP" sz="1200" dirty="0"/>
              <a:t>15</a:t>
            </a:r>
            <a:r>
              <a:rPr lang="ja-JP" altLang="en-US" sz="1200" dirty="0"/>
              <a:t>日日経新聞より</a:t>
            </a:r>
          </a:p>
        </p:txBody>
      </p:sp>
    </p:spTree>
    <p:extLst>
      <p:ext uri="{BB962C8B-B14F-4D97-AF65-F5344CB8AC3E}">
        <p14:creationId xmlns:p14="http://schemas.microsoft.com/office/powerpoint/2010/main" val="314912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6DCC474C-4853-AF6F-07CD-CAFC1DE647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-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34A9D4B-F380-6018-506E-663226BA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EU</a:t>
            </a:r>
            <a:r>
              <a:rPr lang="ja-JP" altLang="en-US" dirty="0"/>
              <a:t>◎・ユーロ</a:t>
            </a:r>
            <a:r>
              <a:rPr lang="en-US" altLang="ja-JP" dirty="0"/>
              <a:t>×</a:t>
            </a:r>
            <a:r>
              <a:rPr lang="ja-JP" altLang="en-US" dirty="0"/>
              <a:t>　パターン②</a:t>
            </a:r>
            <a:endParaRPr 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1D07DD-79A2-3084-A63E-5E2B3CDBA4A5}"/>
              </a:ext>
            </a:extLst>
          </p:cNvPr>
          <p:cNvSpPr txBox="1"/>
          <p:nvPr/>
        </p:nvSpPr>
        <p:spPr>
          <a:xfrm>
            <a:off x="2751954" y="3173373"/>
            <a:ext cx="8639812" cy="83099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EU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には加盟しているけれど、</a:t>
            </a:r>
            <a:endParaRPr kumimoji="0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lvl="0" algn="ctr">
              <a:defRPr/>
            </a:pPr>
            <a:r>
              <a:rPr lang="ja-JP" altLang="en-US" sz="2400" b="1" dirty="0">
                <a:solidFill>
                  <a:prstClr val="white"/>
                </a:solidFill>
              </a:rPr>
              <a:t>経済格差が問題で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ユーロは導入していない</a:t>
            </a:r>
            <a:endParaRPr kumimoji="0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F1E1FC0-59DC-91DE-3685-979E772390CB}"/>
              </a:ext>
            </a:extLst>
          </p:cNvPr>
          <p:cNvSpPr txBox="1"/>
          <p:nvPr/>
        </p:nvSpPr>
        <p:spPr>
          <a:xfrm>
            <a:off x="2514445" y="3104765"/>
            <a:ext cx="110064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ポイント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5903535-6BC7-4C53-763F-FFEEF9E69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 r="15195"/>
          <a:stretch/>
        </p:blipFill>
        <p:spPr>
          <a:xfrm>
            <a:off x="2751954" y="323998"/>
            <a:ext cx="2572645" cy="2572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969CB24-A3A4-E31E-7DB7-5F3697C3CD74}"/>
              </a:ext>
            </a:extLst>
          </p:cNvPr>
          <p:cNvSpPr txBox="1"/>
          <p:nvPr/>
        </p:nvSpPr>
        <p:spPr>
          <a:xfrm>
            <a:off x="8634068" y="323998"/>
            <a:ext cx="2570801" cy="23241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人口：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596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万人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面積：</a:t>
            </a:r>
            <a:r>
              <a:rPr lang="en-US" altLang="ja-JP" sz="1400" b="1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11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.1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万㎢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首都：ソフィア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通貨：レフ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１人あたり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GDP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：</a:t>
            </a:r>
            <a:r>
              <a:rPr lang="en-US" altLang="ja-JP" sz="1400" b="1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17,588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ドル</a:t>
            </a:r>
            <a:endParaRPr kumimoji="0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◎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EU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　</a:t>
            </a: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×EFTA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</a:t>
            </a: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ユーロ ◎シェンゲン協定</a:t>
            </a: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　</a:t>
            </a:r>
            <a:endParaRPr kumimoji="0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53CF49-FCA0-F3FC-EBF3-6D5A4CEBEFD1}"/>
              </a:ext>
            </a:extLst>
          </p:cNvPr>
          <p:cNvSpPr txBox="1"/>
          <p:nvPr/>
        </p:nvSpPr>
        <p:spPr>
          <a:xfrm>
            <a:off x="5452305" y="260864"/>
            <a:ext cx="304628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ブルガリア</a:t>
            </a:r>
            <a:endParaRPr kumimoji="0" lang="en-US" altLang="ja-JP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02D46C7-7C94-E7E3-4933-3EFBE379A17A}"/>
              </a:ext>
            </a:extLst>
          </p:cNvPr>
          <p:cNvSpPr txBox="1"/>
          <p:nvPr/>
        </p:nvSpPr>
        <p:spPr>
          <a:xfrm>
            <a:off x="5452305" y="1085052"/>
            <a:ext cx="3046282" cy="12992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b="1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バラの栽培が有名</a:t>
            </a:r>
            <a:endParaRPr kumimoji="0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ja-JP" altLang="en-US" b="1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ヨーグルトでなじみある</a:t>
            </a:r>
            <a:endParaRPr kumimoji="0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rPr>
              <a:t>2007</a:t>
            </a: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rPr>
              <a:t>年に</a:t>
            </a:r>
            <a:r>
              <a:rPr kumimoji="0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rPr>
              <a:t>EU</a:t>
            </a: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rPr>
              <a:t>加盟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24596A9-8EDD-6E90-DC14-12577B48E9BD}"/>
              </a:ext>
            </a:extLst>
          </p:cNvPr>
          <p:cNvSpPr txBox="1"/>
          <p:nvPr/>
        </p:nvSpPr>
        <p:spPr>
          <a:xfrm>
            <a:off x="5686425" y="4206289"/>
            <a:ext cx="5705341" cy="1701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ブルガリア、ハンガリー、</a:t>
            </a:r>
            <a:r>
              <a:rPr lang="ja-JP" altLang="en-US" sz="2400" b="1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ルーマニアは財政・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経済的な観点から</a:t>
            </a:r>
            <a:r>
              <a:rPr lang="ja-JP" altLang="en-US" sz="2400" b="1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ユーロ導入ができていない（</a:t>
            </a:r>
            <a:r>
              <a:rPr lang="ja-JP" altLang="en-US" sz="2400" b="1" dirty="0">
                <a:solidFill>
                  <a:srgbClr val="C00000"/>
                </a:solidFill>
                <a:latin typeface="游ゴシック" panose="020F0502020204030204"/>
                <a:ea typeface="游ゴシック" panose="020B0400000000000000" pitchFamily="50" charset="-128"/>
              </a:rPr>
              <a:t>マーストリヒト基準</a:t>
            </a:r>
            <a:r>
              <a:rPr lang="ja-JP" altLang="en-US" sz="2400" b="1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）</a:t>
            </a:r>
            <a:endParaRPr lang="en-US" altLang="ja-JP" sz="2400" b="1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A2FBF35-FD91-B8E4-5655-B34116A2E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639" y="4352451"/>
            <a:ext cx="2700351" cy="142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1FA704E-8E13-0C5B-90B6-F6F7721C5E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5448" y="5256379"/>
            <a:ext cx="739129" cy="73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947D685-204F-A89C-0122-49BB301897D6}"/>
              </a:ext>
            </a:extLst>
          </p:cNvPr>
          <p:cNvSpPr txBox="1"/>
          <p:nvPr/>
        </p:nvSpPr>
        <p:spPr>
          <a:xfrm flipH="1">
            <a:off x="10497066" y="6021619"/>
            <a:ext cx="1995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259</a:t>
            </a:r>
            <a:r>
              <a:rPr lang="ja-JP" altLang="en-US" sz="1400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995 470</a:t>
            </a:r>
            <a:endParaRPr lang="ja-JP" altLang="en-US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0808-4909-CFF8-81A0-8FE40837D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>
            <a:extLst>
              <a:ext uri="{FF2B5EF4-FFF2-40B4-BE49-F238E27FC236}">
                <a16:creationId xmlns:a16="http://schemas.microsoft.com/office/drawing/2014/main" id="{C79FF29C-90E8-CDD3-24A9-12952506D9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-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3EEC7D5-CE04-1275-B98A-CB8921FAC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EU</a:t>
            </a:r>
            <a:r>
              <a:rPr lang="ja-JP" altLang="en-US" dirty="0"/>
              <a:t>◎・ユーロ</a:t>
            </a:r>
            <a:r>
              <a:rPr lang="en-US" altLang="ja-JP" dirty="0"/>
              <a:t>×</a:t>
            </a:r>
            <a:r>
              <a:rPr lang="ja-JP" altLang="en-US" dirty="0"/>
              <a:t>　パターン①</a:t>
            </a:r>
            <a:endParaRPr 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C8448D3-8353-BBC1-7C4E-181F08F0F614}"/>
              </a:ext>
            </a:extLst>
          </p:cNvPr>
          <p:cNvSpPr txBox="1"/>
          <p:nvPr/>
        </p:nvSpPr>
        <p:spPr>
          <a:xfrm>
            <a:off x="2751954" y="3173373"/>
            <a:ext cx="8639812" cy="83099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EU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には加盟しているけれど、</a:t>
            </a:r>
            <a:endParaRPr kumimoji="0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経済発展している国だが、ユーロは導入していない</a:t>
            </a:r>
            <a:endParaRPr kumimoji="0" lang="en-US" altLang="ja-JP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473B07-3CE7-37A1-B35B-2DC303E201EC}"/>
              </a:ext>
            </a:extLst>
          </p:cNvPr>
          <p:cNvSpPr txBox="1"/>
          <p:nvPr/>
        </p:nvSpPr>
        <p:spPr>
          <a:xfrm>
            <a:off x="2514445" y="3104765"/>
            <a:ext cx="110064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vert="horz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ポイント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pic>
        <p:nvPicPr>
          <p:cNvPr id="14" name="図 13" descr="マップ&#10;&#10;自動的に生成された説明">
            <a:extLst>
              <a:ext uri="{FF2B5EF4-FFF2-40B4-BE49-F238E27FC236}">
                <a16:creationId xmlns:a16="http://schemas.microsoft.com/office/drawing/2014/main" id="{B4A19040-5A6B-0A1F-F81A-2C9BFFBE82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0" r="15200"/>
          <a:stretch/>
        </p:blipFill>
        <p:spPr>
          <a:xfrm>
            <a:off x="2751954" y="323998"/>
            <a:ext cx="2572645" cy="2572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16E0010-17B4-53BE-8B05-82C5902A9018}"/>
              </a:ext>
            </a:extLst>
          </p:cNvPr>
          <p:cNvSpPr txBox="1"/>
          <p:nvPr/>
        </p:nvSpPr>
        <p:spPr>
          <a:xfrm>
            <a:off x="8634068" y="323998"/>
            <a:ext cx="2570801" cy="26474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人口：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596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万人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面積：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4.3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万㎢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首都：コペンハーゲン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通貨：デンマーククローネ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１人あたり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GDP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：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68,898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ドル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◎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EU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　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×EFTA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ユーロ ◎シェンゲン協定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※EFTA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は</a:t>
            </a:r>
            <a:r>
              <a:rPr kumimoji="0" lang="en-US" altLang="ja-JP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1972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年に脱退　</a:t>
            </a:r>
            <a:endParaRPr kumimoji="0" lang="en-US" altLang="ja-JP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824A237-228C-F7EB-A589-5C55C0656EC8}"/>
              </a:ext>
            </a:extLst>
          </p:cNvPr>
          <p:cNvSpPr txBox="1"/>
          <p:nvPr/>
        </p:nvSpPr>
        <p:spPr>
          <a:xfrm>
            <a:off x="5452305" y="260864"/>
            <a:ext cx="304628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デンマーク</a:t>
            </a:r>
            <a:endParaRPr kumimoji="0" lang="en-US" altLang="ja-JP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F37FE82-6BE8-182C-E203-D9BCD4A5A0EA}"/>
              </a:ext>
            </a:extLst>
          </p:cNvPr>
          <p:cNvSpPr txBox="1"/>
          <p:nvPr/>
        </p:nvSpPr>
        <p:spPr>
          <a:xfrm>
            <a:off x="5452305" y="1085052"/>
            <a:ext cx="3046282" cy="129997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アンデルセンの出身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レゴの本社がある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北欧の福祉国家でも有名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pic>
        <p:nvPicPr>
          <p:cNvPr id="2050" name="Picture 2" descr="画像">
            <a:extLst>
              <a:ext uri="{FF2B5EF4-FFF2-40B4-BE49-F238E27FC236}">
                <a16:creationId xmlns:a16="http://schemas.microsoft.com/office/drawing/2014/main" id="{F1FE9457-6433-1AEB-8F01-7D7444D43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954" y="4232577"/>
            <a:ext cx="3014949" cy="226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BED85C-562A-37C9-6241-87AB2C150688}"/>
              </a:ext>
            </a:extLst>
          </p:cNvPr>
          <p:cNvSpPr txBox="1"/>
          <p:nvPr/>
        </p:nvSpPr>
        <p:spPr>
          <a:xfrm>
            <a:off x="5993176" y="4206289"/>
            <a:ext cx="5398590" cy="1701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2000</a:t>
            </a: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年にユーロ導入の国民投票をした結果、金融政策を捨てることに反対した。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284D86F-A6DF-4ADE-FC96-AE284889F4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5448" y="5256379"/>
            <a:ext cx="739129" cy="73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56D8E57-2D8E-EA6E-7CF1-F5D350B71D50}"/>
              </a:ext>
            </a:extLst>
          </p:cNvPr>
          <p:cNvSpPr txBox="1"/>
          <p:nvPr/>
        </p:nvSpPr>
        <p:spPr>
          <a:xfrm flipH="1">
            <a:off x="10497066" y="6021619"/>
            <a:ext cx="1995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259</a:t>
            </a:r>
            <a:r>
              <a:rPr lang="ja-JP" altLang="en-US" sz="1400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995 470</a:t>
            </a:r>
            <a:endParaRPr lang="ja-JP" altLang="en-US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40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A9D4B-F380-6018-506E-663226BA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異端児？モンテネグロ</a:t>
            </a:r>
            <a:endParaRPr 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FFEE357-6980-6512-A5AB-403D513A9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 r="15195"/>
          <a:stretch/>
        </p:blipFill>
        <p:spPr>
          <a:xfrm>
            <a:off x="2751954" y="323998"/>
            <a:ext cx="2572645" cy="25726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EECEC4E-DD08-F89B-8A3F-41565F4B52B3}"/>
              </a:ext>
            </a:extLst>
          </p:cNvPr>
          <p:cNvSpPr txBox="1"/>
          <p:nvPr/>
        </p:nvSpPr>
        <p:spPr>
          <a:xfrm>
            <a:off x="8634068" y="323998"/>
            <a:ext cx="2700000" cy="26468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人口：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62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万人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面積：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13,812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㎢（福島県）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首都：ポドゴリツァ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通貨：ユーロ（€）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１人当たり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GNI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：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12,646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ドル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×EU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　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×EFTA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◎ユーロ </a:t>
            </a:r>
            <a:r>
              <a:rPr kumimoji="0" lang="en-US" altLang="ja-JP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×</a:t>
            </a:r>
            <a:r>
              <a:rPr kumimoji="0" lang="ja-JP" alt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シェンゲン協定</a:t>
            </a: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7C4D9C6-2A85-CAC0-2ED6-533D209B0FA2}"/>
              </a:ext>
            </a:extLst>
          </p:cNvPr>
          <p:cNvSpPr txBox="1"/>
          <p:nvPr/>
        </p:nvSpPr>
        <p:spPr>
          <a:xfrm>
            <a:off x="5452305" y="260864"/>
            <a:ext cx="304628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モンテネグロ</a:t>
            </a:r>
            <a:endParaRPr kumimoji="0" lang="en-US" altLang="ja-JP" sz="2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9C95BD2-B58D-71A6-6D90-FE7EB0B443E9}"/>
              </a:ext>
            </a:extLst>
          </p:cNvPr>
          <p:cNvSpPr txBox="1"/>
          <p:nvPr/>
        </p:nvSpPr>
        <p:spPr>
          <a:xfrm>
            <a:off x="5460080" y="1006579"/>
            <a:ext cx="3046282" cy="17147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旧ユーゴスラビアの国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2006</a:t>
            </a: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年にセルビアから独立。</a:t>
            </a:r>
            <a:endParaRPr kumimoji="0" lang="en-US" altLang="ja-JP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アドリア海のビーチ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CEAE110-7FD9-624E-1DCD-EED7294981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b="161"/>
          <a:stretch/>
        </p:blipFill>
        <p:spPr bwMode="auto">
          <a:xfrm>
            <a:off x="11111430" y="-3943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6D7A8B56-4539-0C2F-D309-56B073179519}"/>
              </a:ext>
            </a:extLst>
          </p:cNvPr>
          <p:cNvGrpSpPr/>
          <p:nvPr/>
        </p:nvGrpSpPr>
        <p:grpSpPr>
          <a:xfrm>
            <a:off x="2514445" y="3104765"/>
            <a:ext cx="8893797" cy="3288110"/>
            <a:chOff x="2514445" y="3104765"/>
            <a:chExt cx="8893797" cy="3288110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98DEE6B3-ADCA-D442-9920-2FAFE4B32875}"/>
                </a:ext>
              </a:extLst>
            </p:cNvPr>
            <p:cNvSpPr txBox="1"/>
            <p:nvPr/>
          </p:nvSpPr>
          <p:spPr>
            <a:xfrm>
              <a:off x="2768430" y="3173372"/>
              <a:ext cx="8639812" cy="830997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2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EU</a:t>
              </a:r>
              <a:r>
                <a:rPr kumimoji="0" lang="ja-JP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加盟を目指している国</a:t>
              </a:r>
              <a:endParaRPr kumimoji="0" lang="en-US" altLang="ja-JP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通貨は</a:t>
              </a:r>
              <a:r>
                <a:rPr kumimoji="0" lang="en-US" altLang="ja-JP" sz="2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EU</a:t>
              </a:r>
              <a:r>
                <a:rPr kumimoji="0" lang="ja-JP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ではないのにユーロを導入</a:t>
              </a:r>
              <a:endParaRPr kumimoji="0" lang="en-US" altLang="ja-JP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51F9CE9-3657-8C48-0FB0-CC1B012C6D74}"/>
                </a:ext>
              </a:extLst>
            </p:cNvPr>
            <p:cNvSpPr txBox="1"/>
            <p:nvPr/>
          </p:nvSpPr>
          <p:spPr>
            <a:xfrm>
              <a:off x="2514445" y="3104765"/>
              <a:ext cx="1100644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vert="horz"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ポイント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endParaRPr>
            </a:p>
          </p:txBody>
        </p:sp>
        <p:pic>
          <p:nvPicPr>
            <p:cNvPr id="15" name="図 14" descr="水, 屋外, 船, 港 が含まれている画像&#10;&#10;自動的に生成された説明">
              <a:extLst>
                <a:ext uri="{FF2B5EF4-FFF2-40B4-BE49-F238E27FC236}">
                  <a16:creationId xmlns:a16="http://schemas.microsoft.com/office/drawing/2014/main" id="{DCEE0F2C-6735-A8A4-4900-6E91F7FD6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2768429" y="4234019"/>
              <a:ext cx="3449223" cy="2155764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33058323-83DB-DA1A-3746-E3DB226A1206}"/>
                </a:ext>
              </a:extLst>
            </p:cNvPr>
            <p:cNvSpPr txBox="1"/>
            <p:nvPr/>
          </p:nvSpPr>
          <p:spPr>
            <a:xfrm>
              <a:off x="6400800" y="4137321"/>
              <a:ext cx="5007442" cy="2255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ユーゴスラビア紛争の渦中にあった。現在は</a:t>
              </a:r>
              <a:r>
                <a:rPr kumimoji="0" lang="en-US" altLang="ja-JP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EU</a:t>
              </a:r>
              <a:r>
                <a:rPr kumimoji="0" lang="ja-JP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加盟を目指して制度改革を進めている。欧州中央銀行の許可なくユーロを使用。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endParaRPr>
            </a:p>
          </p:txBody>
        </p:sp>
      </p:grp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8707FAA9-5667-2606-9B2D-2765A7620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5448" y="5256379"/>
            <a:ext cx="739129" cy="739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BD5B179-62C1-A7FE-6034-02145C89525D}"/>
              </a:ext>
            </a:extLst>
          </p:cNvPr>
          <p:cNvSpPr txBox="1"/>
          <p:nvPr/>
        </p:nvSpPr>
        <p:spPr>
          <a:xfrm flipH="1">
            <a:off x="10497066" y="6021619"/>
            <a:ext cx="19958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259</a:t>
            </a:r>
            <a:r>
              <a:rPr lang="ja-JP" altLang="en-US" sz="1400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b="0" i="0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995 470</a:t>
            </a:r>
            <a:endParaRPr lang="ja-JP" altLang="en-US" sz="1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663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FB9E23-4979-71CF-498B-4EE028CC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最後に！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E9AE9-0ED9-5AFD-5493-B97AA2372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36" y="5314950"/>
            <a:ext cx="10032001" cy="88814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ja-JP" altLang="en-US" sz="4000" b="1" dirty="0">
                <a:solidFill>
                  <a:srgbClr val="C00000"/>
                </a:solidFill>
              </a:rPr>
              <a:t>クイズラリーも楽しんで</a:t>
            </a:r>
            <a:r>
              <a:rPr lang="en-US" altLang="ja-JP" sz="4000" b="1" dirty="0">
                <a:solidFill>
                  <a:srgbClr val="C00000"/>
                </a:solidFill>
              </a:rPr>
              <a:t>EU</a:t>
            </a:r>
            <a:r>
              <a:rPr lang="ja-JP" altLang="en-US" sz="4000" b="1" dirty="0">
                <a:solidFill>
                  <a:srgbClr val="C00000"/>
                </a:solidFill>
              </a:rPr>
              <a:t>を知ろう！</a:t>
            </a:r>
            <a:endParaRPr lang="en-US" altLang="ja-JP" sz="4000" b="1" dirty="0">
              <a:solidFill>
                <a:srgbClr val="C0000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kumimoji="1" lang="en-US" altLang="ja-JP" sz="4000" b="1" dirty="0">
              <a:solidFill>
                <a:srgbClr val="C0000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kumimoji="1" lang="ja-JP" altLang="en-US" sz="4000" b="1" dirty="0">
              <a:solidFill>
                <a:srgbClr val="C00000"/>
              </a:solidFill>
            </a:endParaRPr>
          </a:p>
        </p:txBody>
      </p:sp>
      <p:pic>
        <p:nvPicPr>
          <p:cNvPr id="9" name="図 8" descr="The image depicts a QR code on a background featuring a European Union logo and a stadium structure, likely promoting an EU-themed quiz event.&#10;&#10;AI 生成コンテンツは誤りを含む可能性があります。">
            <a:extLst>
              <a:ext uri="{FF2B5EF4-FFF2-40B4-BE49-F238E27FC236}">
                <a16:creationId xmlns:a16="http://schemas.microsoft.com/office/drawing/2014/main" id="{03ED616B-C050-F342-965B-54A3A8DD7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393" y="528031"/>
            <a:ext cx="4582886" cy="45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0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E033D42CB1FEC40AF79D57967741934" ma:contentTypeVersion="12" ma:contentTypeDescription="新しいドキュメントを作成します。" ma:contentTypeScope="" ma:versionID="64aed9310c339173970f9f0e28cfab75">
  <xsd:schema xmlns:xsd="http://www.w3.org/2001/XMLSchema" xmlns:xs="http://www.w3.org/2001/XMLSchema" xmlns:p="http://schemas.microsoft.com/office/2006/metadata/properties" xmlns:ns3="2e82c7db-4223-4154-814a-d34b5da9deae" targetNamespace="http://schemas.microsoft.com/office/2006/metadata/properties" ma:root="true" ma:fieldsID="089f19114f3fdf03a537271f41ed953d" ns3:_="">
    <xsd:import namespace="2e82c7db-4223-4154-814a-d34b5da9dea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BillingMetadata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2c7db-4223-4154-814a-d34b5da9de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82c7db-4223-4154-814a-d34b5da9deae" xsi:nil="true"/>
  </documentManagement>
</p:properties>
</file>

<file path=customXml/itemProps1.xml><?xml version="1.0" encoding="utf-8"?>
<ds:datastoreItem xmlns:ds="http://schemas.openxmlformats.org/officeDocument/2006/customXml" ds:itemID="{EFAA8A61-9BA7-41AC-A9AC-0E638509E1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CF0C16-208E-40A0-991E-6D57228896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82c7db-4223-4154-814a-d34b5da9de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DDFA14-43DC-4B0E-A91F-30EFFFC4A444}">
  <ds:schemaRefs>
    <ds:schemaRef ds:uri="http://purl.org/dc/elements/1.1/"/>
    <ds:schemaRef ds:uri="http://purl.org/dc/terms/"/>
    <ds:schemaRef ds:uri="http://www.w3.org/XML/1998/namespace"/>
    <ds:schemaRef ds:uri="2e82c7db-4223-4154-814a-d34b5da9de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9358</TotalTime>
  <Words>1508</Words>
  <Application>Microsoft Office PowerPoint</Application>
  <PresentationFormat>ワイド画面</PresentationFormat>
  <Paragraphs>242</Paragraphs>
  <Slides>26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26</vt:i4>
      </vt:variant>
    </vt:vector>
  </HeadingPairs>
  <TitlesOfParts>
    <vt:vector size="36" baseType="lpstr">
      <vt:lpstr>HGP創英角ｺﾞｼｯｸUB</vt:lpstr>
      <vt:lpstr>HGS創英角ｺﾞｼｯｸUB</vt:lpstr>
      <vt:lpstr>HG創英角ｺﾞｼｯｸUB</vt:lpstr>
      <vt:lpstr>游ゴシック</vt:lpstr>
      <vt:lpstr>游明朝</vt:lpstr>
      <vt:lpstr>Aptos</vt:lpstr>
      <vt:lpstr>Arial</vt:lpstr>
      <vt:lpstr>1_Office テーマ</vt:lpstr>
      <vt:lpstr>2_Office テーマ</vt:lpstr>
      <vt:lpstr>3_Office テーマ</vt:lpstr>
      <vt:lpstr>ユーロの経済学 なぜ違う国なのに同じ通貨？</vt:lpstr>
      <vt:lpstr>自己紹介</vt:lpstr>
      <vt:lpstr>本日の講演テーマ</vt:lpstr>
      <vt:lpstr>ユーロについて</vt:lpstr>
      <vt:lpstr>もんだい</vt:lpstr>
      <vt:lpstr>こたえ</vt:lpstr>
      <vt:lpstr>ヨーロッパの現在</vt:lpstr>
      <vt:lpstr>多様なヨーロッパの国々</vt:lpstr>
      <vt:lpstr>国による違い</vt:lpstr>
      <vt:lpstr>ゲームで考えよう！</vt:lpstr>
      <vt:lpstr>本日のゲーム参加画面</vt:lpstr>
      <vt:lpstr>ゲームの振り返り</vt:lpstr>
      <vt:lpstr>欧州貿易ゲーム　</vt:lpstr>
      <vt:lpstr>チーム分けと銀行役</vt:lpstr>
      <vt:lpstr>ゲームの流れ</vt:lpstr>
      <vt:lpstr>ルール</vt:lpstr>
      <vt:lpstr>価格と手数料</vt:lpstr>
      <vt:lpstr>勝利条件</vt:lpstr>
      <vt:lpstr>イベント</vt:lpstr>
      <vt:lpstr>ヨーロッパ諸国</vt:lpstr>
      <vt:lpstr>ゲームの設定</vt:lpstr>
      <vt:lpstr>金融危機の震源</vt:lpstr>
      <vt:lpstr>EU◎・ユーロ×　パターン②</vt:lpstr>
      <vt:lpstr>EU◎・ユーロ×　パターン①</vt:lpstr>
      <vt:lpstr>異端児？モンテネグロ</vt:lpstr>
      <vt:lpstr>最後に！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鈴木　伸</dc:creator>
  <cp:lastModifiedBy>鈴木　伸</cp:lastModifiedBy>
  <cp:revision>2</cp:revision>
  <dcterms:created xsi:type="dcterms:W3CDTF">2025-04-13T13:53:03Z</dcterms:created>
  <dcterms:modified xsi:type="dcterms:W3CDTF">2026-08-23T04:47:26Z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0x010100CE033D42CB1FEC40AF79D57967741934</vt:lpwstr>
  </property>
</Properties>
</file>