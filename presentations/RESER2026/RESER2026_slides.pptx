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3F61"/>
    <a:srgbClr val="F8B232"/>
    <a:srgbClr val="3354A1"/>
    <a:srgbClr val="036535"/>
    <a:srgbClr val="FEF7B6"/>
    <a:srgbClr val="3D8964"/>
    <a:srgbClr val="FFC0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580" autoAdjust="0"/>
    <p:restoredTop sz="95259" autoAdjust="0"/>
  </p:normalViewPr>
  <p:slideViewPr>
    <p:cSldViewPr snapToGrid="0">
      <p:cViewPr varScale="1">
        <p:scale>
          <a:sx n="75" d="100"/>
          <a:sy n="75" d="100"/>
        </p:scale>
        <p:origin x="1373" y="53"/>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  <Relationship Id="rId9" Type="http://schemas.openxmlformats.org/officeDocument/2006/relationships/slide" Target="slides/slide3.xml"/>
  <Relationship Id="rId10" Type="http://schemas.openxmlformats.org/officeDocument/2006/relationships/slide" Target="slides/slide4.xml"/>
  <Relationship Id="rId11" Type="http://schemas.openxmlformats.org/officeDocument/2006/relationships/slide" Target="slides/slide5.xml"/>
  <Relationship Id="rId12" Type="http://schemas.openxmlformats.org/officeDocument/2006/relationships/slide" Target="slides/slide6.xml"/>
  <Relationship Id="rId13" Type="http://schemas.openxmlformats.org/officeDocument/2006/relationships/slide" Target="slides/slide7.xml"/>
  <Relationship Id="rId14" Type="http://schemas.openxmlformats.org/officeDocument/2006/relationships/slide" Target="slides/slide8.xml"/>
  <Relationship Id="rId15" Type="http://schemas.openxmlformats.org/officeDocument/2006/relationships/slide" Target="slides/slide9.xml"/>
  <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2CD53-6E5B-4A34-9F2A-00C496FCE8D4}" type="datetimeFigureOut">
              <a:rPr lang="pt-BR" smtClean="0"/>
              <a:t>30/09/2026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A43AB2-5DA7-4C60-B7BD-B41F920BA838}" type="slidenum">
              <a:rPr lang="pt-BR" smtClean="0"/>
              <a:t>‹nº›</a:t>
            </a:fld>
            <a:endParaRPr lang="pt-BR"/>
          </a:p>
        </p:txBody>
      </p:sp>
    </p:spTree>
    <p:extLst>
      <p:ext uri="{BB962C8B-B14F-4D97-AF65-F5344CB8AC3E}">
        <p14:creationId xmlns:p14="http://schemas.microsoft.com/office/powerpoint/2010/main" val="1719494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Introduce yourself and co-authors. One sentence on the puzzle: municipalities commit politically to green transition, but heat and waste still have to be delivered every day, and the companies that deliver them must judge whether an investment pays. This paper looks at how those two logics meet in actual investment decisions in three Nordic municipal arrangements.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the climate target is given politically, but it does not say which plant, at what cost, paid by whom. Municipally owned enterprises sit at exactly that intersection. State the research question and preview the three types of response we find in the records: staging (Helsinki), contractual cost allocation (Aalborg), conditional financing and purchasing (Sysav/Malmö).</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figure top to bottom. Institutions decide who may act and what enters the economic evaluation. Councils and boards hold political objectives and business appraisal in tension or alignment. Owners can intervene through three channels: capital and guarantees, prospective purchases, and agreements between group companies. Investability is defined narrowly as approved financing plus credible cost recovery. Revisability is the secondary question.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literatures. Climate governance tells us why municipalities invest; the public service ecosystem literature tells us that value is negotiated among actors and institutions; the MOE and multiple-principals literature tells us that owners and managers do not automatically agree. Our contribution is to look at the point where those three meet: the investment decision and its financing and recovery terms.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arrangements with different owner structures: a single city owner, a municipal group with several companies, and a 14-owner company. Emphasise that this is exploratory and purposive. Fifteen records, read in the original languages, each coded for purposes, appraisal, action and actor. The key methodological point: we never treat a blank cell as evidence that nothing happened.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Helsinki is the staging case. Capital was prepared before the pathway was chosen. In December 2015 the board said no option was commercially attractive, but if the city wanted to act for climate reasons it should take the less burdensome decentralised route, which the council did. Closures followed only once replacement heat existed. Be careful with the 2025 numbers: falling fuel and allowance costs are reported by management, not attributed to the 2015 decision.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Aalborg is the cost-allocation case. The interesting point is where the obligation sits: the council guarantees Varme's borrowing for the network, while the boiler's costs are passed to Varme as purchaser through a self-cost supply agreement with Nordjyllandsværket. The mayor's 2024 interview frames green industry as a growth source, but his personal influence on individual investments is not confirmed by the records. Vest is the cautionary tale about reading a rule as understood at the time.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Sysav is the conditional-support case. Thirteen of fourteen owners back the direction, Malmö sets a guarantee ceiling, yet the business case still requires contracted revenues and a final decision in 2027. Malmö's dual role matters: borrowing support addresses exposure, while buying the output requires a procurement-compliant route, which Malmö explicitly linked to the CJEU judgment. Siptex shows revisability at the level of activities.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Table I condensed. Read it column by column rather than row by row: the owner-action column shows three different kinds of intervention; the financing and recovery columns show that support in one column does not settle the other; the last column shows what is still open. Point out the 'not documented' cells and repeat that they are limits of the record.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finding. In each case the owner did something financial, and in each case the recovery side was not thereby settled. Helsinki: capital prepared, board adverse. Aalborg: guarantee for the network, costs of the boiler assigned by contract. Malmö: guarantee ceiling, revenues and approval outstanding. Owner support advances a proposal; it does not make the business case.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finding: institutions matter, but through concrete channels in specific decisions, not as 'Finland versus Denmark versus Sweden'. Tariff rules shaped Helen's appraisal and Aalborg Forsyning's Vest decision; a supply agreement allocated the boiler's costs; procurement law shaped how Malmö may buy output. Stress the caveat about rules as understood at the time, using Vest.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For multiple-principals research: agreement on direction is not agreement on obligations. For public service ecosystem research: the mediation is material, it concerns plants, contracts and prices. For the concept of investability: use it to separate commitments, not to score projects. For managers and councils: write down the alternatives, who pays each cost, the revenue conditions and the open decisions.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what documents cannot show. Then the follow-up plan: the three projects have dated milestones in 2026 and 2027, which makes a second wave of observation feasible. Invite suggestions on comparable arrangements and on access to board-level material.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one-sentence finding and the policy point: financing support is not a settled business case. Thank the audience and invite questions, particularly from colleagues working on municipal companies in other countries.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C96E2-2599-A77C-5AD1-734E1366A034}"/>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3D21146-F68B-C81F-4FA2-4AFFBCA476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666950FB-E64C-DA7D-CEBB-5A3FAE5EF11F}"/>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8C634A2E-CF94-B554-9315-0B725DFD716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22A67E5-804D-1CDF-4D2F-24B64092E1B2}"/>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2766562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351881-C3BC-6A46-D8FF-ADCBB930A39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EC990B1-91EB-CFC9-4267-E8044402A156}"/>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A787A57-B5FF-6EC8-B5ED-43143E081C5E}"/>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8EFC0A0D-B515-83F9-5913-3053F908DC3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04B1513-3572-2949-939D-FE1E0AA73F9E}"/>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523652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819539-D0FC-ADCE-CD0B-6CDE7CE52A3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11ACBD3D-B83F-0854-D73F-E5D700156C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C9459AB6-D9FF-5B8D-787B-FE095C4CF59D}"/>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D9ACC130-2864-9926-757A-370B49266D7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9ABD6B4-65D0-63B8-CCE3-701314BD0D2E}"/>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720428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079E89-A1B4-AFA7-0409-CBC561CFD91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C067329-8DC4-D2A4-AC7F-38E7C49A13F6}"/>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1C754A56-651E-6888-FA50-A6CAB473FB4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5F075027-BC29-7153-08A3-766877A49AEE}"/>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6" name="Espaço Reservado para Rodapé 5">
            <a:extLst>
              <a:ext uri="{FF2B5EF4-FFF2-40B4-BE49-F238E27FC236}">
                <a16:creationId xmlns:a16="http://schemas.microsoft.com/office/drawing/2014/main" id="{D6A7974F-3D8A-0BAC-F472-306213B6FC5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42EAFE9-096D-680F-A0F5-D265238DDECD}"/>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42101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60BF8C-46AE-5950-2CCA-E7F85E340B19}"/>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D9FEA82B-9A6F-C6D7-F190-42D9F15E58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6412F486-2935-699B-78EF-C0B8C5515B46}"/>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90B01973-600B-D3A5-8438-561986E404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5C7023BB-F7DA-43CA-CDEA-98490E3C7239}"/>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33B01CE8-023E-B9A6-1D11-259D0F9B6E6C}"/>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8" name="Espaço Reservado para Rodapé 7">
            <a:extLst>
              <a:ext uri="{FF2B5EF4-FFF2-40B4-BE49-F238E27FC236}">
                <a16:creationId xmlns:a16="http://schemas.microsoft.com/office/drawing/2014/main" id="{ACA03797-D129-146A-4D1C-EBC7E7DA4592}"/>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05D708CA-48A2-7D3F-14E0-FBD30BCB4302}"/>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2639462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C07AE1-CA18-E726-CABF-9B260623C1E0}"/>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B1DADF2-A613-62DA-3322-BE9FB3E90B54}"/>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4" name="Espaço Reservado para Rodapé 3">
            <a:extLst>
              <a:ext uri="{FF2B5EF4-FFF2-40B4-BE49-F238E27FC236}">
                <a16:creationId xmlns:a16="http://schemas.microsoft.com/office/drawing/2014/main" id="{7656D420-6744-090A-AFD0-3EA6F5129322}"/>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4B83015B-813E-DC55-8FEB-FF44289F5111}"/>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378322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EA4AB75-8764-6500-E0FC-87BFBF86ECE5}"/>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3" name="Espaço Reservado para Rodapé 2">
            <a:extLst>
              <a:ext uri="{FF2B5EF4-FFF2-40B4-BE49-F238E27FC236}">
                <a16:creationId xmlns:a16="http://schemas.microsoft.com/office/drawing/2014/main" id="{13500D7C-6D64-0F7B-87B2-BE1903F99909}"/>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A186180-D845-1605-F2C3-91C9B289550C}"/>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1365647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4B4234-5542-F78F-AFB6-2B711AA44C2D}"/>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03C17ABD-F15C-0BD7-6D7D-E8B4D7AF23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DC43461-0900-54E7-14A6-3261E37E03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85A9F92-10CF-EA71-65F9-736F3B32EB2A}"/>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6" name="Espaço Reservado para Rodapé 5">
            <a:extLst>
              <a:ext uri="{FF2B5EF4-FFF2-40B4-BE49-F238E27FC236}">
                <a16:creationId xmlns:a16="http://schemas.microsoft.com/office/drawing/2014/main" id="{36D5D4FE-A885-5AC2-AFD1-C792F76B219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FD91BC6-7587-1C9A-D3DD-90F1A371FF4E}"/>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1582747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B4B046-FB32-861B-494E-14F95909496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CE36080-89C0-0119-B7D5-657D002827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3B662FBF-8EE9-3FA3-6F38-0390CDBF3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7ED685D-B2A0-90BE-B840-8769F44C63EF}"/>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6" name="Espaço Reservado para Rodapé 5">
            <a:extLst>
              <a:ext uri="{FF2B5EF4-FFF2-40B4-BE49-F238E27FC236}">
                <a16:creationId xmlns:a16="http://schemas.microsoft.com/office/drawing/2014/main" id="{91D8BF69-75BD-A7A0-2C01-8D33A51DE85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E0AA476-12E8-466E-4717-CD0D8594D5DA}"/>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1852245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A5ADDE-4E53-31D8-F401-3511FFD3A2C1}"/>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1759C68F-A7D2-1C98-DC6A-5B4D01852AD6}"/>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9DE6250-9F7B-081E-75DC-72552CB231CC}"/>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6FF6C081-5425-48B4-586A-59FC0576D9E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7FF21E5-E616-3517-B1FE-28A8303D4A34}"/>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1507885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0BFCAF3-DCD2-EB84-17C7-1ED00806C2AC}"/>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854553B1-BDA8-4C2A-009B-D65725384A62}"/>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AD39E48-F823-3C60-9526-DE5E355E100E}"/>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49048609-ED78-1222-B617-B809828F0BA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2A50937-A0CB-425C-E920-EBEEBFFF9EEB}"/>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3435338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BF890BF-047E-BDA3-C076-166AFEBB8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A639A064-1277-1CAE-8255-1E0925A6BC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206E2B1-FC77-780B-DB1E-B68DBE8EC9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F945DE38-492A-4986-F32D-3ED4F0C4FF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B3CB1FB4-8889-ADD8-0F77-F323203AB1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8DBD7C-359F-41C9-AF0C-C6D0B244C318}" type="slidenum">
              <a:rPr lang="pt-BR" smtClean="0"/>
              <a:t>‹nº›</a:t>
            </a:fld>
            <a:endParaRPr lang="pt-BR"/>
          </a:p>
        </p:txBody>
      </p:sp>
    </p:spTree>
    <p:extLst>
      <p:ext uri="{BB962C8B-B14F-4D97-AF65-F5344CB8AC3E}">
        <p14:creationId xmlns:p14="http://schemas.microsoft.com/office/powerpoint/2010/main" val="2051858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jpeg"/><Relationship Id="rId3" Type="http://schemas.openxmlformats.org/officeDocument/2006/relationships/image" Target="../media/image1.svg"/><Relationship Id="rId21" Type="http://schemas.openxmlformats.org/officeDocument/2006/relationships/image" Target="../media/image19.svg"/><Relationship Id="rId7" Type="http://schemas.openxmlformats.org/officeDocument/2006/relationships/image" Target="../media/image5.svg"/><Relationship Id="rId12" Type="http://schemas.openxmlformats.org/officeDocument/2006/relationships/image" Target="../media/image10.jpe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sv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jp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svg"/><Relationship Id="rId4" Type="http://schemas.openxmlformats.org/officeDocument/2006/relationships/image" Target="../media/image2.svg"/><Relationship Id="rId9" Type="http://schemas.openxmlformats.org/officeDocument/2006/relationships/image" Target="../media/image7.sv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2" Type="http://schemas.openxmlformats.org/officeDocument/2006/relationships/notesSlide" Target="../notesSlides/notesSlide2.xml"/><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eg"/><Relationship Id="rId18" Type="http://schemas.openxmlformats.org/officeDocument/2006/relationships/image" Target="../media/image4.svg"/><Relationship Id="rId3" Type="http://schemas.openxmlformats.org/officeDocument/2006/relationships/image" Target="../media/image6.svg"/><Relationship Id="rId21" Type="http://schemas.openxmlformats.org/officeDocument/2006/relationships/image" Target="../media/image3.sv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svg"/><Relationship Id="rId16" Type="http://schemas.openxmlformats.org/officeDocument/2006/relationships/image" Target="../media/image19.svg"/><Relationship Id="rId20"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 Id="rId2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85EC90F3-0B55-DE10-9CE4-D32BFCD08F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2067823"/>
            <a:ext cx="12192000" cy="4347044"/>
          </a:xfrm>
          <a:prstGeom prst="rect">
            <a:avLst/>
          </a:prstGeom>
        </p:spPr>
      </p:pic>
      <p:pic>
        <p:nvPicPr>
          <p:cNvPr id="9" name="Gráfico 8">
            <a:extLst>
              <a:ext uri="{FF2B5EF4-FFF2-40B4-BE49-F238E27FC236}">
                <a16:creationId xmlns:a16="http://schemas.microsoft.com/office/drawing/2014/main" id="{952245CF-F256-4864-53D4-CCB96AE849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696" y="332422"/>
            <a:ext cx="3486202" cy="1566716"/>
          </a:xfrm>
          <a:prstGeom prst="rect">
            <a:avLst/>
          </a:prstGeom>
        </p:spPr>
      </p:pic>
      <p:pic>
        <p:nvPicPr>
          <p:cNvPr id="11" name="Gráfico 10">
            <a:extLst>
              <a:ext uri="{FF2B5EF4-FFF2-40B4-BE49-F238E27FC236}">
                <a16:creationId xmlns:a16="http://schemas.microsoft.com/office/drawing/2014/main" id="{70994BE6-7773-B795-CCB4-751550EC48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9087" y="2363373"/>
            <a:ext cx="10233826" cy="1660940"/>
          </a:xfrm>
          <a:prstGeom prst="rect">
            <a:avLst/>
          </a:prstGeom>
        </p:spPr>
      </p:pic>
      <p:sp>
        <p:nvSpPr>
          <p:cNvPr id="14" name="Retângulo 13">
            <a:extLst>
              <a:ext uri="{FF2B5EF4-FFF2-40B4-BE49-F238E27FC236}">
                <a16:creationId xmlns:a16="http://schemas.microsoft.com/office/drawing/2014/main" id="{261E66AB-B40E-B874-1D2F-8395BEE965A7}"/>
              </a:ext>
            </a:extLst>
          </p:cNvPr>
          <p:cNvSpPr/>
          <p:nvPr/>
        </p:nvSpPr>
        <p:spPr>
          <a:xfrm>
            <a:off x="3869139" y="1760561"/>
            <a:ext cx="8120419" cy="6141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6" name="Gráfico 15">
            <a:extLst>
              <a:ext uri="{FF2B5EF4-FFF2-40B4-BE49-F238E27FC236}">
                <a16:creationId xmlns:a16="http://schemas.microsoft.com/office/drawing/2014/main" id="{4E51E30B-272E-E38E-9058-65C4BC1D62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60808" y="1275171"/>
            <a:ext cx="1428750" cy="171450"/>
          </a:xfrm>
          <a:prstGeom prst="rect">
            <a:avLst/>
          </a:prstGeom>
        </p:spPr>
      </p:pic>
      <p:pic>
        <p:nvPicPr>
          <p:cNvPr id="28" name="Gráfico 27">
            <a:extLst>
              <a:ext uri="{FF2B5EF4-FFF2-40B4-BE49-F238E27FC236}">
                <a16:creationId xmlns:a16="http://schemas.microsoft.com/office/drawing/2014/main" id="{2259AFDF-A74C-FB37-0857-65B8468E823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55958" y="1471472"/>
            <a:ext cx="2133600" cy="285750"/>
          </a:xfrm>
          <a:prstGeom prst="rect">
            <a:avLst/>
          </a:prstGeom>
        </p:spPr>
      </p:pic>
      <p:pic>
        <p:nvPicPr>
          <p:cNvPr id="40" name="Gráfico 39">
            <a:extLst>
              <a:ext uri="{FF2B5EF4-FFF2-40B4-BE49-F238E27FC236}">
                <a16:creationId xmlns:a16="http://schemas.microsoft.com/office/drawing/2014/main" id="{E69258B4-5B1F-54A5-1B6D-3F0F81D9AFE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86411" y="6552554"/>
            <a:ext cx="3726972" cy="268342"/>
          </a:xfrm>
          <a:prstGeom prst="rect">
            <a:avLst/>
          </a:prstGeom>
        </p:spPr>
      </p:pic>
      <p:pic>
        <p:nvPicPr>
          <p:cNvPr id="44" name="Gráfico 43">
            <a:extLst>
              <a:ext uri="{FF2B5EF4-FFF2-40B4-BE49-F238E27FC236}">
                <a16:creationId xmlns:a16="http://schemas.microsoft.com/office/drawing/2014/main" id="{3667D6E6-8665-9E11-6A32-9FEAFBB4F7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86411" y="6470650"/>
            <a:ext cx="257175" cy="57150"/>
          </a:xfrm>
          <a:prstGeom prst="rect">
            <a:avLst/>
          </a:prstGeom>
        </p:spPr>
      </p:pic>
      <p:grpSp>
        <p:nvGrpSpPr>
          <p:cNvPr id="110" name="Agrupar 109">
            <a:extLst>
              <a:ext uri="{FF2B5EF4-FFF2-40B4-BE49-F238E27FC236}">
                <a16:creationId xmlns:a16="http://schemas.microsoft.com/office/drawing/2014/main" id="{5D912160-7944-FECF-6195-70CAEB3C0D85}"/>
              </a:ext>
            </a:extLst>
          </p:cNvPr>
          <p:cNvGrpSpPr/>
          <p:nvPr/>
        </p:nvGrpSpPr>
        <p:grpSpPr>
          <a:xfrm>
            <a:off x="0" y="6490384"/>
            <a:ext cx="6972870" cy="367616"/>
            <a:chOff x="30153" y="6499225"/>
            <a:chExt cx="6430865" cy="339041"/>
          </a:xfrm>
        </p:grpSpPr>
        <p:pic>
          <p:nvPicPr>
            <p:cNvPr id="48" name="Gráfico 47">
              <a:extLst>
                <a:ext uri="{FF2B5EF4-FFF2-40B4-BE49-F238E27FC236}">
                  <a16:creationId xmlns:a16="http://schemas.microsoft.com/office/drawing/2014/main" id="{CF7A3F27-BC87-E8E6-4F7C-01CF0081C71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604727" y="6613124"/>
              <a:ext cx="2856291" cy="198064"/>
            </a:xfrm>
            <a:prstGeom prst="rect">
              <a:avLst/>
            </a:prstGeom>
          </p:spPr>
        </p:pic>
        <p:pic>
          <p:nvPicPr>
            <p:cNvPr id="93" name="Imagem 92">
              <a:extLst>
                <a:ext uri="{FF2B5EF4-FFF2-40B4-BE49-F238E27FC236}">
                  <a16:creationId xmlns:a16="http://schemas.microsoft.com/office/drawing/2014/main" id="{BE7ED9E3-B0A6-9215-3B66-4C715506E40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95" name="Imagem 94">
              <a:extLst>
                <a:ext uri="{FF2B5EF4-FFF2-40B4-BE49-F238E27FC236}">
                  <a16:creationId xmlns:a16="http://schemas.microsoft.com/office/drawing/2014/main" id="{A3B989B6-0B7B-C203-E7AC-9F367AFA33C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97" name="Imagem 96">
              <a:extLst>
                <a:ext uri="{FF2B5EF4-FFF2-40B4-BE49-F238E27FC236}">
                  <a16:creationId xmlns:a16="http://schemas.microsoft.com/office/drawing/2014/main" id="{A0B96C0C-6F33-0FF0-4423-F4D6F5836BF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99" name="Imagem 98">
              <a:extLst>
                <a:ext uri="{FF2B5EF4-FFF2-40B4-BE49-F238E27FC236}">
                  <a16:creationId xmlns:a16="http://schemas.microsoft.com/office/drawing/2014/main" id="{B025E56F-431C-411B-09B6-F2085FA1A3A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01" name="Imagem 100">
              <a:extLst>
                <a:ext uri="{FF2B5EF4-FFF2-40B4-BE49-F238E27FC236}">
                  <a16:creationId xmlns:a16="http://schemas.microsoft.com/office/drawing/2014/main" id="{C02C3B4A-91D4-2375-D53C-DF6DCE6FE96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03" name="Imagem 102">
              <a:extLst>
                <a:ext uri="{FF2B5EF4-FFF2-40B4-BE49-F238E27FC236}">
                  <a16:creationId xmlns:a16="http://schemas.microsoft.com/office/drawing/2014/main" id="{6F982FD0-2AAB-5F52-4DB4-0D33E1599D2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05" name="Imagem 104">
              <a:extLst>
                <a:ext uri="{FF2B5EF4-FFF2-40B4-BE49-F238E27FC236}">
                  <a16:creationId xmlns:a16="http://schemas.microsoft.com/office/drawing/2014/main" id="{F3241E10-BDDD-61EB-CE29-E96F21432C0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07" name="Imagem 106">
              <a:extLst>
                <a:ext uri="{FF2B5EF4-FFF2-40B4-BE49-F238E27FC236}">
                  <a16:creationId xmlns:a16="http://schemas.microsoft.com/office/drawing/2014/main" id="{2CB7A85D-DA13-61D9-811B-D6760A6004E5}"/>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109" name="Gráfico 108">
            <a:extLst>
              <a:ext uri="{FF2B5EF4-FFF2-40B4-BE49-F238E27FC236}">
                <a16:creationId xmlns:a16="http://schemas.microsoft.com/office/drawing/2014/main" id="{EF6B59CC-8786-333B-51B9-79C5AACE2E7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5373" y="6475220"/>
            <a:ext cx="114300" cy="47625"/>
          </a:xfrm>
          <a:prstGeom prst="rect">
            <a:avLst/>
          </a:prstGeom>
        </p:spPr>
      </p:pic>
      <p:pic>
        <p:nvPicPr>
          <p:cNvPr id="112" name="Gráfico 111">
            <a:extLst>
              <a:ext uri="{FF2B5EF4-FFF2-40B4-BE49-F238E27FC236}">
                <a16:creationId xmlns:a16="http://schemas.microsoft.com/office/drawing/2014/main" id="{E006CA19-1187-492A-F6CA-F85253363DE2}"/>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7179867" y="6575424"/>
            <a:ext cx="891863" cy="236901"/>
          </a:xfrm>
          <a:prstGeom prst="rect">
            <a:avLst/>
          </a:prstGeom>
        </p:spPr>
      </p:pic>
      <p:pic>
        <p:nvPicPr>
          <p:cNvPr id="114" name="Gráfico 113">
            <a:extLst>
              <a:ext uri="{FF2B5EF4-FFF2-40B4-BE49-F238E27FC236}">
                <a16:creationId xmlns:a16="http://schemas.microsoft.com/office/drawing/2014/main" id="{DD471C64-C06D-C931-B863-18BE6E58ACDF}"/>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129038" y="6473444"/>
            <a:ext cx="381000" cy="47625"/>
          </a:xfrm>
          <a:prstGeom prst="rect">
            <a:avLst/>
          </a:prstGeom>
        </p:spPr>
      </p:pic>
      <p:sp>
        <p:nvSpPr>
          <p:cNvPr id="1001" name="Deck title"/>
          <p:cNvSpPr txBox="1"/>
          <p:nvPr/>
        </p:nvSpPr>
        <p:spPr>
          <a:xfrm>
            <a:off x="1143000" y="2487168"/>
            <a:ext cx="9966960" cy="96012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2800" b="1" i="0" dirty="0">
                <a:solidFill>
                  <a:srgbClr val="193F61"/>
                </a:solidFill>
                <a:latin typeface="Calibri"/>
                <a:cs typeface="Calibri"/>
              </a:rPr>
              <a:t>Reconfiguring Inherited Service Infrastructures for Green Public Service Transition</a:t>
            </a:r>
          </a:p>
        </p:txBody>
      </p:sp>
      <p:sp>
        <p:nvSpPr>
          <p:cNvPr id="1002" name="Deck subtitle"/>
          <p:cNvSpPr txBox="1"/>
          <p:nvPr/>
        </p:nvSpPr>
        <p:spPr>
          <a:xfrm>
            <a:off x="1143000" y="3401568"/>
            <a:ext cx="9966960" cy="502920"/>
          </a:xfrm>
          <a:prstGeom prst="rect">
            <a:avLst/>
          </a:prstGeom>
          <a:noFill/>
          <a:ln>
            <a:noFill/>
          </a:ln>
        </p:spPr>
        <p:txBody>
          <a:bodyPr wrap="square" lIns="0" tIns="0" rIns="0" bIns="0" rtlCol="0" anchor="t">
            <a:normAutofit/>
          </a:bodyPr>
          <a:lstStyle/>
          <a:p>
            <a:pPr algn="l">
              <a:spcBef>
                <a:spcPts val="0"/>
              </a:spcBef>
              <a:spcAft>
                <a:spcPts val="0"/>
              </a:spcAft>
              <a:buNone/>
            </a:pPr>
            <a:r>
              <a:rPr lang="en-US" sz="1800" b="1" i="0" dirty="0">
                <a:solidFill>
                  <a:srgbClr val="129152"/>
                </a:solidFill>
                <a:latin typeface="Calibri"/>
                <a:cs typeface="Calibri"/>
              </a:rPr>
              <a:t>Municipally owned arrangements in Helsinki, Aalborg and Skåne</a:t>
            </a:r>
          </a:p>
        </p:txBody>
      </p:sp>
      <p:sp>
        <p:nvSpPr>
          <p:cNvPr id="1003" name="Author panel"/>
          <p:cNvSpPr/>
          <p:nvPr/>
        </p:nvSpPr>
        <p:spPr>
          <a:xfrm>
            <a:off x="978408" y="4096512"/>
            <a:ext cx="10232136" cy="713232"/>
          </a:xfrm>
          <a:prstGeom prst="rect">
            <a:avLst/>
          </a:prstGeom>
          <a:solidFill>
            <a:srgbClr val="FFFFFF">
              <a:alpha val="82000"/>
            </a:srgbClr>
          </a:solidFill>
          <a:ln>
            <a:noFill/>
          </a:ln>
        </p:spPr>
        <p:txBody>
          <a:bodyPr wrap="square" lIns="91440" tIns="54864" rIns="91440" bIns="54864" rtlCol="0" anchor="t">
            <a:normAutofit/>
          </a:bodyPr>
          <a:lstStyle/>
          <a:p>
            <a:endParaRPr lang="en-US"/>
          </a:p>
        </p:txBody>
      </p:sp>
      <p:sp>
        <p:nvSpPr>
          <p:cNvPr id="1004" name="Authors"/>
          <p:cNvSpPr txBox="1"/>
          <p:nvPr/>
        </p:nvSpPr>
        <p:spPr>
          <a:xfrm>
            <a:off x="1143000" y="4160520"/>
            <a:ext cx="6766560" cy="594360"/>
          </a:xfrm>
          <a:prstGeom prst="rect">
            <a:avLst/>
          </a:prstGeom>
          <a:noFill/>
          <a:ln>
            <a:noFill/>
          </a:ln>
        </p:spPr>
        <p:txBody>
          <a:bodyPr wrap="square" lIns="0" tIns="0" rIns="0" bIns="0" rtlCol="0" anchor="ctr">
            <a:normAutofit/>
          </a:bodyPr>
          <a:lstStyle/>
          <a:p>
            <a:pPr algn="l">
              <a:spcBef>
                <a:spcPts val="0"/>
              </a:spcBef>
              <a:spcAft>
                <a:spcPts val="200"/>
              </a:spcAft>
              <a:buNone/>
            </a:pPr>
            <a:r>
              <a:rPr lang="en-US" sz="1500" b="1" i="0" dirty="0">
                <a:solidFill>
                  <a:srgbClr val="193F61"/>
                </a:solidFill>
                <a:latin typeface="Calibri"/>
                <a:cs typeface="Calibri"/>
              </a:rPr>
              <a:t>[Presenter name]</a:t>
            </a:r>
            <a:r>
              <a:rPr lang="en-US" sz="1500" b="0" i="0" dirty="0">
                <a:solidFill>
                  <a:srgbClr val="1F2A37"/>
                </a:solidFill>
                <a:latin typeface="Calibri"/>
                <a:cs typeface="Calibri"/>
              </a:rPr>
              <a:t xml:space="preserve">  ·  [Affiliation]</a:t>
            </a:r>
          </a:p>
          <a:p>
            <a:pPr algn="l">
              <a:spcBef>
                <a:spcPts val="0"/>
              </a:spcBef>
              <a:spcAft>
                <a:spcPts val="0"/>
              </a:spcAft>
              <a:buNone/>
            </a:pPr>
            <a:r>
              <a:rPr lang="en-US" sz="1250" b="0" i="0" dirty="0">
                <a:solidFill>
                  <a:srgbClr val="5A6B7C"/>
                </a:solidFill>
                <a:latin typeface="Calibri"/>
                <a:cs typeface="Calibri"/>
              </a:rPr>
              <a:t>[Co-author names and affiliations]</a:t>
            </a:r>
          </a:p>
        </p:txBody>
      </p:sp>
      <p:sp>
        <p:nvSpPr>
          <p:cNvPr id="1005" name="Conference"/>
          <p:cNvSpPr txBox="1"/>
          <p:nvPr/>
        </p:nvSpPr>
        <p:spPr>
          <a:xfrm>
            <a:off x="7955280" y="4160520"/>
            <a:ext cx="3154680" cy="594360"/>
          </a:xfrm>
          <a:prstGeom prst="rect">
            <a:avLst/>
          </a:prstGeom>
          <a:noFill/>
          <a:ln>
            <a:noFill/>
          </a:ln>
        </p:spPr>
        <p:txBody>
          <a:bodyPr wrap="square" lIns="0" tIns="0" rIns="0" bIns="0" rtlCol="0" anchor="ctr">
            <a:normAutofit/>
          </a:bodyPr>
          <a:lstStyle/>
          <a:p>
            <a:pPr algn="r">
              <a:spcBef>
                <a:spcPts val="0"/>
              </a:spcBef>
              <a:spcAft>
                <a:spcPts val="200"/>
              </a:spcAft>
              <a:buNone/>
            </a:pPr>
            <a:r>
              <a:rPr lang="en-US" sz="1250" b="1" i="0" dirty="0">
                <a:solidFill>
                  <a:srgbClr val="193F61"/>
                </a:solidFill>
                <a:latin typeface="Calibri"/>
                <a:cs typeface="Calibri"/>
              </a:rPr>
              <a:t>36th RESER International Conference</a:t>
            </a:r>
          </a:p>
          <a:p>
            <a:pPr algn="r">
              <a:spcBef>
                <a:spcPts val="0"/>
              </a:spcBef>
              <a:spcAft>
                <a:spcPts val="0"/>
              </a:spcAft>
              <a:buNone/>
            </a:pPr>
            <a:r>
              <a:rPr lang="en-US" sz="1200" b="0" i="0" dirty="0">
                <a:solidFill>
                  <a:srgbClr val="5A6B7C"/>
                </a:solidFill>
                <a:latin typeface="Calibri"/>
                <a:cs typeface="Calibri"/>
              </a:rPr>
              <a:t>University of Brasília, Brazil · 2026</a:t>
            </a:r>
          </a:p>
        </p:txBody>
      </p:sp>
    </p:spTree>
    <p:extLst>
      <p:ext uri="{BB962C8B-B14F-4D97-AF65-F5344CB8AC3E}">
        <p14:creationId xmlns:p14="http://schemas.microsoft.com/office/powerpoint/2010/main" val="246115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006"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Green transition is decided one investment at a time</a:t>
            </a:r>
          </a:p>
        </p:txBody>
      </p:sp>
      <p:sp>
        <p:nvSpPr>
          <p:cNvPr id="1007" name="Setting"/>
          <p:cNvSpPr txBox="1"/>
          <p:nvPr/>
        </p:nvSpPr>
        <p:spPr>
          <a:xfrm>
            <a:off x="502920" y="1920240"/>
            <a:ext cx="5577840" cy="4206240"/>
          </a:xfrm>
          <a:prstGeom prst="rect">
            <a:avLst/>
          </a:prstGeom>
          <a:noFill/>
          <a:ln>
            <a:noFill/>
          </a:ln>
        </p:spPr>
        <p:txBody>
          <a:bodyPr wrap="square" lIns="0" tIns="0" rIns="0" bIns="0" rtlCol="0" anchor="t">
            <a:normAutofit/>
          </a:bodyPr>
          <a:lstStyle/>
          <a:p>
            <a:pPr algn="l">
              <a:spcBef>
                <a:spcPts val="0"/>
              </a:spcBef>
              <a:spcAft>
                <a:spcPts val="400"/>
              </a:spcAft>
              <a:buNone/>
            </a:pPr>
            <a:r>
              <a:rPr lang="en-US" sz="1500" b="1" i="0" dirty="0">
                <a:solidFill>
                  <a:srgbClr val="193F61"/>
                </a:solidFill>
                <a:latin typeface="Calibri"/>
                <a:cs typeface="Calibri"/>
              </a:rPr>
              <a:t>The setting</a:t>
            </a:r>
          </a:p>
          <a:p>
            <a:pPr algn="l" marL="201168" indent="-201168">
              <a:spcBef>
                <a:spcPts val="0"/>
              </a:spcBef>
              <a:spcAft>
                <a:spcPts val="700"/>
              </a:spcAft>
              <a:buClr>
                <a:srgbClr val="4C886C"/>
              </a:buClr>
              <a:buFont typeface="Arial"/>
              <a:buChar char="•"/>
            </a:pPr>
            <a:r>
              <a:rPr lang="en-US" sz="1400" b="0" i="0" dirty="0">
                <a:solidFill>
                  <a:srgbClr val="1F2A37"/>
                </a:solidFill>
                <a:latin typeface="Calibri"/>
                <a:cs typeface="Calibri"/>
              </a:rPr>
              <a:t>Municipalities seek lower emissions and more resource recovery, yet homes must stay heated and waste treated during the change.</a:t>
            </a:r>
          </a:p>
          <a:p>
            <a:pPr algn="l" marL="201168" indent="-201168">
              <a:spcBef>
                <a:spcPts val="0"/>
              </a:spcBef>
              <a:spcAft>
                <a:spcPts val="700"/>
              </a:spcAft>
              <a:buClr>
                <a:srgbClr val="4C886C"/>
              </a:buClr>
              <a:buFont typeface="Arial"/>
              <a:buChar char="•"/>
            </a:pPr>
            <a:r>
              <a:rPr lang="en-US" sz="1400" b="0" i="0" dirty="0">
                <a:solidFill>
                  <a:srgbClr val="1F2A37"/>
                </a:solidFill>
                <a:latin typeface="Calibri"/>
                <a:cs typeface="Calibri"/>
              </a:rPr>
              <a:t>Existing networks offer a route to new production technologies, but replacing plants or adding recovery requires capital and dependable income.</a:t>
            </a:r>
          </a:p>
          <a:p>
            <a:pPr algn="l" marL="201168" indent="-201168">
              <a:spcBef>
                <a:spcPts val="0"/>
              </a:spcBef>
              <a:spcAft>
                <a:spcPts val="700"/>
              </a:spcAft>
              <a:buClr>
                <a:srgbClr val="4C886C"/>
              </a:buClr>
              <a:buFont typeface="Arial"/>
              <a:buChar char="•"/>
            </a:pPr>
            <a:r>
              <a:rPr lang="en-US" sz="1400" b="0" i="0" dirty="0">
                <a:solidFill>
                  <a:srgbClr val="1F2A37"/>
                </a:solidFill>
                <a:latin typeface="Calibri"/>
                <a:cs typeface="Calibri"/>
              </a:rPr>
              <a:t>A climate target gives a reason to invest; it leaves technology, expenditure and responsibility to owners and companies.</a:t>
            </a:r>
          </a:p>
          <a:p>
            <a:pPr algn="l">
              <a:spcBef>
                <a:spcPts val="600"/>
              </a:spcBef>
              <a:spcAft>
                <a:spcPts val="400"/>
              </a:spcAft>
              <a:buNone/>
            </a:pPr>
            <a:r>
              <a:rPr lang="en-US" sz="1500" b="1" i="0" dirty="0">
                <a:solidFill>
                  <a:srgbClr val="193F61"/>
                </a:solidFill>
                <a:latin typeface="Calibri"/>
                <a:cs typeface="Calibri"/>
              </a:rPr>
              <a:t>Why municipally owned enterprises</a:t>
            </a:r>
          </a:p>
          <a:p>
            <a:pPr algn="l" marL="201168" indent="-201168">
              <a:spcBef>
                <a:spcPts val="0"/>
              </a:spcBef>
              <a:spcAft>
                <a:spcPts val="700"/>
              </a:spcAft>
              <a:buClr>
                <a:srgbClr val="4C886C"/>
              </a:buClr>
              <a:buFont typeface="Arial"/>
              <a:buChar char="•"/>
            </a:pPr>
            <a:r>
              <a:rPr lang="en-US" sz="1400" b="0" i="0" dirty="0">
                <a:solidFill>
                  <a:srgbClr val="1F2A37"/>
                </a:solidFill>
                <a:latin typeface="Calibri"/>
                <a:cs typeface="Calibri"/>
              </a:rPr>
              <a:t>The owner can instruct the company and support borrowing, while depending on distributions and facing demands for affordable services.</a:t>
            </a:r>
          </a:p>
          <a:p>
            <a:pPr algn="l" marL="201168" indent="-201168">
              <a:spcBef>
                <a:spcPts val="0"/>
              </a:spcBef>
              <a:spcAft>
                <a:spcPts val="700"/>
              </a:spcAft>
              <a:buClr>
                <a:srgbClr val="4C886C"/>
              </a:buClr>
              <a:buFont typeface="Arial"/>
              <a:buChar char="•"/>
            </a:pPr>
            <a:r>
              <a:rPr lang="en-US" sz="1400" b="0" i="0" dirty="0">
                <a:solidFill>
                  <a:srgbClr val="1F2A37"/>
                </a:solidFill>
                <a:latin typeface="Calibri"/>
                <a:cs typeface="Calibri"/>
              </a:rPr>
              <a:t>Managers weigh reliability, returns and debt service. Investment decisions make this relationship observable.</a:t>
            </a:r>
          </a:p>
        </p:txBody>
      </p:sp>
      <p:sp>
        <p:nvSpPr>
          <p:cNvPr id="1008" name="Card"/>
          <p:cNvSpPr/>
          <p:nvPr/>
        </p:nvSpPr>
        <p:spPr>
          <a:xfrm>
            <a:off x="6400800" y="1920240"/>
            <a:ext cx="5257800" cy="2331720"/>
          </a:xfrm>
          <a:prstGeom prst="roundRect">
            <a:avLst>
              <a:gd name="adj" fmla="val 3000"/>
            </a:avLst>
          </a:prstGeom>
          <a:solidFill>
            <a:srgbClr val="FFFFFF">
              <a:alpha val="94000"/>
            </a:srgbClr>
          </a:solidFill>
          <a:ln>
            <a:noFill/>
          </a:ln>
          <a:effectLst>
            <a:outerShdw blurRad="63500" dist="25400" dir="5400000" algn="t" rotWithShape="0">
              <a:srgbClr val="193F61">
                <a:alpha val="18000"/>
              </a:srgbClr>
            </a:outerShdw>
          </a:effectLst>
        </p:spPr>
        <p:txBody>
          <a:bodyPr wrap="square" lIns="164592" tIns="128016" rIns="164592" bIns="109728" rtlCol="0" anchor="t">
            <a:normAutofit/>
          </a:bodyPr>
          <a:lstStyle/>
          <a:p>
            <a:pPr algn="l">
              <a:spcBef>
                <a:spcPts val="0"/>
              </a:spcBef>
              <a:spcAft>
                <a:spcPts val="600"/>
              </a:spcAft>
              <a:buNone/>
            </a:pPr>
            <a:r>
              <a:rPr lang="en-US" sz="1300" b="1" i="0" dirty="0">
                <a:solidFill>
                  <a:srgbClr val="4C886C"/>
                </a:solidFill>
                <a:latin typeface="Calibri"/>
                <a:cs typeface="Calibri"/>
              </a:rPr>
              <a:t>Research question</a:t>
            </a:r>
          </a:p>
          <a:p>
            <a:pPr algn="l">
              <a:lnSpc>
                <a:spcPct val="105000"/>
              </a:lnSpc>
              <a:spcBef>
                <a:spcPts val="0"/>
              </a:spcBef>
              <a:spcAft>
                <a:spcPts val="0"/>
              </a:spcAft>
              <a:buNone/>
            </a:pPr>
            <a:r>
              <a:rPr lang="en-US" sz="1550" b="1" i="0" dirty="0">
                <a:solidFill>
                  <a:srgbClr val="193F61"/>
                </a:solidFill>
                <a:latin typeface="Calibri"/>
                <a:cs typeface="Calibri"/>
              </a:rPr>
              <a:t>How do political objectives and business appraisal interact in municipal green transition investment, and how do institutions and ownership practices shape that interaction?</a:t>
            </a:r>
          </a:p>
        </p:txBody>
      </p:sp>
      <p:sp>
        <p:nvSpPr>
          <p:cNvPr id="1009" name="Card"/>
          <p:cNvSpPr/>
          <p:nvPr/>
        </p:nvSpPr>
        <p:spPr>
          <a:xfrm>
            <a:off x="6400800" y="4434840"/>
            <a:ext cx="5257800" cy="1691640"/>
          </a:xfrm>
          <a:prstGeom prst="roundRect">
            <a:avLst>
              <a:gd name="adj" fmla="val 3000"/>
            </a:avLst>
          </a:prstGeom>
          <a:solidFill>
            <a:srgbClr val="FFFFFF">
              <a:alpha val="94000"/>
            </a:srgbClr>
          </a:solidFill>
          <a:ln>
            <a:noFill/>
          </a:ln>
          <a:effectLst>
            <a:outerShdw blurRad="63500" dist="25400" dir="5400000" algn="t" rotWithShape="0">
              <a:srgbClr val="193F61">
                <a:alpha val="18000"/>
              </a:srgbClr>
            </a:outerShdw>
          </a:effectLst>
        </p:spPr>
        <p:txBody>
          <a:bodyPr wrap="square" lIns="164592" tIns="128016" rIns="164592" bIns="109728" rtlCol="0" anchor="t">
            <a:normAutofit/>
          </a:bodyPr>
          <a:lstStyle/>
          <a:p>
            <a:pPr algn="l">
              <a:spcBef>
                <a:spcPts val="0"/>
              </a:spcBef>
              <a:spcAft>
                <a:spcPts val="600"/>
              </a:spcAft>
              <a:buNone/>
            </a:pPr>
            <a:r>
              <a:rPr lang="en-US" sz="1300" b="1" i="0" dirty="0">
                <a:solidFill>
                  <a:srgbClr val="4C886C"/>
                </a:solidFill>
                <a:latin typeface="Calibri"/>
                <a:cs typeface="Calibri"/>
              </a:rPr>
              <a:t>What we look at</a:t>
            </a:r>
          </a:p>
          <a:p>
            <a:pPr algn="l">
              <a:spcBef>
                <a:spcPts val="0"/>
              </a:spcBef>
              <a:spcAft>
                <a:spcPts val="0"/>
              </a:spcAft>
              <a:buNone/>
            </a:pPr>
            <a:r>
              <a:rPr lang="en-US" sz="1350" b="0" i="0" dirty="0">
                <a:solidFill>
                  <a:srgbClr val="1F2A37"/>
                </a:solidFill>
                <a:latin typeface="Calibri"/>
                <a:cs typeface="Calibri"/>
              </a:rPr>
              <a:t xml:space="preserve">How public owners respond when a politically supported investment still faces an adverse appraisal or an unsettled revenue basis: </a:t>
            </a:r>
            <a:r>
              <a:rPr lang="en-US" sz="1350" b="1" i="0" dirty="0">
                <a:solidFill>
                  <a:srgbClr val="193F61"/>
                </a:solidFill>
                <a:latin typeface="Calibri"/>
                <a:cs typeface="Calibri"/>
              </a:rPr>
              <a:t>adapting a production pathway, allocating costs through a supply agreement, qualifying support through financing and purchasing conditions.</a:t>
            </a:r>
          </a:p>
        </p:txBody>
      </p:sp>
    </p:spTree>
    <p:extLst>
      <p:ext uri="{BB962C8B-B14F-4D97-AF65-F5344CB8AC3E}">
        <p14:creationId xmlns:p14="http://schemas.microsoft.com/office/powerpoint/2010/main" val="382855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010"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Analytical framework: how investability forms</a:t>
            </a:r>
          </a:p>
        </p:txBody>
      </p:sp>
      <p:sp>
        <p:nvSpPr>
          <p:cNvPr id="1011" name="Figure backdrop"/>
          <p:cNvSpPr/>
          <p:nvPr/>
        </p:nvSpPr>
        <p:spPr>
          <a:xfrm>
            <a:off x="457200" y="1828800"/>
            <a:ext cx="7360920" cy="4114800"/>
          </a:xfrm>
          <a:prstGeom prst="roundRect">
            <a:avLst>
              <a:gd name="adj" fmla="val 1500"/>
            </a:avLst>
          </a:prstGeom>
          <a:solidFill>
            <a:srgbClr val="FFFFFF">
              <a:alpha val="86000"/>
            </a:srgbClr>
          </a:solidFill>
          <a:ln>
            <a:noFill/>
          </a:ln>
        </p:spPr>
        <p:txBody>
          <a:bodyPr wrap="square" lIns="91440" tIns="54864" rIns="91440" bIns="54864" rtlCol="0" anchor="t">
            <a:normAutofit/>
          </a:bodyPr>
          <a:lstStyle/>
          <a:p>
            <a:endParaRPr lang="en-US"/>
          </a:p>
        </p:txBody>
      </p:sp>
      <p:sp>
        <p:nvSpPr>
          <p:cNvPr id="1012" name="Institutions"/>
          <p:cNvSpPr/>
          <p:nvPr/>
        </p:nvSpPr>
        <p:spPr>
          <a:xfrm>
            <a:off x="502920" y="1938528"/>
            <a:ext cx="7269480" cy="548640"/>
          </a:xfrm>
          <a:prstGeom prst="roundRect">
            <a:avLst>
              <a:gd name="adj" fmla="val 7500"/>
            </a:avLst>
          </a:prstGeom>
          <a:solidFill>
            <a:srgbClr val="193F61"/>
          </a:solidFill>
          <a:ln>
            <a:noFill/>
          </a:ln>
        </p:spPr>
        <p:txBody>
          <a:bodyPr wrap="square" lIns="91440" tIns="54864" rIns="91440" bIns="54864" rtlCol="0" anchor="ctr">
            <a:normAutofit/>
          </a:bodyPr>
          <a:lstStyle/>
          <a:p>
            <a:pPr algn="ctr">
              <a:spcBef>
                <a:spcPts val="0"/>
              </a:spcBef>
              <a:spcAft>
                <a:spcPts val="0"/>
              </a:spcAft>
              <a:buNone/>
            </a:pPr>
            <a:r>
              <a:rPr lang="en-US" sz="1400" b="1" i="0" dirty="0">
                <a:solidFill>
                  <a:srgbClr val="FFFFFF"/>
                </a:solidFill>
                <a:latin typeface="Calibri"/>
                <a:cs typeface="Calibri"/>
              </a:rPr>
              <a:t>Institutional conditions</a:t>
            </a:r>
            <a:r>
              <a:rPr lang="en-US" sz="1200" b="0" i="0" dirty="0">
                <a:solidFill>
                  <a:srgbClr val="FFFFFF"/>
                </a:solidFill>
                <a:latin typeface="Calibri"/>
                <a:cs typeface="Calibri"/>
              </a:rPr>
              <a:t xml:space="preserve">   rules and established practices: authority · cost recovery · purchasing conditions</a:t>
            </a:r>
          </a:p>
        </p:txBody>
      </p:sp>
      <p:sp>
        <p:nvSpPr>
          <p:cNvPr id="1013" name="Arrow"/>
          <p:cNvSpPr/>
          <p:nvPr/>
        </p:nvSpPr>
        <p:spPr>
          <a:xfrm>
            <a:off x="3959352" y="2514600"/>
            <a:ext cx="365760" cy="219456"/>
          </a:xfrm>
          <a:prstGeom prst="downArrow">
            <a:avLst/>
          </a:prstGeom>
          <a:solidFill>
            <a:srgbClr val="ADC1D8"/>
          </a:solidFill>
          <a:ln>
            <a:noFill/>
          </a:ln>
        </p:spPr>
        <p:txBody>
          <a:bodyPr wrap="square" lIns="91440" tIns="54864" rIns="91440" bIns="54864" rtlCol="0" anchor="t">
            <a:normAutofit/>
          </a:bodyPr>
          <a:lstStyle/>
          <a:p>
            <a:endParaRPr lang="en-US"/>
          </a:p>
        </p:txBody>
      </p:sp>
      <p:sp>
        <p:nvSpPr>
          <p:cNvPr id="1014" name="Political"/>
          <p:cNvSpPr/>
          <p:nvPr/>
        </p:nvSpPr>
        <p:spPr>
          <a:xfrm>
            <a:off x="502920" y="2761488"/>
            <a:ext cx="3108960" cy="777240"/>
          </a:xfrm>
          <a:prstGeom prst="roundRect">
            <a:avLst>
              <a:gd name="adj" fmla="val 4000"/>
            </a:avLst>
          </a:prstGeom>
          <a:solidFill>
            <a:srgbClr val="FFFFFF"/>
          </a:solidFill>
          <a:ln w="15875">
            <a:solidFill>
              <a:srgbClr val="193F61"/>
            </a:solidFill>
          </a:ln>
        </p:spPr>
        <p:txBody>
          <a:bodyPr wrap="square" lIns="91440" tIns="54864" rIns="91440" bIns="54864" rtlCol="0" anchor="ctr">
            <a:normAutofit/>
          </a:bodyPr>
          <a:lstStyle/>
          <a:p>
            <a:pPr algn="ctr">
              <a:spcBef>
                <a:spcPts val="0"/>
              </a:spcBef>
              <a:spcAft>
                <a:spcPts val="200"/>
              </a:spcAft>
              <a:buNone/>
            </a:pPr>
            <a:r>
              <a:rPr lang="en-US" sz="1400" b="1" i="0" dirty="0">
                <a:solidFill>
                  <a:srgbClr val="193F61"/>
                </a:solidFill>
                <a:latin typeface="Calibri"/>
                <a:cs typeface="Calibri"/>
              </a:rPr>
              <a:t>Political objectives</a:t>
            </a:r>
          </a:p>
          <a:p>
            <a:pPr algn="ctr">
              <a:spcBef>
                <a:spcPts val="0"/>
              </a:spcBef>
              <a:spcAft>
                <a:spcPts val="0"/>
              </a:spcAft>
              <a:buNone/>
            </a:pPr>
            <a:r>
              <a:rPr lang="en-US" sz="1150" b="0" i="0" dirty="0">
                <a:solidFill>
                  <a:srgbClr val="5A6B7C"/>
                </a:solidFill>
                <a:latin typeface="Calibri"/>
                <a:cs typeface="Calibri"/>
              </a:rPr>
              <a:t>publicly stated reasons for intervention</a:t>
            </a:r>
          </a:p>
        </p:txBody>
      </p:sp>
      <p:sp>
        <p:nvSpPr>
          <p:cNvPr id="1015" name="Arrow"/>
          <p:cNvSpPr/>
          <p:nvPr/>
        </p:nvSpPr>
        <p:spPr>
          <a:xfrm>
            <a:off x="3703320" y="3017520"/>
            <a:ext cx="868680" cy="256032"/>
          </a:xfrm>
          <a:prstGeom prst="leftRightArrow">
            <a:avLst/>
          </a:prstGeom>
          <a:solidFill>
            <a:srgbClr val="EEBC37"/>
          </a:solidFill>
          <a:ln>
            <a:noFill/>
          </a:ln>
        </p:spPr>
        <p:txBody>
          <a:bodyPr wrap="square" lIns="91440" tIns="54864" rIns="91440" bIns="54864" rtlCol="0" anchor="t">
            <a:normAutofit/>
          </a:bodyPr>
          <a:lstStyle/>
          <a:p>
            <a:endParaRPr lang="en-US"/>
          </a:p>
        </p:txBody>
      </p:sp>
      <p:sp>
        <p:nvSpPr>
          <p:cNvPr id="1016" name="Tension label"/>
          <p:cNvSpPr txBox="1"/>
          <p:nvPr/>
        </p:nvSpPr>
        <p:spPr>
          <a:xfrm>
            <a:off x="3611880" y="3291840"/>
            <a:ext cx="1051560" cy="274320"/>
          </a:xfrm>
          <a:prstGeom prst="rect">
            <a:avLst/>
          </a:prstGeom>
          <a:noFill/>
          <a:ln>
            <a:noFill/>
          </a:ln>
        </p:spPr>
        <p:txBody>
          <a:bodyPr wrap="square" lIns="0" tIns="0" rIns="0" bIns="0" rtlCol="0" anchor="t">
            <a:normAutofit/>
          </a:bodyPr>
          <a:lstStyle/>
          <a:p>
            <a:pPr algn="ctr">
              <a:spcBef>
                <a:spcPts val="0"/>
              </a:spcBef>
              <a:spcAft>
                <a:spcPts val="0"/>
              </a:spcAft>
              <a:buNone/>
            </a:pPr>
            <a:r>
              <a:rPr lang="en-US" sz="950" b="0" i="1" dirty="0">
                <a:solidFill>
                  <a:srgbClr val="5A6B7C"/>
                </a:solidFill>
                <a:latin typeface="Calibri"/>
                <a:cs typeface="Calibri"/>
              </a:rPr>
              <a:t>tension or alignment</a:t>
            </a:r>
          </a:p>
        </p:txBody>
      </p:sp>
      <p:sp>
        <p:nvSpPr>
          <p:cNvPr id="1017" name="Appraisal"/>
          <p:cNvSpPr/>
          <p:nvPr/>
        </p:nvSpPr>
        <p:spPr>
          <a:xfrm>
            <a:off x="4663440" y="2761488"/>
            <a:ext cx="3108960" cy="777240"/>
          </a:xfrm>
          <a:prstGeom prst="roundRect">
            <a:avLst>
              <a:gd name="adj" fmla="val 4000"/>
            </a:avLst>
          </a:prstGeom>
          <a:solidFill>
            <a:srgbClr val="FFFFFF"/>
          </a:solidFill>
          <a:ln w="15875">
            <a:solidFill>
              <a:srgbClr val="193F61"/>
            </a:solidFill>
          </a:ln>
        </p:spPr>
        <p:txBody>
          <a:bodyPr wrap="square" lIns="91440" tIns="54864" rIns="91440" bIns="54864" rtlCol="0" anchor="ctr">
            <a:normAutofit/>
          </a:bodyPr>
          <a:lstStyle/>
          <a:p>
            <a:pPr algn="ctr">
              <a:spcBef>
                <a:spcPts val="0"/>
              </a:spcBef>
              <a:spcAft>
                <a:spcPts val="200"/>
              </a:spcAft>
              <a:buNone/>
            </a:pPr>
            <a:r>
              <a:rPr lang="en-US" sz="1400" b="1" i="0" dirty="0">
                <a:solidFill>
                  <a:srgbClr val="193F61"/>
                </a:solidFill>
                <a:latin typeface="Calibri"/>
                <a:cs typeface="Calibri"/>
              </a:rPr>
              <a:t>Business appraisal</a:t>
            </a:r>
          </a:p>
          <a:p>
            <a:pPr algn="ctr">
              <a:spcBef>
                <a:spcPts val="0"/>
              </a:spcBef>
              <a:spcAft>
                <a:spcPts val="0"/>
              </a:spcAft>
              <a:buNone/>
            </a:pPr>
            <a:r>
              <a:rPr lang="en-US" sz="1150" b="0" i="0" dirty="0">
                <a:solidFill>
                  <a:srgbClr val="5A6B7C"/>
                </a:solidFill>
                <a:latin typeface="Calibri"/>
                <a:cs typeface="Calibri"/>
              </a:rPr>
              <a:t>costs, revenues, financing, operating requirements</a:t>
            </a:r>
          </a:p>
        </p:txBody>
      </p:sp>
      <p:sp>
        <p:nvSpPr>
          <p:cNvPr id="1018" name="Actors"/>
          <p:cNvSpPr txBox="1"/>
          <p:nvPr/>
        </p:nvSpPr>
        <p:spPr>
          <a:xfrm>
            <a:off x="502920" y="3566160"/>
            <a:ext cx="7269480" cy="237744"/>
          </a:xfrm>
          <a:prstGeom prst="rect">
            <a:avLst/>
          </a:prstGeom>
          <a:noFill/>
          <a:ln>
            <a:noFill/>
          </a:ln>
        </p:spPr>
        <p:txBody>
          <a:bodyPr wrap="square" lIns="0" tIns="0" rIns="0" bIns="0" rtlCol="0" anchor="t">
            <a:normAutofit/>
          </a:bodyPr>
          <a:lstStyle/>
          <a:p>
            <a:pPr algn="ctr">
              <a:spcBef>
                <a:spcPts val="0"/>
              </a:spcBef>
              <a:spcAft>
                <a:spcPts val="0"/>
              </a:spcAft>
              <a:buNone/>
            </a:pPr>
            <a:r>
              <a:rPr lang="en-US" sz="1100" b="0" i="1" dirty="0">
                <a:solidFill>
                  <a:srgbClr val="5A6B7C"/>
                </a:solidFill>
                <a:latin typeface="Calibri"/>
                <a:cs typeface="Calibri"/>
              </a:rPr>
              <a:t>municipal councils and company boards: appraisal and authorisation</a:t>
            </a:r>
          </a:p>
        </p:txBody>
      </p:sp>
      <p:sp>
        <p:nvSpPr>
          <p:cNvPr id="1019" name="Ch1"/>
          <p:cNvSpPr/>
          <p:nvPr/>
        </p:nvSpPr>
        <p:spPr>
          <a:xfrm>
            <a:off x="502920" y="3858768"/>
            <a:ext cx="2286000" cy="731520"/>
          </a:xfrm>
          <a:prstGeom prst="roundRect">
            <a:avLst>
              <a:gd name="adj" fmla="val 4000"/>
            </a:avLst>
          </a:prstGeom>
          <a:solidFill>
            <a:srgbClr val="E3EAF2"/>
          </a:solidFill>
          <a:ln>
            <a:noFill/>
          </a:ln>
        </p:spPr>
        <p:txBody>
          <a:bodyPr wrap="square" lIns="91440" tIns="54864" rIns="91440" bIns="54864" rtlCol="0" anchor="ctr">
            <a:normAutofit/>
          </a:bodyPr>
          <a:lstStyle/>
          <a:p>
            <a:pPr algn="ctr">
              <a:spcBef>
                <a:spcPts val="0"/>
              </a:spcBef>
              <a:spcAft>
                <a:spcPts val="200"/>
              </a:spcAft>
              <a:buNone/>
            </a:pPr>
            <a:r>
              <a:rPr lang="en-US" sz="1250" b="1" i="0" dirty="0">
                <a:solidFill>
                  <a:srgbClr val="1F2A37"/>
                </a:solidFill>
                <a:latin typeface="Calibri"/>
                <a:cs typeface="Calibri"/>
              </a:rPr>
              <a:t>Owner capital and guarantees</a:t>
            </a:r>
          </a:p>
          <a:p>
            <a:pPr algn="ctr">
              <a:spcBef>
                <a:spcPts val="0"/>
              </a:spcBef>
              <a:spcAft>
                <a:spcPts val="0"/>
              </a:spcAft>
              <a:buNone/>
            </a:pPr>
            <a:r>
              <a:rPr lang="en-US" sz="1100" b="0" i="1" dirty="0">
                <a:solidFill>
                  <a:srgbClr val="4C886C"/>
                </a:solidFill>
                <a:latin typeface="Calibri"/>
                <a:cs typeface="Calibri"/>
              </a:rPr>
              <a:t>financing support</a:t>
            </a:r>
          </a:p>
        </p:txBody>
      </p:sp>
      <p:sp>
        <p:nvSpPr>
          <p:cNvPr id="1020" name="Ch2"/>
          <p:cNvSpPr/>
          <p:nvPr/>
        </p:nvSpPr>
        <p:spPr>
          <a:xfrm>
            <a:off x="2994660" y="3858768"/>
            <a:ext cx="2286000" cy="731520"/>
          </a:xfrm>
          <a:prstGeom prst="roundRect">
            <a:avLst>
              <a:gd name="adj" fmla="val 4000"/>
            </a:avLst>
          </a:prstGeom>
          <a:solidFill>
            <a:srgbClr val="E3EAF2"/>
          </a:solidFill>
          <a:ln>
            <a:noFill/>
          </a:ln>
        </p:spPr>
        <p:txBody>
          <a:bodyPr wrap="square" lIns="91440" tIns="54864" rIns="91440" bIns="54864" rtlCol="0" anchor="ctr">
            <a:normAutofit/>
          </a:bodyPr>
          <a:lstStyle/>
          <a:p>
            <a:pPr algn="ctr">
              <a:spcBef>
                <a:spcPts val="0"/>
              </a:spcBef>
              <a:spcAft>
                <a:spcPts val="200"/>
              </a:spcAft>
              <a:buNone/>
            </a:pPr>
            <a:r>
              <a:rPr lang="en-US" sz="1250" b="1" i="0" dirty="0">
                <a:solidFill>
                  <a:srgbClr val="1F2A37"/>
                </a:solidFill>
                <a:latin typeface="Calibri"/>
                <a:cs typeface="Calibri"/>
              </a:rPr>
              <a:t>Prospective owner purchases</a:t>
            </a:r>
          </a:p>
          <a:p>
            <a:pPr algn="ctr">
              <a:spcBef>
                <a:spcPts val="0"/>
              </a:spcBef>
              <a:spcAft>
                <a:spcPts val="0"/>
              </a:spcAft>
              <a:buNone/>
            </a:pPr>
            <a:r>
              <a:rPr lang="en-US" sz="1100" b="0" i="1" dirty="0">
                <a:solidFill>
                  <a:srgbClr val="4C886C"/>
                </a:solidFill>
                <a:latin typeface="Calibri"/>
                <a:cs typeface="Calibri"/>
              </a:rPr>
              <a:t>conditional revenue</a:t>
            </a:r>
          </a:p>
        </p:txBody>
      </p:sp>
      <p:sp>
        <p:nvSpPr>
          <p:cNvPr id="1021" name="Ch3"/>
          <p:cNvSpPr/>
          <p:nvPr/>
        </p:nvSpPr>
        <p:spPr>
          <a:xfrm>
            <a:off x="5486400" y="3858768"/>
            <a:ext cx="2286000" cy="731520"/>
          </a:xfrm>
          <a:prstGeom prst="roundRect">
            <a:avLst>
              <a:gd name="adj" fmla="val 4000"/>
            </a:avLst>
          </a:prstGeom>
          <a:solidFill>
            <a:srgbClr val="E3EAF2"/>
          </a:solidFill>
          <a:ln>
            <a:noFill/>
          </a:ln>
        </p:spPr>
        <p:txBody>
          <a:bodyPr wrap="square" lIns="91440" tIns="54864" rIns="91440" bIns="54864" rtlCol="0" anchor="ctr">
            <a:normAutofit/>
          </a:bodyPr>
          <a:lstStyle/>
          <a:p>
            <a:pPr algn="ctr">
              <a:spcBef>
                <a:spcPts val="0"/>
              </a:spcBef>
              <a:spcAft>
                <a:spcPts val="200"/>
              </a:spcAft>
              <a:buNone/>
            </a:pPr>
            <a:r>
              <a:rPr lang="en-US" sz="1250" b="1" i="0" dirty="0">
                <a:solidFill>
                  <a:srgbClr val="1F2A37"/>
                </a:solidFill>
                <a:latin typeface="Calibri"/>
                <a:cs typeface="Calibri"/>
              </a:rPr>
              <a:t>Agreements between companies</a:t>
            </a:r>
          </a:p>
          <a:p>
            <a:pPr algn="ctr">
              <a:spcBef>
                <a:spcPts val="0"/>
              </a:spcBef>
              <a:spcAft>
                <a:spcPts val="0"/>
              </a:spcAft>
              <a:buNone/>
            </a:pPr>
            <a:r>
              <a:rPr lang="en-US" sz="1100" b="0" i="1" dirty="0">
                <a:solidFill>
                  <a:srgbClr val="4C886C"/>
                </a:solidFill>
                <a:latin typeface="Calibri"/>
                <a:cs typeface="Calibri"/>
              </a:rPr>
              <a:t>cost allocation</a:t>
            </a:r>
          </a:p>
        </p:txBody>
      </p:sp>
      <p:sp>
        <p:nvSpPr>
          <p:cNvPr id="1022" name="Arrow"/>
          <p:cNvSpPr/>
          <p:nvPr/>
        </p:nvSpPr>
        <p:spPr>
          <a:xfrm>
            <a:off x="1463040" y="4626864"/>
            <a:ext cx="365760" cy="219456"/>
          </a:xfrm>
          <a:prstGeom prst="downArrow">
            <a:avLst/>
          </a:prstGeom>
          <a:solidFill>
            <a:srgbClr val="ADC1D8"/>
          </a:solidFill>
          <a:ln>
            <a:noFill/>
          </a:ln>
        </p:spPr>
        <p:txBody>
          <a:bodyPr wrap="square" lIns="91440" tIns="54864" rIns="91440" bIns="54864" rtlCol="0" anchor="t">
            <a:normAutofit/>
          </a:bodyPr>
          <a:lstStyle/>
          <a:p>
            <a:endParaRPr lang="en-US"/>
          </a:p>
        </p:txBody>
      </p:sp>
      <p:sp>
        <p:nvSpPr>
          <p:cNvPr id="1023" name="Arrow"/>
          <p:cNvSpPr/>
          <p:nvPr/>
        </p:nvSpPr>
        <p:spPr>
          <a:xfrm>
            <a:off x="6217920" y="4626864"/>
            <a:ext cx="365760" cy="219456"/>
          </a:xfrm>
          <a:prstGeom prst="downArrow">
            <a:avLst/>
          </a:prstGeom>
          <a:solidFill>
            <a:srgbClr val="ADC1D8"/>
          </a:solidFill>
          <a:ln>
            <a:noFill/>
          </a:ln>
        </p:spPr>
        <p:txBody>
          <a:bodyPr wrap="square" lIns="91440" tIns="54864" rIns="91440" bIns="54864" rtlCol="0" anchor="t">
            <a:normAutofit/>
          </a:bodyPr>
          <a:lstStyle/>
          <a:p>
            <a:endParaRPr lang="en-US"/>
          </a:p>
        </p:txBody>
      </p:sp>
      <p:sp>
        <p:nvSpPr>
          <p:cNvPr id="1024" name="Financing"/>
          <p:cNvSpPr/>
          <p:nvPr/>
        </p:nvSpPr>
        <p:spPr>
          <a:xfrm>
            <a:off x="502920" y="4901184"/>
            <a:ext cx="3291840" cy="502920"/>
          </a:xfrm>
          <a:prstGeom prst="roundRect">
            <a:avLst>
              <a:gd name="adj" fmla="val 4000"/>
            </a:avLst>
          </a:prstGeom>
          <a:solidFill>
            <a:srgbClr val="129152"/>
          </a:solidFill>
          <a:ln>
            <a:noFill/>
          </a:ln>
        </p:spPr>
        <p:txBody>
          <a:bodyPr wrap="square" lIns="91440" tIns="54864" rIns="91440" bIns="54864" rtlCol="0" anchor="ctr">
            <a:normAutofit/>
          </a:bodyPr>
          <a:lstStyle/>
          <a:p>
            <a:pPr algn="ctr">
              <a:spcBef>
                <a:spcPts val="0"/>
              </a:spcBef>
              <a:spcAft>
                <a:spcPts val="0"/>
              </a:spcAft>
              <a:buNone/>
            </a:pPr>
            <a:r>
              <a:rPr lang="en-US" sz="1400" b="1" i="0" dirty="0">
                <a:solidFill>
                  <a:srgbClr val="FFFFFF"/>
                </a:solidFill>
                <a:latin typeface="Calibri"/>
                <a:cs typeface="Calibri"/>
              </a:rPr>
              <a:t>Approved financing</a:t>
            </a:r>
          </a:p>
        </p:txBody>
      </p:sp>
      <p:sp>
        <p:nvSpPr>
          <p:cNvPr id="1025" name="Plus"/>
          <p:cNvSpPr txBox="1"/>
          <p:nvPr/>
        </p:nvSpPr>
        <p:spPr>
          <a:xfrm>
            <a:off x="3794760" y="4901184"/>
            <a:ext cx="640080" cy="502920"/>
          </a:xfrm>
          <a:prstGeom prst="rect">
            <a:avLst/>
          </a:prstGeom>
          <a:noFill/>
          <a:ln>
            <a:noFill/>
          </a:ln>
        </p:spPr>
        <p:txBody>
          <a:bodyPr wrap="square" lIns="0" tIns="0" rIns="0" bIns="0" rtlCol="0" anchor="ctr">
            <a:normAutofit/>
          </a:bodyPr>
          <a:lstStyle/>
          <a:p>
            <a:pPr algn="ctr">
              <a:spcBef>
                <a:spcPts val="0"/>
              </a:spcBef>
              <a:spcAft>
                <a:spcPts val="0"/>
              </a:spcAft>
              <a:buNone/>
            </a:pPr>
            <a:r>
              <a:rPr lang="en-US" sz="2200" b="1" i="0" dirty="0">
                <a:solidFill>
                  <a:srgbClr val="193F61"/>
                </a:solidFill>
                <a:latin typeface="Calibri"/>
                <a:cs typeface="Calibri"/>
              </a:rPr>
              <a:t>+</a:t>
            </a:r>
          </a:p>
        </p:txBody>
      </p:sp>
      <p:sp>
        <p:nvSpPr>
          <p:cNvPr id="1026" name="Recovery"/>
          <p:cNvSpPr/>
          <p:nvPr/>
        </p:nvSpPr>
        <p:spPr>
          <a:xfrm>
            <a:off x="4480560" y="4901184"/>
            <a:ext cx="3291840" cy="502920"/>
          </a:xfrm>
          <a:prstGeom prst="roundRect">
            <a:avLst>
              <a:gd name="adj" fmla="val 4000"/>
            </a:avLst>
          </a:prstGeom>
          <a:solidFill>
            <a:srgbClr val="129152"/>
          </a:solidFill>
          <a:ln>
            <a:noFill/>
          </a:ln>
        </p:spPr>
        <p:txBody>
          <a:bodyPr wrap="square" lIns="91440" tIns="54864" rIns="91440" bIns="54864" rtlCol="0" anchor="ctr">
            <a:normAutofit/>
          </a:bodyPr>
          <a:lstStyle/>
          <a:p>
            <a:pPr algn="ctr">
              <a:spcBef>
                <a:spcPts val="0"/>
              </a:spcBef>
              <a:spcAft>
                <a:spcPts val="0"/>
              </a:spcAft>
              <a:buNone/>
            </a:pPr>
            <a:r>
              <a:rPr lang="en-US" sz="1400" b="1" i="0" dirty="0">
                <a:solidFill>
                  <a:srgbClr val="FFFFFF"/>
                </a:solidFill>
                <a:latin typeface="Calibri"/>
                <a:cs typeface="Calibri"/>
              </a:rPr>
              <a:t>Credible cost recovery</a:t>
            </a:r>
          </a:p>
        </p:txBody>
      </p:sp>
      <p:sp>
        <p:nvSpPr>
          <p:cNvPr id="1027" name="Investability"/>
          <p:cNvSpPr txBox="1"/>
          <p:nvPr/>
        </p:nvSpPr>
        <p:spPr>
          <a:xfrm>
            <a:off x="502920" y="5468112"/>
            <a:ext cx="7269480" cy="365760"/>
          </a:xfrm>
          <a:prstGeom prst="rect">
            <a:avLst/>
          </a:prstGeom>
          <a:noFill/>
          <a:ln>
            <a:noFill/>
          </a:ln>
        </p:spPr>
        <p:txBody>
          <a:bodyPr wrap="square" lIns="0" tIns="0" rIns="0" bIns="0" rtlCol="0" anchor="ctr">
            <a:normAutofit/>
          </a:bodyPr>
          <a:lstStyle/>
          <a:p>
            <a:pPr algn="ctr">
              <a:spcBef>
                <a:spcPts val="0"/>
              </a:spcBef>
              <a:spcAft>
                <a:spcPts val="0"/>
              </a:spcAft>
              <a:buNone/>
            </a:pPr>
            <a:r>
              <a:rPr lang="en-US" sz="1500" b="1" i="0" dirty="0">
                <a:solidFill>
                  <a:srgbClr val="193F61"/>
                </a:solidFill>
                <a:latin typeface="Calibri"/>
                <a:cs typeface="Calibri"/>
              </a:rPr>
              <a:t>= Investability</a:t>
            </a:r>
            <a:r>
              <a:rPr lang="en-US" sz="1150" b="0" i="1" dirty="0">
                <a:solidFill>
                  <a:srgbClr val="5A6B7C"/>
                </a:solidFill>
                <a:latin typeface="Calibri"/>
                <a:cs typeface="Calibri"/>
              </a:rPr>
              <a:t xml:space="preserve">    the definition used in this study</a:t>
            </a:r>
          </a:p>
        </p:txBody>
      </p:sp>
      <p:sp>
        <p:nvSpPr>
          <p:cNvPr id="1028" name="Card"/>
          <p:cNvSpPr/>
          <p:nvPr/>
        </p:nvSpPr>
        <p:spPr>
          <a:xfrm>
            <a:off x="8092440" y="1828800"/>
            <a:ext cx="3566160" cy="18745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64592" tIns="128016" rIns="164592" bIns="109728" rtlCol="0" anchor="t">
            <a:normAutofit/>
          </a:bodyPr>
          <a:lstStyle/>
          <a:p>
            <a:pPr algn="l">
              <a:spcBef>
                <a:spcPts val="0"/>
              </a:spcBef>
              <a:spcAft>
                <a:spcPts val="400"/>
              </a:spcAft>
              <a:buNone/>
            </a:pPr>
            <a:r>
              <a:rPr lang="en-US" sz="1400" b="1" i="0" dirty="0">
                <a:solidFill>
                  <a:srgbClr val="129152"/>
                </a:solidFill>
                <a:latin typeface="Calibri"/>
                <a:cs typeface="Calibri"/>
              </a:rPr>
              <a:t>Investability</a:t>
            </a:r>
          </a:p>
          <a:p>
            <a:pPr algn="l">
              <a:spcBef>
                <a:spcPts val="0"/>
              </a:spcBef>
              <a:spcAft>
                <a:spcPts val="0"/>
              </a:spcAft>
              <a:buNone/>
            </a:pPr>
            <a:r>
              <a:rPr lang="en-US" sz="1250" b="0" i="0" dirty="0">
                <a:solidFill>
                  <a:srgbClr val="1F2A37"/>
                </a:solidFill>
                <a:latin typeface="Calibri"/>
                <a:cs typeface="Calibri"/>
              </a:rPr>
              <a:t>Approved financing combined with credible cost recovery. It asks who accepts the financial commitments and how investment and provision costs are expected to be met, rather than scoring completed business cases.</a:t>
            </a:r>
          </a:p>
        </p:txBody>
      </p:sp>
      <p:sp>
        <p:nvSpPr>
          <p:cNvPr id="1029" name="Card"/>
          <p:cNvSpPr/>
          <p:nvPr/>
        </p:nvSpPr>
        <p:spPr>
          <a:xfrm>
            <a:off x="8092440" y="3840480"/>
            <a:ext cx="3566160" cy="11887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64592" tIns="128016" rIns="164592" bIns="109728" rtlCol="0" anchor="t">
            <a:normAutofit/>
          </a:bodyPr>
          <a:lstStyle/>
          <a:p>
            <a:pPr algn="l">
              <a:spcBef>
                <a:spcPts val="0"/>
              </a:spcBef>
              <a:spcAft>
                <a:spcPts val="400"/>
              </a:spcAft>
              <a:buNone/>
            </a:pPr>
            <a:r>
              <a:rPr lang="en-US" sz="1400" b="1" i="0" dirty="0">
                <a:solidFill>
                  <a:srgbClr val="EEBC37"/>
                </a:solidFill>
                <a:latin typeface="Calibri"/>
                <a:cs typeface="Calibri"/>
              </a:rPr>
              <a:t>Revisability</a:t>
            </a:r>
            <a:r>
              <a:rPr lang="en-US" sz="1150" b="0" i="0" dirty="0">
                <a:solidFill>
                  <a:srgbClr val="5A6B7C"/>
                </a:solidFill>
                <a:latin typeface="Calibri"/>
                <a:cs typeface="Calibri"/>
              </a:rPr>
              <a:t xml:space="preserve">  (secondary)</a:t>
            </a:r>
          </a:p>
          <a:p>
            <a:pPr algn="l">
              <a:spcBef>
                <a:spcPts val="0"/>
              </a:spcBef>
              <a:spcAft>
                <a:spcPts val="0"/>
              </a:spcAft>
              <a:buNone/>
            </a:pPr>
            <a:r>
              <a:rPr lang="en-US" sz="1250" b="0" i="0" dirty="0">
                <a:solidFill>
                  <a:srgbClr val="1F2A37"/>
                </a:solidFill>
                <a:latin typeface="Calibri"/>
                <a:cs typeface="Calibri"/>
              </a:rPr>
              <a:t>Changes in technology, scale, timing or activities: can the two conditions be maintained through the change?</a:t>
            </a:r>
          </a:p>
        </p:txBody>
      </p:sp>
      <p:sp>
        <p:nvSpPr>
          <p:cNvPr id="1030" name="Card"/>
          <p:cNvSpPr/>
          <p:nvPr/>
        </p:nvSpPr>
        <p:spPr>
          <a:xfrm>
            <a:off x="8092440" y="5166360"/>
            <a:ext cx="3566160" cy="1051560"/>
          </a:xfrm>
          <a:prstGeom prst="roundRect">
            <a:avLst>
              <a:gd name="adj" fmla="val 3000"/>
            </a:avLst>
          </a:prstGeom>
          <a:solidFill>
            <a:srgbClr val="FFFFFF">
              <a:alpha val="86000"/>
            </a:srgbClr>
          </a:solidFill>
          <a:ln>
            <a:noFill/>
          </a:ln>
        </p:spPr>
        <p:txBody>
          <a:bodyPr wrap="square" lIns="137160" tIns="91440" rIns="137160" bIns="73152" rtlCol="0" anchor="t">
            <a:normAutofit/>
          </a:bodyPr>
          <a:lstStyle/>
          <a:p>
            <a:pPr algn="l">
              <a:spcBef>
                <a:spcPts val="0"/>
              </a:spcBef>
              <a:spcAft>
                <a:spcPts val="0"/>
              </a:spcAft>
              <a:buNone/>
            </a:pPr>
            <a:r>
              <a:rPr lang="en-US" sz="1000" b="0" i="0" dirty="0">
                <a:solidFill>
                  <a:srgbClr val="5A6B7C"/>
                </a:solidFill>
                <a:latin typeface="Calibri"/>
                <a:cs typeface="Calibri"/>
              </a:rPr>
              <a:t>Source: Authors' own elaboration (Figure 1 of the paper). Both terms are analytical tools, following Bruton et al. (2015) rather than assigning political and economic rationality to separate camps.</a:t>
            </a:r>
          </a:p>
        </p:txBody>
      </p:sp>
    </p:spTree>
    <p:extLst>
      <p:ext uri="{BB962C8B-B14F-4D97-AF65-F5344CB8AC3E}">
        <p14:creationId xmlns:p14="http://schemas.microsoft.com/office/powerpoint/2010/main" val="382855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031"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Where the paper sits</a:t>
            </a:r>
          </a:p>
        </p:txBody>
      </p:sp>
      <p:sp>
        <p:nvSpPr>
          <p:cNvPr id="1032" name="Card"/>
          <p:cNvSpPr/>
          <p:nvPr/>
        </p:nvSpPr>
        <p:spPr>
          <a:xfrm>
            <a:off x="502920" y="1965960"/>
            <a:ext cx="3566160" cy="315468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502920" rIns="182880" bIns="137160" rtlCol="0" anchor="t">
            <a:normAutofit/>
          </a:bodyPr>
          <a:lstStyle/>
          <a:p>
            <a:pPr algn="l">
              <a:spcBef>
                <a:spcPts val="0"/>
              </a:spcBef>
              <a:spcAft>
                <a:spcPts val="800"/>
              </a:spcAft>
              <a:buNone/>
            </a:pPr>
            <a:r>
              <a:rPr lang="en-US" sz="1500" b="1" i="0" dirty="0">
                <a:solidFill>
                  <a:srgbClr val="193F61"/>
                </a:solidFill>
                <a:latin typeface="Calibri"/>
                <a:cs typeface="Calibri"/>
              </a:rPr>
              <a:t>Municipal climate governance</a:t>
            </a:r>
          </a:p>
          <a:p>
            <a:pPr algn="l">
              <a:spcBef>
                <a:spcPts val="0"/>
              </a:spcBef>
              <a:spcAft>
                <a:spcPts val="1000"/>
              </a:spcAft>
              <a:buNone/>
            </a:pPr>
            <a:r>
              <a:rPr lang="en-US" sz="1300" b="0" i="0" dirty="0">
                <a:solidFill>
                  <a:srgbClr val="1F2A37"/>
                </a:solidFill>
                <a:latin typeface="Calibri"/>
                <a:cs typeface="Calibri"/>
              </a:rPr>
              <a:t>Service provision as a means of implementing climate policy (Kern &amp; Alber 2009). Mayors also back renewables for employment, earnings and local development (Busch &amp; McCormick 2014).</a:t>
            </a:r>
          </a:p>
          <a:p>
            <a:pPr algn="l">
              <a:spcBef>
                <a:spcPts val="0"/>
              </a:spcBef>
              <a:spcAft>
                <a:spcPts val="0"/>
              </a:spcAft>
              <a:buNone/>
            </a:pPr>
            <a:r>
              <a:rPr lang="en-US" sz="1250" b="1" i="0" dirty="0">
                <a:solidFill>
                  <a:srgbClr val="193F61"/>
                </a:solidFill>
                <a:latin typeface="Calibri"/>
                <a:cs typeface="Calibri"/>
              </a:rPr>
              <a:t xml:space="preserve">In this paper: </a:t>
            </a:r>
            <a:r>
              <a:rPr lang="en-US" sz="1250" b="0" i="1" dirty="0">
                <a:solidFill>
                  <a:srgbClr val="1F2A37"/>
                </a:solidFill>
                <a:latin typeface="Calibri"/>
                <a:cs typeface="Calibri"/>
              </a:rPr>
              <a:t>We therefore record the purposes invoked for each investment.</a:t>
            </a:r>
          </a:p>
        </p:txBody>
      </p:sp>
      <p:sp>
        <p:nvSpPr>
          <p:cNvPr id="1033" name="Badge"/>
          <p:cNvSpPr/>
          <p:nvPr/>
        </p:nvSpPr>
        <p:spPr>
          <a:xfrm>
            <a:off x="685800" y="1810512"/>
            <a:ext cx="384048" cy="384048"/>
          </a:xfrm>
          <a:prstGeom prst="ellipse">
            <a:avLst/>
          </a:prstGeom>
          <a:solidFill>
            <a:srgbClr val="193F61"/>
          </a:solidFill>
          <a:ln>
            <a:noFill/>
          </a:ln>
        </p:spPr>
        <p:txBody>
          <a:bodyPr wrap="square" lIns="0" tIns="0" rIns="0" bIns="0" rtlCol="0" anchor="ctr">
            <a:normAutofit/>
          </a:bodyPr>
          <a:lstStyle/>
          <a:p>
            <a:pPr algn="ctr">
              <a:spcBef>
                <a:spcPts val="0"/>
              </a:spcBef>
              <a:spcAft>
                <a:spcPts val="0"/>
              </a:spcAft>
              <a:buNone/>
            </a:pPr>
            <a:r>
              <a:rPr lang="en-US" sz="1600" b="1" i="0" dirty="0">
                <a:solidFill>
                  <a:srgbClr val="FFFFFF"/>
                </a:solidFill>
                <a:latin typeface="Calibri"/>
                <a:cs typeface="Calibri"/>
              </a:rPr>
              <a:t/>
            </a:r>
          </a:p>
        </p:txBody>
      </p:sp>
      <p:sp>
        <p:nvSpPr>
          <p:cNvPr id="1034" name="Card"/>
          <p:cNvSpPr/>
          <p:nvPr/>
        </p:nvSpPr>
        <p:spPr>
          <a:xfrm>
            <a:off x="4297680" y="1965960"/>
            <a:ext cx="3566160" cy="315468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502920" rIns="182880" bIns="137160" rtlCol="0" anchor="t">
            <a:normAutofit/>
          </a:bodyPr>
          <a:lstStyle/>
          <a:p>
            <a:pPr algn="l">
              <a:spcBef>
                <a:spcPts val="0"/>
              </a:spcBef>
              <a:spcAft>
                <a:spcPts val="800"/>
              </a:spcAft>
              <a:buNone/>
            </a:pPr>
            <a:r>
              <a:rPr lang="en-US" sz="1500" b="1" i="0" dirty="0">
                <a:solidFill>
                  <a:srgbClr val="129152"/>
                </a:solidFill>
                <a:latin typeface="Calibri"/>
                <a:cs typeface="Calibri"/>
              </a:rPr>
              <a:t>Public service ecosystems and public value</a:t>
            </a:r>
          </a:p>
          <a:p>
            <a:pPr algn="l">
              <a:spcBef>
                <a:spcPts val="0"/>
              </a:spcBef>
              <a:spcAft>
                <a:spcPts val="1000"/>
              </a:spcAft>
              <a:buNone/>
            </a:pPr>
            <a:r>
              <a:rPr lang="en-US" sz="1300" b="0" i="0" dirty="0">
                <a:solidFill>
                  <a:srgbClr val="1F2A37"/>
                </a:solidFill>
                <a:latin typeface="Calibri"/>
                <a:cs typeface="Calibri"/>
              </a:rPr>
              <a:t>Value creation mediated among actors, institutions and competing values (Osborne et al. 2022; Trischler et al. 2023); conflict over public value foregrounded (Skålén et al. 2024).</a:t>
            </a:r>
          </a:p>
          <a:p>
            <a:pPr algn="l">
              <a:spcBef>
                <a:spcPts val="0"/>
              </a:spcBef>
              <a:spcAft>
                <a:spcPts val="0"/>
              </a:spcAft>
              <a:buNone/>
            </a:pPr>
            <a:r>
              <a:rPr lang="en-US" sz="1250" b="1" i="0" dirty="0">
                <a:solidFill>
                  <a:srgbClr val="129152"/>
                </a:solidFill>
                <a:latin typeface="Calibri"/>
                <a:cs typeface="Calibri"/>
              </a:rPr>
              <a:t xml:space="preserve">In this paper: </a:t>
            </a:r>
            <a:r>
              <a:rPr lang="en-US" sz="1250" b="0" i="1" dirty="0">
                <a:solidFill>
                  <a:srgbClr val="1F2A37"/>
                </a:solidFill>
                <a:latin typeface="Calibri"/>
                <a:cs typeface="Calibri"/>
              </a:rPr>
              <a:t>We examine that mediation at the moment of investment, when purposes meet assets, expenditure and obligations.</a:t>
            </a:r>
          </a:p>
        </p:txBody>
      </p:sp>
      <p:sp>
        <p:nvSpPr>
          <p:cNvPr id="1035" name="Badge"/>
          <p:cNvSpPr/>
          <p:nvPr/>
        </p:nvSpPr>
        <p:spPr>
          <a:xfrm>
            <a:off x="4480560" y="1810512"/>
            <a:ext cx="384048" cy="384048"/>
          </a:xfrm>
          <a:prstGeom prst="ellipse">
            <a:avLst/>
          </a:prstGeom>
          <a:solidFill>
            <a:srgbClr val="129152"/>
          </a:solidFill>
          <a:ln>
            <a:noFill/>
          </a:ln>
        </p:spPr>
        <p:txBody>
          <a:bodyPr wrap="square" lIns="0" tIns="0" rIns="0" bIns="0" rtlCol="0" anchor="ctr">
            <a:normAutofit/>
          </a:bodyPr>
          <a:lstStyle/>
          <a:p>
            <a:pPr algn="ctr">
              <a:spcBef>
                <a:spcPts val="0"/>
              </a:spcBef>
              <a:spcAft>
                <a:spcPts val="0"/>
              </a:spcAft>
              <a:buNone/>
            </a:pPr>
            <a:r>
              <a:rPr lang="en-US" sz="1600" b="1" i="0" dirty="0">
                <a:solidFill>
                  <a:srgbClr val="FFFFFF"/>
                </a:solidFill>
                <a:latin typeface="Calibri"/>
                <a:cs typeface="Calibri"/>
              </a:rPr>
              <a:t/>
            </a:r>
          </a:p>
        </p:txBody>
      </p:sp>
      <p:sp>
        <p:nvSpPr>
          <p:cNvPr id="1036" name="Card"/>
          <p:cNvSpPr/>
          <p:nvPr/>
        </p:nvSpPr>
        <p:spPr>
          <a:xfrm>
            <a:off x="8092440" y="1965960"/>
            <a:ext cx="3566160" cy="315468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502920" rIns="182880" bIns="137160" rtlCol="0" anchor="t">
            <a:normAutofit/>
          </a:bodyPr>
          <a:lstStyle/>
          <a:p>
            <a:pPr algn="l">
              <a:spcBef>
                <a:spcPts val="0"/>
              </a:spcBef>
              <a:spcAft>
                <a:spcPts val="800"/>
              </a:spcAft>
              <a:buNone/>
            </a:pPr>
            <a:r>
              <a:rPr lang="en-US" sz="1500" b="1" i="0" dirty="0">
                <a:solidFill>
                  <a:srgbClr val="4C886C"/>
                </a:solidFill>
                <a:latin typeface="Calibri"/>
                <a:cs typeface="Calibri"/>
              </a:rPr>
              <a:t>Municipally owned enterprises, multiple principals</a:t>
            </a:r>
          </a:p>
          <a:p>
            <a:pPr algn="l">
              <a:spcBef>
                <a:spcPts val="0"/>
              </a:spcBef>
              <a:spcAft>
                <a:spcPts val="1000"/>
              </a:spcAft>
              <a:buNone/>
            </a:pPr>
            <a:r>
              <a:rPr lang="en-US" sz="1300" b="0" i="0" dirty="0">
                <a:solidFill>
                  <a:srgbClr val="1F2A37"/>
                </a:solidFill>
                <a:latin typeface="Calibri"/>
                <a:cs typeface="Calibri"/>
              </a:rPr>
              <a:t>Hybrid organisations combining public control and corporate form (Bruton et al. 2015). Joint delivery raises collective action problems (Voorn et al. 2019; Voorn &amp; van Genugten 2022).</a:t>
            </a:r>
          </a:p>
          <a:p>
            <a:pPr algn="l">
              <a:spcBef>
                <a:spcPts val="0"/>
              </a:spcBef>
              <a:spcAft>
                <a:spcPts val="0"/>
              </a:spcAft>
              <a:buNone/>
            </a:pPr>
            <a:r>
              <a:rPr lang="en-US" sz="1250" b="1" i="0" dirty="0">
                <a:solidFill>
                  <a:srgbClr val="4C886C"/>
                </a:solidFill>
                <a:latin typeface="Calibri"/>
                <a:cs typeface="Calibri"/>
              </a:rPr>
              <a:t xml:space="preserve">In this paper: </a:t>
            </a:r>
            <a:r>
              <a:rPr lang="en-US" sz="1250" b="0" i="1" dirty="0">
                <a:solidFill>
                  <a:srgbClr val="1F2A37"/>
                </a:solidFill>
                <a:latin typeface="Calibri"/>
                <a:cs typeface="Calibri"/>
              </a:rPr>
              <a:t>We ask whose agreement is required and how a collective position becomes an owner's commitment.</a:t>
            </a:r>
          </a:p>
        </p:txBody>
      </p:sp>
      <p:sp>
        <p:nvSpPr>
          <p:cNvPr id="1037" name="Badge"/>
          <p:cNvSpPr/>
          <p:nvPr/>
        </p:nvSpPr>
        <p:spPr>
          <a:xfrm>
            <a:off x="8275320" y="1810512"/>
            <a:ext cx="384048" cy="384048"/>
          </a:xfrm>
          <a:prstGeom prst="ellipse">
            <a:avLst/>
          </a:prstGeom>
          <a:solidFill>
            <a:srgbClr val="4C886C"/>
          </a:solidFill>
          <a:ln>
            <a:noFill/>
          </a:ln>
        </p:spPr>
        <p:txBody>
          <a:bodyPr wrap="square" lIns="0" tIns="0" rIns="0" bIns="0" rtlCol="0" anchor="ctr">
            <a:normAutofit/>
          </a:bodyPr>
          <a:lstStyle/>
          <a:p>
            <a:pPr algn="ctr">
              <a:spcBef>
                <a:spcPts val="0"/>
              </a:spcBef>
              <a:spcAft>
                <a:spcPts val="0"/>
              </a:spcAft>
              <a:buNone/>
            </a:pPr>
            <a:r>
              <a:rPr lang="en-US" sz="1600" b="1" i="0" dirty="0">
                <a:solidFill>
                  <a:srgbClr val="FFFFFF"/>
                </a:solidFill>
                <a:latin typeface="Calibri"/>
                <a:cs typeface="Calibri"/>
              </a:rPr>
              <a:t/>
            </a:r>
          </a:p>
        </p:txBody>
      </p:sp>
      <p:sp>
        <p:nvSpPr>
          <p:cNvPr id="1038" name="Card"/>
          <p:cNvSpPr/>
          <p:nvPr/>
        </p:nvSpPr>
        <p:spPr>
          <a:xfrm>
            <a:off x="502920" y="5303520"/>
            <a:ext cx="11155680" cy="868680"/>
          </a:xfrm>
          <a:prstGeom prst="roundRect">
            <a:avLst>
              <a:gd name="adj" fmla="val 3000"/>
            </a:avLst>
          </a:prstGeom>
          <a:solidFill>
            <a:srgbClr val="EEF3F8">
              <a:alpha val="96000"/>
            </a:srgbClr>
          </a:solidFill>
          <a:ln>
            <a:noFill/>
          </a:ln>
        </p:spPr>
        <p:txBody>
          <a:bodyPr wrap="square" lIns="164592" tIns="128016" rIns="164592" bIns="109728" rtlCol="0" anchor="ctr">
            <a:normAutofit/>
          </a:bodyPr>
          <a:lstStyle/>
          <a:p>
            <a:pPr algn="l">
              <a:spcBef>
                <a:spcPts val="0"/>
              </a:spcBef>
              <a:spcAft>
                <a:spcPts val="0"/>
              </a:spcAft>
              <a:buNone/>
            </a:pPr>
            <a:r>
              <a:rPr lang="en-US" sz="1400" b="1" i="0" dirty="0">
                <a:solidFill>
                  <a:srgbClr val="193F61"/>
                </a:solidFill>
                <a:latin typeface="Calibri"/>
                <a:cs typeface="Calibri"/>
              </a:rPr>
              <a:t xml:space="preserve">Gap addressed: </a:t>
            </a:r>
            <a:r>
              <a:rPr lang="en-US" sz="1350" b="0" i="0" dirty="0">
                <a:solidFill>
                  <a:srgbClr val="1F2A37"/>
                </a:solidFill>
                <a:latin typeface="Calibri"/>
                <a:cs typeface="Calibri"/>
              </a:rPr>
              <a:t>investment decisions are where an owner endorses a purpose, provides capital or considers purchasing an output, each with different consequences for the company's business case. Most studies stop at objectives; we follow expenditure, income and obligations.</a:t>
            </a:r>
          </a:p>
        </p:txBody>
      </p:sp>
    </p:spTree>
    <p:extLst>
      <p:ext uri="{BB962C8B-B14F-4D97-AF65-F5344CB8AC3E}">
        <p14:creationId xmlns:p14="http://schemas.microsoft.com/office/powerpoint/2010/main" val="382855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039"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Research design: three arrangements, fifteen documentary records</a:t>
            </a:r>
          </a:p>
        </p:txBody>
      </p:sp>
      <p:sp>
        <p:nvSpPr>
          <p:cNvPr id="1040" name="Card"/>
          <p:cNvSpPr/>
          <p:nvPr/>
        </p:nvSpPr>
        <p:spPr>
          <a:xfrm>
            <a:off x="502920" y="1965960"/>
            <a:ext cx="3566160" cy="182880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82880" rIns="182880" bIns="137160" rtlCol="0" anchor="t">
            <a:normAutofit/>
          </a:bodyPr>
          <a:lstStyle/>
          <a:p>
            <a:pPr algn="l">
              <a:spcBef>
                <a:spcPts val="0"/>
              </a:spcBef>
              <a:spcAft>
                <a:spcPts val="200"/>
              </a:spcAft>
              <a:buNone/>
            </a:pPr>
            <a:r>
              <a:rPr lang="en-US" sz="1450" b="1" i="0" dirty="0">
                <a:solidFill>
                  <a:srgbClr val="193F61"/>
                </a:solidFill>
                <a:latin typeface="Calibri"/>
                <a:cs typeface="Calibri"/>
              </a:rPr>
              <a:t>Helsinki · Helen Oy</a:t>
            </a:r>
          </a:p>
          <a:p>
            <a:pPr algn="l">
              <a:spcBef>
                <a:spcPts val="0"/>
              </a:spcBef>
              <a:spcAft>
                <a:spcPts val="600"/>
              </a:spcAft>
              <a:buNone/>
            </a:pPr>
            <a:r>
              <a:rPr lang="en-US" sz="1150" b="0" i="1" dirty="0">
                <a:solidFill>
                  <a:srgbClr val="5A6B7C"/>
                </a:solidFill>
                <a:latin typeface="Calibri"/>
                <a:cs typeface="Calibri"/>
              </a:rPr>
              <a:t>District heat and power</a:t>
            </a:r>
          </a:p>
          <a:p>
            <a:pPr algn="l">
              <a:spcBef>
                <a:spcPts val="0"/>
              </a:spcBef>
              <a:spcAft>
                <a:spcPts val="0"/>
              </a:spcAft>
              <a:buNone/>
            </a:pPr>
            <a:r>
              <a:rPr lang="en-US" sz="1250" b="0" i="0" dirty="0">
                <a:solidFill>
                  <a:srgbClr val="1F2A37"/>
                </a:solidFill>
                <a:latin typeface="Calibri"/>
                <a:cs typeface="Calibri"/>
              </a:rPr>
              <a:t>City-owned company incorporated 2015 (Act 626/2013). Single owner; council and board decisions on production pathway and capital.</a:t>
            </a:r>
          </a:p>
        </p:txBody>
      </p:sp>
      <p:sp>
        <p:nvSpPr>
          <p:cNvPr id="1041" name="Badge"/>
          <p:cNvSpPr/>
          <p:nvPr/>
        </p:nvSpPr>
        <p:spPr>
          <a:xfrm>
            <a:off x="3383280" y="2103120"/>
            <a:ext cx="502920" cy="502920"/>
          </a:xfrm>
          <a:prstGeom prst="ellipse">
            <a:avLst/>
          </a:prstGeom>
          <a:solidFill>
            <a:srgbClr val="193F61"/>
          </a:solidFill>
          <a:ln>
            <a:noFill/>
          </a:ln>
        </p:spPr>
        <p:txBody>
          <a:bodyPr wrap="square" lIns="0" tIns="0" rIns="0" bIns="0" rtlCol="0" anchor="ctr">
            <a:normAutofit/>
          </a:bodyPr>
          <a:lstStyle/>
          <a:p>
            <a:pPr algn="ctr">
              <a:spcBef>
                <a:spcPts val="0"/>
              </a:spcBef>
              <a:spcAft>
                <a:spcPts val="0"/>
              </a:spcAft>
              <a:buNone/>
            </a:pPr>
            <a:r>
              <a:rPr lang="en-US" sz="1800" b="1" i="0" dirty="0">
                <a:solidFill>
                  <a:srgbClr val="FFFFFF"/>
                </a:solidFill>
                <a:latin typeface="Calibri"/>
                <a:cs typeface="Calibri"/>
              </a:rPr>
              <a:t>H</a:t>
            </a:r>
          </a:p>
        </p:txBody>
      </p:sp>
      <p:sp>
        <p:nvSpPr>
          <p:cNvPr id="1042" name="Card"/>
          <p:cNvSpPr/>
          <p:nvPr/>
        </p:nvSpPr>
        <p:spPr>
          <a:xfrm>
            <a:off x="4297680" y="1965960"/>
            <a:ext cx="3566160" cy="182880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82880" rIns="182880" bIns="137160" rtlCol="0" anchor="t">
            <a:normAutofit/>
          </a:bodyPr>
          <a:lstStyle/>
          <a:p>
            <a:pPr algn="l">
              <a:spcBef>
                <a:spcPts val="0"/>
              </a:spcBef>
              <a:spcAft>
                <a:spcPts val="200"/>
              </a:spcAft>
              <a:buNone/>
            </a:pPr>
            <a:r>
              <a:rPr lang="en-US" sz="1450" b="1" i="0" dirty="0">
                <a:solidFill>
                  <a:srgbClr val="193F61"/>
                </a:solidFill>
                <a:latin typeface="Calibri"/>
                <a:cs typeface="Calibri"/>
              </a:rPr>
              <a:t>Aalborg · municipal heat group</a:t>
            </a:r>
          </a:p>
          <a:p>
            <a:pPr algn="l">
              <a:spcBef>
                <a:spcPts val="0"/>
              </a:spcBef>
              <a:spcAft>
                <a:spcPts val="600"/>
              </a:spcAft>
              <a:buNone/>
            </a:pPr>
            <a:r>
              <a:rPr lang="en-US" sz="1150" b="0" i="1" dirty="0">
                <a:solidFill>
                  <a:srgbClr val="5A6B7C"/>
                </a:solidFill>
                <a:latin typeface="Calibri"/>
                <a:cs typeface="Calibri"/>
              </a:rPr>
              <a:t>District heat</a:t>
            </a:r>
          </a:p>
          <a:p>
            <a:pPr algn="l">
              <a:spcBef>
                <a:spcPts val="0"/>
              </a:spcBef>
              <a:spcAft>
                <a:spcPts val="0"/>
              </a:spcAft>
              <a:buNone/>
            </a:pPr>
            <a:r>
              <a:rPr lang="en-US" sz="1250" b="0" i="0" dirty="0">
                <a:solidFill>
                  <a:srgbClr val="1F2A37"/>
                </a:solidFill>
                <a:latin typeface="Calibri"/>
                <a:cs typeface="Calibri"/>
              </a:rPr>
              <a:t>Aalborg Forsyning A/S group: Aalborg Varme A/S buys heat from Nordjyllandsværket A/S. Council guarantees; intra-group agreements.</a:t>
            </a:r>
          </a:p>
        </p:txBody>
      </p:sp>
      <p:sp>
        <p:nvSpPr>
          <p:cNvPr id="1043" name="Badge"/>
          <p:cNvSpPr/>
          <p:nvPr/>
        </p:nvSpPr>
        <p:spPr>
          <a:xfrm>
            <a:off x="7178040" y="2103120"/>
            <a:ext cx="502920" cy="502920"/>
          </a:xfrm>
          <a:prstGeom prst="ellipse">
            <a:avLst/>
          </a:prstGeom>
          <a:solidFill>
            <a:srgbClr val="129152"/>
          </a:solidFill>
          <a:ln>
            <a:noFill/>
          </a:ln>
        </p:spPr>
        <p:txBody>
          <a:bodyPr wrap="square" lIns="0" tIns="0" rIns="0" bIns="0" rtlCol="0" anchor="ctr">
            <a:normAutofit/>
          </a:bodyPr>
          <a:lstStyle/>
          <a:p>
            <a:pPr algn="ctr">
              <a:spcBef>
                <a:spcPts val="0"/>
              </a:spcBef>
              <a:spcAft>
                <a:spcPts val="0"/>
              </a:spcAft>
              <a:buNone/>
            </a:pPr>
            <a:r>
              <a:rPr lang="en-US" sz="1800" b="1" i="0" dirty="0">
                <a:solidFill>
                  <a:srgbClr val="FFFFFF"/>
                </a:solidFill>
                <a:latin typeface="Calibri"/>
                <a:cs typeface="Calibri"/>
              </a:rPr>
              <a:t>A</a:t>
            </a:r>
          </a:p>
        </p:txBody>
      </p:sp>
      <p:sp>
        <p:nvSpPr>
          <p:cNvPr id="1044" name="Card"/>
          <p:cNvSpPr/>
          <p:nvPr/>
        </p:nvSpPr>
        <p:spPr>
          <a:xfrm>
            <a:off x="8092440" y="1965960"/>
            <a:ext cx="3566160" cy="182880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82880" rIns="182880" bIns="137160" rtlCol="0" anchor="t">
            <a:normAutofit/>
          </a:bodyPr>
          <a:lstStyle/>
          <a:p>
            <a:pPr algn="l">
              <a:spcBef>
                <a:spcPts val="0"/>
              </a:spcBef>
              <a:spcAft>
                <a:spcPts val="200"/>
              </a:spcAft>
              <a:buNone/>
            </a:pPr>
            <a:r>
              <a:rPr lang="en-US" sz="1450" b="1" i="0" dirty="0">
                <a:solidFill>
                  <a:srgbClr val="193F61"/>
                </a:solidFill>
                <a:latin typeface="Calibri"/>
                <a:cs typeface="Calibri"/>
              </a:rPr>
              <a:t>Skåne · Sysav</a:t>
            </a:r>
          </a:p>
          <a:p>
            <a:pPr algn="l">
              <a:spcBef>
                <a:spcPts val="0"/>
              </a:spcBef>
              <a:spcAft>
                <a:spcPts val="600"/>
              </a:spcAft>
              <a:buNone/>
            </a:pPr>
            <a:r>
              <a:rPr lang="en-US" sz="1150" b="0" i="1" dirty="0">
                <a:solidFill>
                  <a:srgbClr val="5A6B7C"/>
                </a:solidFill>
                <a:latin typeface="Calibri"/>
                <a:cs typeface="Calibri"/>
              </a:rPr>
              <a:t>Waste treatment and resource recovery</a:t>
            </a:r>
          </a:p>
          <a:p>
            <a:pPr algn="l">
              <a:spcBef>
                <a:spcPts val="0"/>
              </a:spcBef>
              <a:spcAft>
                <a:spcPts val="0"/>
              </a:spcAft>
              <a:buNone/>
            </a:pPr>
            <a:r>
              <a:rPr lang="en-US" sz="1250" b="0" i="0" dirty="0">
                <a:solidFill>
                  <a:srgbClr val="1F2A37"/>
                </a:solidFill>
                <a:latin typeface="Calibri"/>
                <a:cs typeface="Calibri"/>
              </a:rPr>
              <a:t>Owned jointly by 14 municipalities since the 1970s. Malmö (45.98%) as the largest owner; subsidiary Sysav Industri AB.</a:t>
            </a:r>
          </a:p>
        </p:txBody>
      </p:sp>
      <p:sp>
        <p:nvSpPr>
          <p:cNvPr id="1045" name="Badge"/>
          <p:cNvSpPr/>
          <p:nvPr/>
        </p:nvSpPr>
        <p:spPr>
          <a:xfrm>
            <a:off x="10972800" y="2103120"/>
            <a:ext cx="502920" cy="502920"/>
          </a:xfrm>
          <a:prstGeom prst="ellipse">
            <a:avLst/>
          </a:prstGeom>
          <a:solidFill>
            <a:srgbClr val="EEBC37"/>
          </a:solidFill>
          <a:ln>
            <a:noFill/>
          </a:ln>
        </p:spPr>
        <p:txBody>
          <a:bodyPr wrap="square" lIns="0" tIns="0" rIns="0" bIns="0" rtlCol="0" anchor="ctr">
            <a:normAutofit/>
          </a:bodyPr>
          <a:lstStyle/>
          <a:p>
            <a:pPr algn="ctr">
              <a:spcBef>
                <a:spcPts val="0"/>
              </a:spcBef>
              <a:spcAft>
                <a:spcPts val="0"/>
              </a:spcAft>
              <a:buNone/>
            </a:pPr>
            <a:r>
              <a:rPr lang="en-US" sz="1800" b="1" i="0" dirty="0">
                <a:solidFill>
                  <a:srgbClr val="193F61"/>
                </a:solidFill>
                <a:latin typeface="Calibri"/>
                <a:cs typeface="Calibri"/>
              </a:rPr>
              <a:t>S</a:t>
            </a:r>
          </a:p>
        </p:txBody>
      </p:sp>
      <p:sp>
        <p:nvSpPr>
          <p:cNvPr id="1046" name="Card"/>
          <p:cNvSpPr/>
          <p:nvPr/>
        </p:nvSpPr>
        <p:spPr>
          <a:xfrm>
            <a:off x="502920" y="4023360"/>
            <a:ext cx="5486400" cy="219456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28016" rIns="182880" bIns="91440" rtlCol="0" anchor="t">
            <a:normAutofit/>
          </a:bodyPr>
          <a:lstStyle/>
          <a:p>
            <a:pPr algn="l">
              <a:spcBef>
                <a:spcPts val="0"/>
              </a:spcBef>
              <a:spcAft>
                <a:spcPts val="400"/>
              </a:spcAft>
              <a:buNone/>
            </a:pPr>
            <a:r>
              <a:rPr lang="en-US" sz="1400" b="1" i="0" dirty="0">
                <a:solidFill>
                  <a:srgbClr val="4C886C"/>
                </a:solidFill>
                <a:latin typeface="Calibri"/>
                <a:cs typeface="Calibri"/>
              </a:rPr>
              <a:t>Case logic</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Exploratory, purposive comparison (Seawright &amp; Gerring 2008); not national models, not an isolated ownership effect.</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Case = the municipal service arrangement; observation = a documented investment decision sequence.</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Started from three substantive expectations (Finnish earnings and green investment, Aalborg mayoral leadership, Sysav's long cooperation) and kept the records that qualify them.</a:t>
            </a:r>
          </a:p>
        </p:txBody>
      </p:sp>
      <p:sp>
        <p:nvSpPr>
          <p:cNvPr id="1047" name="Card"/>
          <p:cNvSpPr/>
          <p:nvPr/>
        </p:nvSpPr>
        <p:spPr>
          <a:xfrm>
            <a:off x="6172200" y="4023360"/>
            <a:ext cx="5486400" cy="219456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28016" rIns="182880" bIns="91440" rtlCol="0" anchor="t">
            <a:normAutofit/>
          </a:bodyPr>
          <a:lstStyle/>
          <a:p>
            <a:pPr algn="l">
              <a:spcBef>
                <a:spcPts val="0"/>
              </a:spcBef>
              <a:spcAft>
                <a:spcPts val="400"/>
              </a:spcAft>
              <a:buNone/>
            </a:pPr>
            <a:r>
              <a:rPr lang="en-US" sz="1400" b="1" i="0" dirty="0">
                <a:solidFill>
                  <a:srgbClr val="4C886C"/>
                </a:solidFill>
                <a:latin typeface="Calibri"/>
                <a:cs typeface="Calibri"/>
              </a:rPr>
              <a:t>Documents and procedure</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15 records (H1–H5, A1–A6, S1–S4): council minutes, annual reports, agreements, regulator guidance, CJEU material, press; Finnish, Danish and Swedish read in the original.</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Document analysis after Bowen (2009): authorship, purpose, proximity to the decision.</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Per episode: purposes invoked, economic assessment, action taken, actor and authority. Financing evidence and cost-recovery evidence read separately; a blank is a limit of the record, not proof of inaction.</a:t>
            </a:r>
          </a:p>
        </p:txBody>
      </p:sp>
    </p:spTree>
    <p:extLst>
      <p:ext uri="{BB962C8B-B14F-4D97-AF65-F5344CB8AC3E}">
        <p14:creationId xmlns:p14="http://schemas.microsoft.com/office/powerpoint/2010/main" val="382855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048"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Helsinki: political objective survives an adverse appraisal</a:t>
            </a:r>
          </a:p>
        </p:txBody>
      </p:sp>
      <p:sp>
        <p:nvSpPr>
          <p:cNvPr id="1049" name="Subtitle"/>
          <p:cNvSpPr txBox="1"/>
          <p:nvPr/>
        </p:nvSpPr>
        <p:spPr>
          <a:xfrm>
            <a:off x="502920" y="1783080"/>
            <a:ext cx="11155680" cy="365760"/>
          </a:xfrm>
          <a:prstGeom prst="rect">
            <a:avLst/>
          </a:prstGeom>
          <a:noFill/>
          <a:ln>
            <a:noFill/>
          </a:ln>
        </p:spPr>
        <p:txBody>
          <a:bodyPr wrap="square" lIns="0" tIns="0" rIns="0" bIns="0" rtlCol="0" anchor="t">
            <a:normAutofit/>
          </a:bodyPr>
          <a:lstStyle/>
          <a:p>
            <a:pPr algn="l">
              <a:spcBef>
                <a:spcPts val="0"/>
              </a:spcBef>
              <a:spcAft>
                <a:spcPts val="0"/>
              </a:spcAft>
              <a:buNone/>
            </a:pPr>
            <a:r>
              <a:rPr lang="en-US" sz="1400" b="0" i="1" dirty="0">
                <a:solidFill>
                  <a:srgbClr val="5A6B7C"/>
                </a:solidFill>
                <a:latin typeface="Calibri"/>
                <a:cs typeface="Calibri"/>
              </a:rPr>
              <a:t>Helen Oy, decentralised heat pathway and coal closures (records H1–H5)</a:t>
            </a:r>
          </a:p>
        </p:txBody>
      </p:sp>
      <p:sp>
        <p:nvSpPr>
          <p:cNvPr id="1050" name="Badge"/>
          <p:cNvSpPr/>
          <p:nvPr/>
        </p:nvSpPr>
        <p:spPr>
          <a:xfrm>
            <a:off x="11155680" y="1188720"/>
            <a:ext cx="502920" cy="502920"/>
          </a:xfrm>
          <a:prstGeom prst="ellipse">
            <a:avLst/>
          </a:prstGeom>
          <a:solidFill>
            <a:srgbClr val="193F61"/>
          </a:solidFill>
          <a:ln>
            <a:noFill/>
          </a:ln>
        </p:spPr>
        <p:txBody>
          <a:bodyPr wrap="square" lIns="0" tIns="0" rIns="0" bIns="0" rtlCol="0" anchor="ctr">
            <a:normAutofit/>
          </a:bodyPr>
          <a:lstStyle/>
          <a:p>
            <a:pPr algn="ctr">
              <a:spcBef>
                <a:spcPts val="0"/>
              </a:spcBef>
              <a:spcAft>
                <a:spcPts val="0"/>
              </a:spcAft>
              <a:buNone/>
            </a:pPr>
            <a:r>
              <a:rPr lang="en-US" sz="1800" b="1" i="0" dirty="0">
                <a:solidFill>
                  <a:srgbClr val="FFFFFF"/>
                </a:solidFill>
                <a:latin typeface="Calibri"/>
                <a:cs typeface="Calibri"/>
              </a:rPr>
              <a:t>H</a:t>
            </a:r>
          </a:p>
        </p:txBody>
      </p:sp>
      <p:sp>
        <p:nvSpPr>
          <p:cNvPr id="1051" name="Timeline"/>
          <p:cNvSpPr/>
          <p:nvPr/>
        </p:nvSpPr>
        <p:spPr>
          <a:xfrm>
            <a:off x="502920" y="2743200"/>
            <a:ext cx="11155680" cy="36576"/>
          </a:xfrm>
          <a:prstGeom prst="rect">
            <a:avLst/>
          </a:prstGeom>
          <a:solidFill>
            <a:srgbClr val="ADC1D8"/>
          </a:solidFill>
          <a:ln>
            <a:noFill/>
          </a:ln>
        </p:spPr>
        <p:txBody>
          <a:bodyPr wrap="square" lIns="91440" tIns="54864" rIns="91440" bIns="54864" rtlCol="0" anchor="t">
            <a:normAutofit/>
          </a:bodyPr>
          <a:lstStyle/>
          <a:p>
            <a:endParaRPr lang="en-US"/>
          </a:p>
        </p:txBody>
      </p:sp>
      <p:sp>
        <p:nvSpPr>
          <p:cNvPr id="1052" name="Dot 0"/>
          <p:cNvSpPr/>
          <p:nvPr/>
        </p:nvSpPr>
        <p:spPr>
          <a:xfrm>
            <a:off x="1517904" y="2660904"/>
            <a:ext cx="201168" cy="201168"/>
          </a:xfrm>
          <a:prstGeom prst="ellipse">
            <a:avLst/>
          </a:prstGeom>
          <a:solidFill>
            <a:srgbClr val="193F61"/>
          </a:solidFill>
          <a:ln w="19050">
            <a:solidFill>
              <a:srgbClr val="FFFFFF"/>
            </a:solidFill>
          </a:ln>
        </p:spPr>
        <p:txBody>
          <a:bodyPr wrap="square" lIns="91440" tIns="54864" rIns="91440" bIns="54864" rtlCol="0" anchor="t">
            <a:normAutofit/>
          </a:bodyPr>
          <a:lstStyle/>
          <a:p>
            <a:endParaRPr lang="en-US"/>
          </a:p>
        </p:txBody>
      </p:sp>
      <p:sp>
        <p:nvSpPr>
          <p:cNvPr id="1053" name="Date 0"/>
          <p:cNvSpPr txBox="1"/>
          <p:nvPr/>
        </p:nvSpPr>
        <p:spPr>
          <a:xfrm>
            <a:off x="548640" y="2176272"/>
            <a:ext cx="2139696"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93F61"/>
                </a:solidFill>
                <a:latin typeface="Calibri"/>
                <a:cs typeface="Calibri"/>
              </a:rPr>
              <a:t>Jun 2014</a:t>
            </a:r>
          </a:p>
        </p:txBody>
      </p:sp>
      <p:sp>
        <p:nvSpPr>
          <p:cNvPr id="1054" name="Event 0"/>
          <p:cNvSpPr txBox="1"/>
          <p:nvPr/>
        </p:nvSpPr>
        <p:spPr>
          <a:xfrm>
            <a:off x="548640" y="2926080"/>
            <a:ext cx="2139696"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Council incorporates Helen; capital plan targets ≥50% equity through the 2016–2021 investment peak</a:t>
            </a:r>
          </a:p>
        </p:txBody>
      </p:sp>
      <p:sp>
        <p:nvSpPr>
          <p:cNvPr id="1055" name="Dot 1"/>
          <p:cNvSpPr/>
          <p:nvPr/>
        </p:nvSpPr>
        <p:spPr>
          <a:xfrm>
            <a:off x="3749040" y="2660904"/>
            <a:ext cx="201168" cy="201168"/>
          </a:xfrm>
          <a:prstGeom prst="ellipse">
            <a:avLst/>
          </a:prstGeom>
          <a:solidFill>
            <a:srgbClr val="193F61"/>
          </a:solidFill>
          <a:ln w="19050">
            <a:solidFill>
              <a:srgbClr val="FFFFFF"/>
            </a:solidFill>
          </a:ln>
        </p:spPr>
        <p:txBody>
          <a:bodyPr wrap="square" lIns="91440" tIns="54864" rIns="91440" bIns="54864" rtlCol="0" anchor="t">
            <a:normAutofit/>
          </a:bodyPr>
          <a:lstStyle/>
          <a:p>
            <a:endParaRPr lang="en-US"/>
          </a:p>
        </p:txBody>
      </p:sp>
      <p:sp>
        <p:nvSpPr>
          <p:cNvPr id="1056" name="Date 1"/>
          <p:cNvSpPr txBox="1"/>
          <p:nvPr/>
        </p:nvSpPr>
        <p:spPr>
          <a:xfrm>
            <a:off x="2779776" y="2176272"/>
            <a:ext cx="2139696"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93F61"/>
                </a:solidFill>
                <a:latin typeface="Calibri"/>
                <a:cs typeface="Calibri"/>
              </a:rPr>
              <a:t>2 Dec 2015</a:t>
            </a:r>
          </a:p>
        </p:txBody>
      </p:sp>
      <p:sp>
        <p:nvSpPr>
          <p:cNvPr id="1057" name="Event 1"/>
          <p:cNvSpPr txBox="1"/>
          <p:nvPr/>
        </p:nvSpPr>
        <p:spPr>
          <a:xfrm>
            <a:off x="2779776" y="2926080"/>
            <a:ext cx="2139696"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Council selects decentralised production (EUR 360m) over new CHP (EUR 960m) and Hanasaari closure</a:t>
            </a:r>
          </a:p>
        </p:txBody>
      </p:sp>
      <p:sp>
        <p:nvSpPr>
          <p:cNvPr id="1058" name="Dot 2"/>
          <p:cNvSpPr/>
          <p:nvPr/>
        </p:nvSpPr>
        <p:spPr>
          <a:xfrm>
            <a:off x="5980176" y="2660904"/>
            <a:ext cx="201168" cy="201168"/>
          </a:xfrm>
          <a:prstGeom prst="ellipse">
            <a:avLst/>
          </a:prstGeom>
          <a:solidFill>
            <a:srgbClr val="193F61"/>
          </a:solidFill>
          <a:ln w="19050">
            <a:solidFill>
              <a:srgbClr val="FFFFFF"/>
            </a:solidFill>
          </a:ln>
        </p:spPr>
        <p:txBody>
          <a:bodyPr wrap="square" lIns="91440" tIns="54864" rIns="91440" bIns="54864" rtlCol="0" anchor="t">
            <a:normAutofit/>
          </a:bodyPr>
          <a:lstStyle/>
          <a:p>
            <a:endParaRPr lang="en-US"/>
          </a:p>
        </p:txBody>
      </p:sp>
      <p:sp>
        <p:nvSpPr>
          <p:cNvPr id="1059" name="Date 2"/>
          <p:cNvSpPr txBox="1"/>
          <p:nvPr/>
        </p:nvSpPr>
        <p:spPr>
          <a:xfrm>
            <a:off x="5010912" y="2176272"/>
            <a:ext cx="2139696"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93F61"/>
                </a:solidFill>
                <a:latin typeface="Calibri"/>
                <a:cs typeface="Calibri"/>
              </a:rPr>
              <a:t>1 Apr 2023</a:t>
            </a:r>
          </a:p>
        </p:txBody>
      </p:sp>
      <p:sp>
        <p:nvSpPr>
          <p:cNvPr id="1060" name="Event 2"/>
          <p:cNvSpPr txBox="1"/>
          <p:nvPr/>
        </p:nvSpPr>
        <p:spPr>
          <a:xfrm>
            <a:off x="5010912" y="2926080"/>
            <a:ext cx="2139696"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Hanasaari B closed, after replacement heat capacity was secured</a:t>
            </a:r>
          </a:p>
        </p:txBody>
      </p:sp>
      <p:sp>
        <p:nvSpPr>
          <p:cNvPr id="1061" name="Dot 3"/>
          <p:cNvSpPr/>
          <p:nvPr/>
        </p:nvSpPr>
        <p:spPr>
          <a:xfrm>
            <a:off x="8211312" y="2660904"/>
            <a:ext cx="201168" cy="201168"/>
          </a:xfrm>
          <a:prstGeom prst="ellipse">
            <a:avLst/>
          </a:prstGeom>
          <a:solidFill>
            <a:srgbClr val="193F61"/>
          </a:solidFill>
          <a:ln w="19050">
            <a:solidFill>
              <a:srgbClr val="FFFFFF"/>
            </a:solidFill>
          </a:ln>
        </p:spPr>
        <p:txBody>
          <a:bodyPr wrap="square" lIns="91440" tIns="54864" rIns="91440" bIns="54864" rtlCol="0" anchor="t">
            <a:normAutofit/>
          </a:bodyPr>
          <a:lstStyle/>
          <a:p>
            <a:endParaRPr lang="en-US"/>
          </a:p>
        </p:txBody>
      </p:sp>
      <p:sp>
        <p:nvSpPr>
          <p:cNvPr id="1062" name="Date 3"/>
          <p:cNvSpPr txBox="1"/>
          <p:nvPr/>
        </p:nvSpPr>
        <p:spPr>
          <a:xfrm>
            <a:off x="7242048" y="2176272"/>
            <a:ext cx="2139696"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93F61"/>
                </a:solidFill>
                <a:latin typeface="Calibri"/>
                <a:cs typeface="Calibri"/>
              </a:rPr>
              <a:t>Apr 2025</a:t>
            </a:r>
          </a:p>
        </p:txBody>
      </p:sp>
      <p:sp>
        <p:nvSpPr>
          <p:cNvPr id="1063" name="Event 3"/>
          <p:cNvSpPr txBox="1"/>
          <p:nvPr/>
        </p:nvSpPr>
        <p:spPr>
          <a:xfrm>
            <a:off x="7242048" y="2926080"/>
            <a:ext cx="2139696"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Salmisaari, the last coal plant, closed; national coal ban from May 2029</a:t>
            </a:r>
          </a:p>
        </p:txBody>
      </p:sp>
      <p:sp>
        <p:nvSpPr>
          <p:cNvPr id="1064" name="Dot 4"/>
          <p:cNvSpPr/>
          <p:nvPr/>
        </p:nvSpPr>
        <p:spPr>
          <a:xfrm>
            <a:off x="10442448" y="2660904"/>
            <a:ext cx="201168" cy="201168"/>
          </a:xfrm>
          <a:prstGeom prst="ellipse">
            <a:avLst/>
          </a:prstGeom>
          <a:solidFill>
            <a:srgbClr val="193F61"/>
          </a:solidFill>
          <a:ln w="19050">
            <a:solidFill>
              <a:srgbClr val="FFFFFF"/>
            </a:solidFill>
          </a:ln>
        </p:spPr>
        <p:txBody>
          <a:bodyPr wrap="square" lIns="91440" tIns="54864" rIns="91440" bIns="54864" rtlCol="0" anchor="t">
            <a:normAutofit/>
          </a:bodyPr>
          <a:lstStyle/>
          <a:p>
            <a:endParaRPr lang="en-US"/>
          </a:p>
        </p:txBody>
      </p:sp>
      <p:sp>
        <p:nvSpPr>
          <p:cNvPr id="1065" name="Date 4"/>
          <p:cNvSpPr txBox="1"/>
          <p:nvPr/>
        </p:nvSpPr>
        <p:spPr>
          <a:xfrm>
            <a:off x="9473184" y="2176272"/>
            <a:ext cx="2139696"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93F61"/>
                </a:solidFill>
                <a:latin typeface="Calibri"/>
                <a:cs typeface="Calibri"/>
              </a:rPr>
              <a:t>2025 accounts</a:t>
            </a:r>
          </a:p>
        </p:txBody>
      </p:sp>
      <p:sp>
        <p:nvSpPr>
          <p:cNvPr id="1066" name="Event 4"/>
          <p:cNvSpPr txBox="1"/>
          <p:nvPr/>
        </p:nvSpPr>
        <p:spPr>
          <a:xfrm>
            <a:off x="9473184" y="2926080"/>
            <a:ext cx="2139696"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Fuel purchases EUR 336m → 216m; allowance costs EUR 78m → 25m (Helen 2026)</a:t>
            </a:r>
          </a:p>
        </p:txBody>
      </p:sp>
      <p:sp>
        <p:nvSpPr>
          <p:cNvPr id="1067" name="Card"/>
          <p:cNvSpPr/>
          <p:nvPr/>
        </p:nvSpPr>
        <p:spPr>
          <a:xfrm>
            <a:off x="502920" y="4114800"/>
            <a:ext cx="5852160" cy="21031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28016" rIns="182880" bIns="91440" rtlCol="0" anchor="t">
            <a:normAutofit/>
          </a:bodyPr>
          <a:lstStyle/>
          <a:p>
            <a:pPr algn="l">
              <a:spcBef>
                <a:spcPts val="0"/>
              </a:spcBef>
              <a:spcAft>
                <a:spcPts val="400"/>
              </a:spcAft>
              <a:buNone/>
            </a:pPr>
            <a:r>
              <a:rPr lang="en-US" sz="1400" b="1" i="0" dirty="0">
                <a:solidFill>
                  <a:srgbClr val="193F61"/>
                </a:solidFill>
                <a:latin typeface="Calibri"/>
                <a:cs typeface="Calibri"/>
              </a:rPr>
              <a:t>What the records show</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Board judged every option unattractive on purely commercial grounds; if the city acted for climate or land use, it preferred the less burdensome staged pathway.</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Capitalisation and plant selection were separate decisions: capital prepared first, pathway chosen later under uncertainty.</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Cost recovery tied to municipal finances through limits on heat-price rises and lower expected distributions; Consumer Ombudsman intervened on pricing (KKV 2022).</a:t>
            </a:r>
          </a:p>
        </p:txBody>
      </p:sp>
      <p:sp>
        <p:nvSpPr>
          <p:cNvPr id="1068" name="Card"/>
          <p:cNvSpPr/>
          <p:nvPr/>
        </p:nvSpPr>
        <p:spPr>
          <a:xfrm>
            <a:off x="6537960" y="4114800"/>
            <a:ext cx="5120640" cy="2103120"/>
          </a:xfrm>
          <a:prstGeom prst="roundRect">
            <a:avLst>
              <a:gd name="adj" fmla="val 3000"/>
            </a:avLst>
          </a:prstGeom>
          <a:solidFill>
            <a:srgbClr val="EEF3F8">
              <a:alpha val="96000"/>
            </a:srgbClr>
          </a:solidFill>
          <a:ln>
            <a:noFill/>
          </a:ln>
          <a:effectLst>
            <a:outerShdw blurRad="63500" dist="25400" dir="5400000" algn="t" rotWithShape="0">
              <a:srgbClr val="193F61">
                <a:alpha val="18000"/>
              </a:srgbClr>
            </a:outerShdw>
          </a:effectLst>
        </p:spPr>
        <p:txBody>
          <a:bodyPr wrap="square" lIns="182880" tIns="128016" rIns="182880" bIns="91440" rtlCol="0" anchor="t">
            <a:normAutofit/>
          </a:bodyPr>
          <a:lstStyle/>
          <a:p>
            <a:pPr algn="l">
              <a:spcBef>
                <a:spcPts val="0"/>
              </a:spcBef>
              <a:spcAft>
                <a:spcPts val="400"/>
              </a:spcAft>
              <a:buNone/>
            </a:pPr>
            <a:r>
              <a:rPr lang="en-US" sz="1400" b="1" i="0" dirty="0">
                <a:solidFill>
                  <a:srgbClr val="129152"/>
                </a:solidFill>
                <a:latin typeface="Calibri"/>
                <a:cs typeface="Calibri"/>
              </a:rPr>
              <a:t>Reading</a:t>
            </a:r>
          </a:p>
          <a:p>
            <a:pPr algn="l">
              <a:spcBef>
                <a:spcPts val="0"/>
              </a:spcBef>
              <a:spcAft>
                <a:spcPts val="600"/>
              </a:spcAft>
              <a:buNone/>
            </a:pPr>
            <a:r>
              <a:rPr lang="en-US" sz="1300" b="0" i="0" dirty="0">
                <a:solidFill>
                  <a:srgbClr val="1F2A37"/>
                </a:solidFill>
                <a:latin typeface="Calibri"/>
                <a:cs typeface="Calibri"/>
              </a:rPr>
              <a:t xml:space="preserve">A politically authorised </a:t>
            </a:r>
            <a:r>
              <a:rPr lang="en-US" sz="1300" b="1" i="0" dirty="0">
                <a:solidFill>
                  <a:srgbClr val="193F61"/>
                </a:solidFill>
                <a:latin typeface="Calibri"/>
                <a:cs typeface="Calibri"/>
              </a:rPr>
              <a:t>modification of the pathway</a:t>
            </a:r>
            <a:r>
              <a:rPr lang="en-US" sz="1300" b="0" i="0" dirty="0">
                <a:solidFill>
                  <a:srgbClr val="1F2A37"/>
                </a:solidFill>
                <a:latin typeface="Calibri"/>
                <a:cs typeface="Calibri"/>
              </a:rPr>
              <a:t xml:space="preserve"> through which public purposes would be pursued, incorporating the board's conditional preference.</a:t>
            </a:r>
          </a:p>
          <a:p>
            <a:pPr algn="l">
              <a:spcBef>
                <a:spcPts val="0"/>
              </a:spcBef>
              <a:spcAft>
                <a:spcPts val="0"/>
              </a:spcAft>
              <a:buNone/>
            </a:pPr>
            <a:r>
              <a:rPr lang="en-US" sz="1300" b="0" i="0" dirty="0">
                <a:solidFill>
                  <a:srgbClr val="1F2A37"/>
                </a:solidFill>
                <a:latin typeface="Calibri"/>
                <a:cs typeface="Calibri"/>
              </a:rPr>
              <a:t xml:space="preserve">The 2025 profitability is a </a:t>
            </a:r>
            <a:r>
              <a:rPr lang="en-US" sz="1300" b="1" i="0" dirty="0">
                <a:solidFill>
                  <a:srgbClr val="193F61"/>
                </a:solidFill>
                <a:latin typeface="Calibri"/>
                <a:cs typeface="Calibri"/>
              </a:rPr>
              <a:t>separate observation</a:t>
            </a:r>
            <a:r>
              <a:rPr lang="en-US" sz="1300" b="0" i="0" dirty="0">
                <a:solidFill>
                  <a:srgbClr val="1F2A37"/>
                </a:solidFill>
                <a:latin typeface="Calibri"/>
                <a:cs typeface="Calibri"/>
              </a:rPr>
              <a:t>: the accounts do not isolate the return on the 2015 choice from price movements.</a:t>
            </a:r>
          </a:p>
        </p:txBody>
      </p:sp>
    </p:spTree>
    <p:extLst>
      <p:ext uri="{BB962C8B-B14F-4D97-AF65-F5344CB8AC3E}">
        <p14:creationId xmlns:p14="http://schemas.microsoft.com/office/powerpoint/2010/main" val="382855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069"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Aalborg: who pays is settled by contract inside the municipal group</a:t>
            </a:r>
          </a:p>
        </p:txBody>
      </p:sp>
      <p:sp>
        <p:nvSpPr>
          <p:cNvPr id="1070" name="Subtitle"/>
          <p:cNvSpPr txBox="1"/>
          <p:nvPr/>
        </p:nvSpPr>
        <p:spPr>
          <a:xfrm>
            <a:off x="502920" y="1783080"/>
            <a:ext cx="11155680" cy="365760"/>
          </a:xfrm>
          <a:prstGeom prst="rect">
            <a:avLst/>
          </a:prstGeom>
          <a:noFill/>
          <a:ln>
            <a:noFill/>
          </a:ln>
        </p:spPr>
        <p:txBody>
          <a:bodyPr wrap="square" lIns="0" tIns="0" rIns="0" bIns="0" rtlCol="0" anchor="t">
            <a:normAutofit/>
          </a:bodyPr>
          <a:lstStyle/>
          <a:p>
            <a:pPr algn="l">
              <a:spcBef>
                <a:spcPts val="0"/>
              </a:spcBef>
              <a:spcAft>
                <a:spcPts val="0"/>
              </a:spcAft>
              <a:buNone/>
            </a:pPr>
            <a:r>
              <a:rPr lang="en-US" sz="1400" b="0" i="1" dirty="0">
                <a:solidFill>
                  <a:srgbClr val="5A6B7C"/>
                </a:solidFill>
                <a:latin typeface="Calibri"/>
                <a:cs typeface="Calibri"/>
              </a:rPr>
              <a:t>Aalborg Forsyning group, boiler agreement, network guarantee and the Vest heat pump (records A1–A6)</a:t>
            </a:r>
          </a:p>
        </p:txBody>
      </p:sp>
      <p:sp>
        <p:nvSpPr>
          <p:cNvPr id="1071" name="Badge"/>
          <p:cNvSpPr/>
          <p:nvPr/>
        </p:nvSpPr>
        <p:spPr>
          <a:xfrm>
            <a:off x="11155680" y="1188720"/>
            <a:ext cx="502920" cy="502920"/>
          </a:xfrm>
          <a:prstGeom prst="ellipse">
            <a:avLst/>
          </a:prstGeom>
          <a:solidFill>
            <a:srgbClr val="129152"/>
          </a:solidFill>
          <a:ln>
            <a:noFill/>
          </a:ln>
        </p:spPr>
        <p:txBody>
          <a:bodyPr wrap="square" lIns="0" tIns="0" rIns="0" bIns="0" rtlCol="0" anchor="ctr">
            <a:normAutofit/>
          </a:bodyPr>
          <a:lstStyle/>
          <a:p>
            <a:pPr algn="ctr">
              <a:spcBef>
                <a:spcPts val="0"/>
              </a:spcBef>
              <a:spcAft>
                <a:spcPts val="0"/>
              </a:spcAft>
              <a:buNone/>
            </a:pPr>
            <a:r>
              <a:rPr lang="en-US" sz="1800" b="1" i="0" dirty="0">
                <a:solidFill>
                  <a:srgbClr val="FFFFFF"/>
                </a:solidFill>
                <a:latin typeface="Calibri"/>
                <a:cs typeface="Calibri"/>
              </a:rPr>
              <a:t>A</a:t>
            </a:r>
          </a:p>
        </p:txBody>
      </p:sp>
      <p:sp>
        <p:nvSpPr>
          <p:cNvPr id="1072" name="Timeline"/>
          <p:cNvSpPr/>
          <p:nvPr/>
        </p:nvSpPr>
        <p:spPr>
          <a:xfrm>
            <a:off x="502920" y="2743200"/>
            <a:ext cx="11155680" cy="36576"/>
          </a:xfrm>
          <a:prstGeom prst="rect">
            <a:avLst/>
          </a:prstGeom>
          <a:solidFill>
            <a:srgbClr val="ADC1D8"/>
          </a:solidFill>
          <a:ln>
            <a:noFill/>
          </a:ln>
        </p:spPr>
        <p:txBody>
          <a:bodyPr wrap="square" lIns="91440" tIns="54864" rIns="91440" bIns="54864" rtlCol="0" anchor="t">
            <a:normAutofit/>
          </a:bodyPr>
          <a:lstStyle/>
          <a:p>
            <a:endParaRPr lang="en-US"/>
          </a:p>
        </p:txBody>
      </p:sp>
      <p:sp>
        <p:nvSpPr>
          <p:cNvPr id="1073" name="Dot 0"/>
          <p:cNvSpPr/>
          <p:nvPr/>
        </p:nvSpPr>
        <p:spPr>
          <a:xfrm>
            <a:off x="1331976" y="2660904"/>
            <a:ext cx="201168" cy="201168"/>
          </a:xfrm>
          <a:prstGeom prst="ellipse">
            <a:avLst/>
          </a:prstGeom>
          <a:solidFill>
            <a:srgbClr val="129152"/>
          </a:solidFill>
          <a:ln w="19050">
            <a:solidFill>
              <a:srgbClr val="FFFFFF"/>
            </a:solidFill>
          </a:ln>
        </p:spPr>
        <p:txBody>
          <a:bodyPr wrap="square" lIns="91440" tIns="54864" rIns="91440" bIns="54864" rtlCol="0" anchor="t">
            <a:normAutofit/>
          </a:bodyPr>
          <a:lstStyle/>
          <a:p>
            <a:endParaRPr lang="en-US"/>
          </a:p>
        </p:txBody>
      </p:sp>
      <p:sp>
        <p:nvSpPr>
          <p:cNvPr id="1074" name="Date 0"/>
          <p:cNvSpPr txBox="1"/>
          <p:nvPr/>
        </p:nvSpPr>
        <p:spPr>
          <a:xfrm>
            <a:off x="54864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29152"/>
                </a:solidFill>
                <a:latin typeface="Calibri"/>
                <a:cs typeface="Calibri"/>
              </a:rPr>
              <a:t>2015–2016</a:t>
            </a:r>
          </a:p>
        </p:txBody>
      </p:sp>
      <p:sp>
        <p:nvSpPr>
          <p:cNvPr id="1075" name="Event 0"/>
          <p:cNvSpPr txBox="1"/>
          <p:nvPr/>
        </p:nvSpPr>
        <p:spPr>
          <a:xfrm>
            <a:off x="54864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Municipality acquires Nordjyllandsværket from Vattenfall; parent guarantee for decommissioning</a:t>
            </a:r>
          </a:p>
        </p:txBody>
      </p:sp>
      <p:sp>
        <p:nvSpPr>
          <p:cNvPr id="1076" name="Dot 1"/>
          <p:cNvSpPr/>
          <p:nvPr/>
        </p:nvSpPr>
        <p:spPr>
          <a:xfrm>
            <a:off x="3191256" y="2660904"/>
            <a:ext cx="201168" cy="201168"/>
          </a:xfrm>
          <a:prstGeom prst="ellipse">
            <a:avLst/>
          </a:prstGeom>
          <a:solidFill>
            <a:srgbClr val="129152"/>
          </a:solidFill>
          <a:ln w="19050">
            <a:solidFill>
              <a:srgbClr val="FFFFFF"/>
            </a:solidFill>
          </a:ln>
        </p:spPr>
        <p:txBody>
          <a:bodyPr wrap="square" lIns="91440" tIns="54864" rIns="91440" bIns="54864" rtlCol="0" anchor="t">
            <a:normAutofit/>
          </a:bodyPr>
          <a:lstStyle/>
          <a:p>
            <a:endParaRPr lang="en-US"/>
          </a:p>
        </p:txBody>
      </p:sp>
      <p:sp>
        <p:nvSpPr>
          <p:cNvPr id="1077" name="Date 1"/>
          <p:cNvSpPr txBox="1"/>
          <p:nvPr/>
        </p:nvSpPr>
        <p:spPr>
          <a:xfrm>
            <a:off x="240792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29152"/>
                </a:solidFill>
                <a:latin typeface="Calibri"/>
                <a:cs typeface="Calibri"/>
              </a:rPr>
              <a:t>May 2017</a:t>
            </a:r>
          </a:p>
        </p:txBody>
      </p:sp>
      <p:sp>
        <p:nvSpPr>
          <p:cNvPr id="1078" name="Event 1"/>
          <p:cNvSpPr txBox="1"/>
          <p:nvPr/>
        </p:nvSpPr>
        <p:spPr>
          <a:xfrm>
            <a:off x="240792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Council approves a fossil-free strategy</a:t>
            </a:r>
          </a:p>
        </p:txBody>
      </p:sp>
      <p:sp>
        <p:nvSpPr>
          <p:cNvPr id="1079" name="Dot 2"/>
          <p:cNvSpPr/>
          <p:nvPr/>
        </p:nvSpPr>
        <p:spPr>
          <a:xfrm>
            <a:off x="5050536" y="2660904"/>
            <a:ext cx="201168" cy="201168"/>
          </a:xfrm>
          <a:prstGeom prst="ellipse">
            <a:avLst/>
          </a:prstGeom>
          <a:solidFill>
            <a:srgbClr val="129152"/>
          </a:solidFill>
          <a:ln w="19050">
            <a:solidFill>
              <a:srgbClr val="FFFFFF"/>
            </a:solidFill>
          </a:ln>
        </p:spPr>
        <p:txBody>
          <a:bodyPr wrap="square" lIns="91440" tIns="54864" rIns="91440" bIns="54864" rtlCol="0" anchor="t">
            <a:normAutofit/>
          </a:bodyPr>
          <a:lstStyle/>
          <a:p>
            <a:endParaRPr lang="en-US"/>
          </a:p>
        </p:txBody>
      </p:sp>
      <p:sp>
        <p:nvSpPr>
          <p:cNvPr id="1080" name="Date 2"/>
          <p:cNvSpPr txBox="1"/>
          <p:nvPr/>
        </p:nvSpPr>
        <p:spPr>
          <a:xfrm>
            <a:off x="426720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29152"/>
                </a:solidFill>
                <a:latin typeface="Calibri"/>
                <a:cs typeface="Calibri"/>
              </a:rPr>
              <a:t>9 Nov 2023</a:t>
            </a:r>
          </a:p>
        </p:txBody>
      </p:sp>
      <p:sp>
        <p:nvSpPr>
          <p:cNvPr id="1081" name="Event 2"/>
          <p:cNvSpPr txBox="1"/>
          <p:nvPr/>
        </p:nvSpPr>
        <p:spPr>
          <a:xfrm>
            <a:off x="426720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Vest 20 MW wastewater heat pump abandoned, attributed to the excess-heat price cap</a:t>
            </a:r>
          </a:p>
        </p:txBody>
      </p:sp>
      <p:sp>
        <p:nvSpPr>
          <p:cNvPr id="1082" name="Dot 3"/>
          <p:cNvSpPr/>
          <p:nvPr/>
        </p:nvSpPr>
        <p:spPr>
          <a:xfrm>
            <a:off x="6909816" y="2660904"/>
            <a:ext cx="201168" cy="201168"/>
          </a:xfrm>
          <a:prstGeom prst="ellipse">
            <a:avLst/>
          </a:prstGeom>
          <a:solidFill>
            <a:srgbClr val="129152"/>
          </a:solidFill>
          <a:ln w="19050">
            <a:solidFill>
              <a:srgbClr val="FFFFFF"/>
            </a:solidFill>
          </a:ln>
        </p:spPr>
        <p:txBody>
          <a:bodyPr wrap="square" lIns="91440" tIns="54864" rIns="91440" bIns="54864" rtlCol="0" anchor="t">
            <a:normAutofit/>
          </a:bodyPr>
          <a:lstStyle/>
          <a:p>
            <a:endParaRPr lang="en-US"/>
          </a:p>
        </p:txBody>
      </p:sp>
      <p:sp>
        <p:nvSpPr>
          <p:cNvPr id="1083" name="Date 3"/>
          <p:cNvSpPr txBox="1"/>
          <p:nvPr/>
        </p:nvSpPr>
        <p:spPr>
          <a:xfrm>
            <a:off x="612648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29152"/>
                </a:solidFill>
                <a:latin typeface="Calibri"/>
                <a:cs typeface="Calibri"/>
              </a:rPr>
              <a:t>4 Dec 2023</a:t>
            </a:r>
          </a:p>
        </p:txBody>
      </p:sp>
      <p:sp>
        <p:nvSpPr>
          <p:cNvPr id="1084" name="Event 3"/>
          <p:cNvSpPr txBox="1"/>
          <p:nvPr/>
        </p:nvSpPr>
        <p:spPr>
          <a:xfrm>
            <a:off x="612648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Regulator places wastewater heat outside the cap; the cap itself abolished July 2025</a:t>
            </a:r>
          </a:p>
        </p:txBody>
      </p:sp>
      <p:sp>
        <p:nvSpPr>
          <p:cNvPr id="1085" name="Dot 4"/>
          <p:cNvSpPr/>
          <p:nvPr/>
        </p:nvSpPr>
        <p:spPr>
          <a:xfrm>
            <a:off x="8769096" y="2660904"/>
            <a:ext cx="201168" cy="201168"/>
          </a:xfrm>
          <a:prstGeom prst="ellipse">
            <a:avLst/>
          </a:prstGeom>
          <a:solidFill>
            <a:srgbClr val="129152"/>
          </a:solidFill>
          <a:ln w="19050">
            <a:solidFill>
              <a:srgbClr val="FFFFFF"/>
            </a:solidFill>
          </a:ln>
        </p:spPr>
        <p:txBody>
          <a:bodyPr wrap="square" lIns="91440" tIns="54864" rIns="91440" bIns="54864" rtlCol="0" anchor="t">
            <a:normAutofit/>
          </a:bodyPr>
          <a:lstStyle/>
          <a:p>
            <a:endParaRPr lang="en-US"/>
          </a:p>
        </p:txBody>
      </p:sp>
      <p:sp>
        <p:nvSpPr>
          <p:cNvPr id="1086" name="Date 4"/>
          <p:cNvSpPr txBox="1"/>
          <p:nvPr/>
        </p:nvSpPr>
        <p:spPr>
          <a:xfrm>
            <a:off x="798576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29152"/>
                </a:solidFill>
                <a:latin typeface="Calibri"/>
                <a:cs typeface="Calibri"/>
              </a:rPr>
              <a:t>26 Jun 2025</a:t>
            </a:r>
          </a:p>
        </p:txBody>
      </p:sp>
      <p:sp>
        <p:nvSpPr>
          <p:cNvPr id="1087" name="Event 4"/>
          <p:cNvSpPr txBox="1"/>
          <p:nvPr/>
        </p:nvSpPr>
        <p:spPr>
          <a:xfrm>
            <a:off x="798576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Council guarantee DKK 385m for Varme's network: 17.3% of Varme's year-end assets</a:t>
            </a:r>
          </a:p>
        </p:txBody>
      </p:sp>
      <p:sp>
        <p:nvSpPr>
          <p:cNvPr id="1088" name="Dot 5"/>
          <p:cNvSpPr/>
          <p:nvPr/>
        </p:nvSpPr>
        <p:spPr>
          <a:xfrm>
            <a:off x="10628376" y="2660904"/>
            <a:ext cx="201168" cy="201168"/>
          </a:xfrm>
          <a:prstGeom prst="ellipse">
            <a:avLst/>
          </a:prstGeom>
          <a:solidFill>
            <a:srgbClr val="129152"/>
          </a:solidFill>
          <a:ln w="19050">
            <a:solidFill>
              <a:srgbClr val="FFFFFF"/>
            </a:solidFill>
          </a:ln>
        </p:spPr>
        <p:txBody>
          <a:bodyPr wrap="square" lIns="91440" tIns="54864" rIns="91440" bIns="54864" rtlCol="0" anchor="t">
            <a:normAutofit/>
          </a:bodyPr>
          <a:lstStyle/>
          <a:p>
            <a:endParaRPr lang="en-US"/>
          </a:p>
        </p:txBody>
      </p:sp>
      <p:sp>
        <p:nvSpPr>
          <p:cNvPr id="1089" name="Date 5"/>
          <p:cNvSpPr txBox="1"/>
          <p:nvPr/>
        </p:nvSpPr>
        <p:spPr>
          <a:xfrm>
            <a:off x="984504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129152"/>
                </a:solidFill>
                <a:latin typeface="Calibri"/>
                <a:cs typeface="Calibri"/>
              </a:rPr>
              <a:t>2025 reports</a:t>
            </a:r>
          </a:p>
        </p:txBody>
      </p:sp>
      <p:sp>
        <p:nvSpPr>
          <p:cNvPr id="1090" name="Event 5"/>
          <p:cNvSpPr txBox="1"/>
          <p:nvPr/>
        </p:nvSpPr>
        <p:spPr>
          <a:xfrm>
            <a:off x="984504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150 MW electric boiler assembled; Varme pays fixed capacity and variable costs at self-cost; commissioning summer 2026</a:t>
            </a:r>
          </a:p>
        </p:txBody>
      </p:sp>
      <p:sp>
        <p:nvSpPr>
          <p:cNvPr id="1091" name="Card"/>
          <p:cNvSpPr/>
          <p:nvPr/>
        </p:nvSpPr>
        <p:spPr>
          <a:xfrm>
            <a:off x="502920" y="4114800"/>
            <a:ext cx="5852160" cy="21031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28016" rIns="182880" bIns="91440" rtlCol="0" anchor="t">
            <a:normAutofit/>
          </a:bodyPr>
          <a:lstStyle/>
          <a:p>
            <a:pPr algn="l">
              <a:spcBef>
                <a:spcPts val="0"/>
              </a:spcBef>
              <a:spcAft>
                <a:spcPts val="400"/>
              </a:spcAft>
              <a:buNone/>
            </a:pPr>
            <a:r>
              <a:rPr lang="en-US" sz="1400" b="1" i="0" dirty="0">
                <a:solidFill>
                  <a:srgbClr val="129152"/>
                </a:solidFill>
                <a:latin typeface="Calibri"/>
                <a:cs typeface="Calibri"/>
              </a:rPr>
              <a:t>What the records show</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The boiler agreement places the payment obligation on Aalborg Varme, the purchaser, through a supply agreement with the producer company.</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The guarantee exposes the municipality to borrowing risk; final risk assessment and guarantee commission are not reported in the published minutes.</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Danish heat pricing allows necessary costs into tariffs (hvile-i-sig-selv, §§20–21), subject to regulatory scrutiny.</a:t>
            </a:r>
          </a:p>
        </p:txBody>
      </p:sp>
      <p:sp>
        <p:nvSpPr>
          <p:cNvPr id="1092" name="Card"/>
          <p:cNvSpPr/>
          <p:nvPr/>
        </p:nvSpPr>
        <p:spPr>
          <a:xfrm>
            <a:off x="6537960" y="4114800"/>
            <a:ext cx="5120640" cy="2103120"/>
          </a:xfrm>
          <a:prstGeom prst="roundRect">
            <a:avLst>
              <a:gd name="adj" fmla="val 3000"/>
            </a:avLst>
          </a:prstGeom>
          <a:solidFill>
            <a:srgbClr val="EEF3F8">
              <a:alpha val="96000"/>
            </a:srgbClr>
          </a:solidFill>
          <a:ln>
            <a:noFill/>
          </a:ln>
          <a:effectLst>
            <a:outerShdw blurRad="63500" dist="25400" dir="5400000" algn="t" rotWithShape="0">
              <a:srgbClr val="193F61">
                <a:alpha val="18000"/>
              </a:srgbClr>
            </a:outerShdw>
          </a:effectLst>
        </p:spPr>
        <p:txBody>
          <a:bodyPr wrap="square" lIns="182880" tIns="128016" rIns="182880" bIns="91440" rtlCol="0" anchor="t">
            <a:normAutofit/>
          </a:bodyPr>
          <a:lstStyle/>
          <a:p>
            <a:pPr algn="l">
              <a:spcBef>
                <a:spcPts val="0"/>
              </a:spcBef>
              <a:spcAft>
                <a:spcPts val="400"/>
              </a:spcAft>
              <a:buNone/>
            </a:pPr>
            <a:r>
              <a:rPr lang="en-US" sz="1400" b="1" i="0" dirty="0">
                <a:solidFill>
                  <a:srgbClr val="129152"/>
                </a:solidFill>
                <a:latin typeface="Calibri"/>
                <a:cs typeface="Calibri"/>
              </a:rPr>
              <a:t>Reading</a:t>
            </a:r>
          </a:p>
          <a:p>
            <a:pPr algn="l">
              <a:spcBef>
                <a:spcPts val="0"/>
              </a:spcBef>
              <a:spcAft>
                <a:spcPts val="600"/>
              </a:spcAft>
              <a:buNone/>
            </a:pPr>
            <a:r>
              <a:rPr lang="en-US" sz="1300" b="0" i="0" dirty="0">
                <a:solidFill>
                  <a:srgbClr val="1F2A37"/>
                </a:solidFill>
                <a:latin typeface="Calibri"/>
                <a:cs typeface="Calibri"/>
              </a:rPr>
              <a:t xml:space="preserve">Two interventions at </a:t>
            </a:r>
            <a:r>
              <a:rPr lang="en-US" sz="1300" b="1" i="0" dirty="0">
                <a:solidFill>
                  <a:srgbClr val="193F61"/>
                </a:solidFill>
                <a:latin typeface="Calibri"/>
                <a:cs typeface="Calibri"/>
              </a:rPr>
              <a:t>different corporate levels</a:t>
            </a:r>
            <a:r>
              <a:rPr lang="en-US" sz="1300" b="0" i="0" dirty="0">
                <a:solidFill>
                  <a:srgbClr val="1F2A37"/>
                </a:solidFill>
                <a:latin typeface="Calibri"/>
                <a:cs typeface="Calibri"/>
              </a:rPr>
              <a:t>: a municipal guarantee for one project and an intra-group cost allocation for another.</a:t>
            </a:r>
          </a:p>
          <a:p>
            <a:pPr algn="l">
              <a:spcBef>
                <a:spcPts val="0"/>
              </a:spcBef>
              <a:spcAft>
                <a:spcPts val="0"/>
              </a:spcAft>
              <a:buNone/>
            </a:pPr>
            <a:r>
              <a:rPr lang="en-US" sz="1300" b="0" i="0" dirty="0">
                <a:solidFill>
                  <a:srgbClr val="1F2A37"/>
                </a:solidFill>
                <a:latin typeface="Calibri"/>
                <a:cs typeface="Calibri"/>
              </a:rPr>
              <a:t xml:space="preserve">Vest shows a </a:t>
            </a:r>
            <a:r>
              <a:rPr lang="en-US" sz="1300" b="1" i="0" dirty="0">
                <a:solidFill>
                  <a:srgbClr val="193F61"/>
                </a:solidFill>
                <a:latin typeface="Calibri"/>
                <a:cs typeface="Calibri"/>
              </a:rPr>
              <a:t>recovery problem</a:t>
            </a:r>
            <a:r>
              <a:rPr lang="en-US" sz="1300" b="0" i="0" dirty="0">
                <a:solidFill>
                  <a:srgbClr val="1F2A37"/>
                </a:solidFill>
                <a:latin typeface="Calibri"/>
                <a:cs typeface="Calibri"/>
              </a:rPr>
              <a:t xml:space="preserve"> attributed to a rule as then understood; the later correction shows why a company's appraisal must be read against the rule at the time.</a:t>
            </a:r>
          </a:p>
        </p:txBody>
      </p:sp>
    </p:spTree>
    <p:extLst>
      <p:ext uri="{BB962C8B-B14F-4D97-AF65-F5344CB8AC3E}">
        <p14:creationId xmlns:p14="http://schemas.microsoft.com/office/powerpoint/2010/main" val="382855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093"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Sysav and Malmö: support that keeps its conditions attached</a:t>
            </a:r>
          </a:p>
        </p:txBody>
      </p:sp>
      <p:sp>
        <p:nvSpPr>
          <p:cNvPr id="1094" name="Subtitle"/>
          <p:cNvSpPr txBox="1"/>
          <p:nvPr/>
        </p:nvSpPr>
        <p:spPr>
          <a:xfrm>
            <a:off x="502920" y="1783080"/>
            <a:ext cx="11155680" cy="365760"/>
          </a:xfrm>
          <a:prstGeom prst="rect">
            <a:avLst/>
          </a:prstGeom>
          <a:noFill/>
          <a:ln>
            <a:noFill/>
          </a:ln>
        </p:spPr>
        <p:txBody>
          <a:bodyPr wrap="square" lIns="0" tIns="0" rIns="0" bIns="0" rtlCol="0" anchor="t">
            <a:normAutofit/>
          </a:bodyPr>
          <a:lstStyle/>
          <a:p>
            <a:pPr algn="l">
              <a:spcBef>
                <a:spcPts val="0"/>
              </a:spcBef>
              <a:spcAft>
                <a:spcPts val="0"/>
              </a:spcAft>
              <a:buNone/>
            </a:pPr>
            <a:r>
              <a:rPr lang="en-US" sz="1400" b="0" i="1" dirty="0">
                <a:solidFill>
                  <a:srgbClr val="5A6B7C"/>
                </a:solidFill>
                <a:latin typeface="Calibri"/>
                <a:cs typeface="Calibri"/>
              </a:rPr>
              <a:t>SkyZero carbon capture and the Siptex divestment (records S1–S4)</a:t>
            </a:r>
          </a:p>
        </p:txBody>
      </p:sp>
      <p:sp>
        <p:nvSpPr>
          <p:cNvPr id="1095" name="Badge"/>
          <p:cNvSpPr/>
          <p:nvPr/>
        </p:nvSpPr>
        <p:spPr>
          <a:xfrm>
            <a:off x="11155680" y="1188720"/>
            <a:ext cx="502920" cy="502920"/>
          </a:xfrm>
          <a:prstGeom prst="ellipse">
            <a:avLst/>
          </a:prstGeom>
          <a:solidFill>
            <a:srgbClr val="EEBC37"/>
          </a:solidFill>
          <a:ln>
            <a:noFill/>
          </a:ln>
        </p:spPr>
        <p:txBody>
          <a:bodyPr wrap="square" lIns="0" tIns="0" rIns="0" bIns="0" rtlCol="0" anchor="ctr">
            <a:normAutofit/>
          </a:bodyPr>
          <a:lstStyle/>
          <a:p>
            <a:pPr algn="ctr">
              <a:spcBef>
                <a:spcPts val="0"/>
              </a:spcBef>
              <a:spcAft>
                <a:spcPts val="0"/>
              </a:spcAft>
              <a:buNone/>
            </a:pPr>
            <a:r>
              <a:rPr lang="en-US" sz="1800" b="1" i="0" dirty="0">
                <a:solidFill>
                  <a:srgbClr val="193F61"/>
                </a:solidFill>
                <a:latin typeface="Calibri"/>
                <a:cs typeface="Calibri"/>
              </a:rPr>
              <a:t>S</a:t>
            </a:r>
          </a:p>
        </p:txBody>
      </p:sp>
      <p:sp>
        <p:nvSpPr>
          <p:cNvPr id="1096" name="Timeline"/>
          <p:cNvSpPr/>
          <p:nvPr/>
        </p:nvSpPr>
        <p:spPr>
          <a:xfrm>
            <a:off x="502920" y="2743200"/>
            <a:ext cx="11155680" cy="36576"/>
          </a:xfrm>
          <a:prstGeom prst="rect">
            <a:avLst/>
          </a:prstGeom>
          <a:solidFill>
            <a:srgbClr val="ADC1D8"/>
          </a:solidFill>
          <a:ln>
            <a:noFill/>
          </a:ln>
        </p:spPr>
        <p:txBody>
          <a:bodyPr wrap="square" lIns="91440" tIns="54864" rIns="91440" bIns="54864" rtlCol="0" anchor="t">
            <a:normAutofit/>
          </a:bodyPr>
          <a:lstStyle/>
          <a:p>
            <a:endParaRPr lang="en-US"/>
          </a:p>
        </p:txBody>
      </p:sp>
      <p:sp>
        <p:nvSpPr>
          <p:cNvPr id="1097" name="Dot 0"/>
          <p:cNvSpPr/>
          <p:nvPr/>
        </p:nvSpPr>
        <p:spPr>
          <a:xfrm>
            <a:off x="1331976" y="2660904"/>
            <a:ext cx="201168" cy="201168"/>
          </a:xfrm>
          <a:prstGeom prst="ellipse">
            <a:avLst/>
          </a:prstGeom>
          <a:solidFill>
            <a:srgbClr val="EEBC37"/>
          </a:solidFill>
          <a:ln w="19050">
            <a:solidFill>
              <a:srgbClr val="FFFFFF"/>
            </a:solidFill>
          </a:ln>
        </p:spPr>
        <p:txBody>
          <a:bodyPr wrap="square" lIns="91440" tIns="54864" rIns="91440" bIns="54864" rtlCol="0" anchor="t">
            <a:normAutofit/>
          </a:bodyPr>
          <a:lstStyle/>
          <a:p>
            <a:endParaRPr lang="en-US"/>
          </a:p>
        </p:txBody>
      </p:sp>
      <p:sp>
        <p:nvSpPr>
          <p:cNvPr id="1098" name="Date 0"/>
          <p:cNvSpPr txBox="1"/>
          <p:nvPr/>
        </p:nvSpPr>
        <p:spPr>
          <a:xfrm>
            <a:off x="54864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EEBC37"/>
                </a:solidFill>
                <a:latin typeface="Calibri"/>
                <a:cs typeface="Calibri"/>
              </a:rPr>
              <a:t>Jul 1973</a:t>
            </a:r>
          </a:p>
        </p:txBody>
      </p:sp>
      <p:sp>
        <p:nvSpPr>
          <p:cNvPr id="1099" name="Event 0"/>
          <p:cNvSpPr txBox="1"/>
          <p:nvPr/>
        </p:nvSpPr>
        <p:spPr>
          <a:xfrm>
            <a:off x="54864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Consortium agreement proposal links shared finance to dependable waste flows: capital, guarantees, voting, delivery duties</a:t>
            </a:r>
          </a:p>
        </p:txBody>
      </p:sp>
      <p:sp>
        <p:nvSpPr>
          <p:cNvPr id="1100" name="Dot 1"/>
          <p:cNvSpPr/>
          <p:nvPr/>
        </p:nvSpPr>
        <p:spPr>
          <a:xfrm>
            <a:off x="3191256" y="2660904"/>
            <a:ext cx="201168" cy="201168"/>
          </a:xfrm>
          <a:prstGeom prst="ellipse">
            <a:avLst/>
          </a:prstGeom>
          <a:solidFill>
            <a:srgbClr val="EEBC37"/>
          </a:solidFill>
          <a:ln w="19050">
            <a:solidFill>
              <a:srgbClr val="FFFFFF"/>
            </a:solidFill>
          </a:ln>
        </p:spPr>
        <p:txBody>
          <a:bodyPr wrap="square" lIns="91440" tIns="54864" rIns="91440" bIns="54864" rtlCol="0" anchor="t">
            <a:normAutofit/>
          </a:bodyPr>
          <a:lstStyle/>
          <a:p>
            <a:endParaRPr lang="en-US"/>
          </a:p>
        </p:txBody>
      </p:sp>
      <p:sp>
        <p:nvSpPr>
          <p:cNvPr id="1101" name="Date 1"/>
          <p:cNvSpPr txBox="1"/>
          <p:nvPr/>
        </p:nvSpPr>
        <p:spPr>
          <a:xfrm>
            <a:off x="240792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EEBC37"/>
                </a:solidFill>
                <a:latin typeface="Calibri"/>
                <a:cs typeface="Calibri"/>
              </a:rPr>
              <a:t>Apr 2024</a:t>
            </a:r>
          </a:p>
        </p:txBody>
      </p:sp>
      <p:sp>
        <p:nvSpPr>
          <p:cNvPr id="1102" name="Event 1"/>
          <p:cNvSpPr txBox="1"/>
          <p:nvPr/>
        </p:nvSpPr>
        <p:spPr>
          <a:xfrm>
            <a:off x="240792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Board conditions for SkyZero: positive NPV on contracted revenues, sustainable financing, acceptable group risk, owner involvement</a:t>
            </a:r>
          </a:p>
        </p:txBody>
      </p:sp>
      <p:sp>
        <p:nvSpPr>
          <p:cNvPr id="1103" name="Dot 2"/>
          <p:cNvSpPr/>
          <p:nvPr/>
        </p:nvSpPr>
        <p:spPr>
          <a:xfrm>
            <a:off x="5050536" y="2660904"/>
            <a:ext cx="201168" cy="201168"/>
          </a:xfrm>
          <a:prstGeom prst="ellipse">
            <a:avLst/>
          </a:prstGeom>
          <a:solidFill>
            <a:srgbClr val="EEBC37"/>
          </a:solidFill>
          <a:ln w="19050">
            <a:solidFill>
              <a:srgbClr val="FFFFFF"/>
            </a:solidFill>
          </a:ln>
        </p:spPr>
        <p:txBody>
          <a:bodyPr wrap="square" lIns="91440" tIns="54864" rIns="91440" bIns="54864" rtlCol="0" anchor="t">
            <a:normAutofit/>
          </a:bodyPr>
          <a:lstStyle/>
          <a:p>
            <a:endParaRPr lang="en-US"/>
          </a:p>
        </p:txBody>
      </p:sp>
      <p:sp>
        <p:nvSpPr>
          <p:cNvPr id="1104" name="Date 2"/>
          <p:cNvSpPr txBox="1"/>
          <p:nvPr/>
        </p:nvSpPr>
        <p:spPr>
          <a:xfrm>
            <a:off x="426720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EEBC37"/>
                </a:solidFill>
                <a:latin typeface="Calibri"/>
                <a:cs typeface="Calibri"/>
              </a:rPr>
              <a:t>Autumn 2024</a:t>
            </a:r>
          </a:p>
        </p:txBody>
      </p:sp>
      <p:sp>
        <p:nvSpPr>
          <p:cNvPr id="1105" name="Event 2"/>
          <p:cNvSpPr txBox="1"/>
          <p:nvPr/>
        </p:nvSpPr>
        <p:spPr>
          <a:xfrm>
            <a:off x="426720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13 of 14 owner municipalities endorse the direction</a:t>
            </a:r>
          </a:p>
        </p:txBody>
      </p:sp>
      <p:sp>
        <p:nvSpPr>
          <p:cNvPr id="1106" name="Dot 3"/>
          <p:cNvSpPr/>
          <p:nvPr/>
        </p:nvSpPr>
        <p:spPr>
          <a:xfrm>
            <a:off x="6909816" y="2660904"/>
            <a:ext cx="201168" cy="201168"/>
          </a:xfrm>
          <a:prstGeom prst="ellipse">
            <a:avLst/>
          </a:prstGeom>
          <a:solidFill>
            <a:srgbClr val="EEBC37"/>
          </a:solidFill>
          <a:ln w="19050">
            <a:solidFill>
              <a:srgbClr val="FFFFFF"/>
            </a:solidFill>
          </a:ln>
        </p:spPr>
        <p:txBody>
          <a:bodyPr wrap="square" lIns="91440" tIns="54864" rIns="91440" bIns="54864" rtlCol="0" anchor="t">
            <a:normAutofit/>
          </a:bodyPr>
          <a:lstStyle/>
          <a:p>
            <a:endParaRPr lang="en-US"/>
          </a:p>
        </p:txBody>
      </p:sp>
      <p:sp>
        <p:nvSpPr>
          <p:cNvPr id="1107" name="Date 3"/>
          <p:cNvSpPr txBox="1"/>
          <p:nvPr/>
        </p:nvSpPr>
        <p:spPr>
          <a:xfrm>
            <a:off x="612648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EEBC37"/>
                </a:solidFill>
                <a:latin typeface="Calibri"/>
                <a:cs typeface="Calibri"/>
              </a:rPr>
              <a:t>Dec 2025</a:t>
            </a:r>
          </a:p>
        </p:txBody>
      </p:sp>
      <p:sp>
        <p:nvSpPr>
          <p:cNvPr id="1108" name="Event 3"/>
          <p:cNvSpPr txBox="1"/>
          <p:nvPr/>
        </p:nvSpPr>
        <p:spPr>
          <a:xfrm>
            <a:off x="612648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Sysav decides to divest Siptex textile sorting after weak demand for sorted outputs; sale reported July 2026</a:t>
            </a:r>
          </a:p>
        </p:txBody>
      </p:sp>
      <p:sp>
        <p:nvSpPr>
          <p:cNvPr id="1109" name="Dot 4"/>
          <p:cNvSpPr/>
          <p:nvPr/>
        </p:nvSpPr>
        <p:spPr>
          <a:xfrm>
            <a:off x="8769096" y="2660904"/>
            <a:ext cx="201168" cy="201168"/>
          </a:xfrm>
          <a:prstGeom prst="ellipse">
            <a:avLst/>
          </a:prstGeom>
          <a:solidFill>
            <a:srgbClr val="EEBC37"/>
          </a:solidFill>
          <a:ln w="19050">
            <a:solidFill>
              <a:srgbClr val="FFFFFF"/>
            </a:solidFill>
          </a:ln>
        </p:spPr>
        <p:txBody>
          <a:bodyPr wrap="square" lIns="91440" tIns="54864" rIns="91440" bIns="54864" rtlCol="0" anchor="t">
            <a:normAutofit/>
          </a:bodyPr>
          <a:lstStyle/>
          <a:p>
            <a:endParaRPr lang="en-US"/>
          </a:p>
        </p:txBody>
      </p:sp>
      <p:sp>
        <p:nvSpPr>
          <p:cNvPr id="1110" name="Date 4"/>
          <p:cNvSpPr txBox="1"/>
          <p:nvPr/>
        </p:nvSpPr>
        <p:spPr>
          <a:xfrm>
            <a:off x="798576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EEBC37"/>
                </a:solidFill>
                <a:latin typeface="Calibri"/>
                <a:cs typeface="Calibri"/>
              </a:rPr>
              <a:t>26 Mar 2026</a:t>
            </a:r>
          </a:p>
        </p:txBody>
      </p:sp>
      <p:sp>
        <p:nvSpPr>
          <p:cNvPr id="1111" name="Event 4"/>
          <p:cNvSpPr txBox="1"/>
          <p:nvPr/>
        </p:nvSpPr>
        <p:spPr>
          <a:xfrm>
            <a:off x="798576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Malmö authorises development and a guarantee ceiling ≈ SEK 1.2bn (45.98% of SEK 2.6bn)</a:t>
            </a:r>
          </a:p>
        </p:txBody>
      </p:sp>
      <p:sp>
        <p:nvSpPr>
          <p:cNvPr id="1112" name="Dot 5"/>
          <p:cNvSpPr/>
          <p:nvPr/>
        </p:nvSpPr>
        <p:spPr>
          <a:xfrm>
            <a:off x="10628376" y="2660904"/>
            <a:ext cx="201168" cy="201168"/>
          </a:xfrm>
          <a:prstGeom prst="ellipse">
            <a:avLst/>
          </a:prstGeom>
          <a:solidFill>
            <a:srgbClr val="EEBC37"/>
          </a:solidFill>
          <a:ln w="19050">
            <a:solidFill>
              <a:srgbClr val="FFFFFF"/>
            </a:solidFill>
          </a:ln>
        </p:spPr>
        <p:txBody>
          <a:bodyPr wrap="square" lIns="91440" tIns="54864" rIns="91440" bIns="54864" rtlCol="0" anchor="t">
            <a:normAutofit/>
          </a:bodyPr>
          <a:lstStyle/>
          <a:p>
            <a:endParaRPr lang="en-US"/>
          </a:p>
        </p:txBody>
      </p:sp>
      <p:sp>
        <p:nvSpPr>
          <p:cNvPr id="1113" name="Date 5"/>
          <p:cNvSpPr txBox="1"/>
          <p:nvPr/>
        </p:nvSpPr>
        <p:spPr>
          <a:xfrm>
            <a:off x="9845040" y="2176272"/>
            <a:ext cx="1767840" cy="411480"/>
          </a:xfrm>
          <a:prstGeom prst="rect">
            <a:avLst/>
          </a:prstGeom>
          <a:noFill/>
          <a:ln>
            <a:noFill/>
          </a:ln>
        </p:spPr>
        <p:txBody>
          <a:bodyPr wrap="square" lIns="0" tIns="0" rIns="0" bIns="0" rtlCol="0" anchor="b">
            <a:normAutofit/>
          </a:bodyPr>
          <a:lstStyle/>
          <a:p>
            <a:pPr algn="ctr">
              <a:spcBef>
                <a:spcPts val="0"/>
              </a:spcBef>
              <a:spcAft>
                <a:spcPts val="0"/>
              </a:spcAft>
              <a:buNone/>
            </a:pPr>
            <a:r>
              <a:rPr lang="en-US" sz="1200" b="1" i="0" dirty="0">
                <a:solidFill>
                  <a:srgbClr val="EEBC37"/>
                </a:solidFill>
                <a:latin typeface="Calibri"/>
                <a:cs typeface="Calibri"/>
              </a:rPr>
              <a:t>2027</a:t>
            </a:r>
          </a:p>
        </p:txBody>
      </p:sp>
      <p:sp>
        <p:nvSpPr>
          <p:cNvPr id="1114" name="Event 5"/>
          <p:cNvSpPr txBox="1"/>
          <p:nvPr/>
        </p:nvSpPr>
        <p:spPr>
          <a:xfrm>
            <a:off x="9845040" y="2926080"/>
            <a:ext cx="1767840" cy="960120"/>
          </a:xfrm>
          <a:prstGeom prst="rect">
            <a:avLst/>
          </a:prstGeom>
          <a:noFill/>
          <a:ln>
            <a:noFill/>
          </a:ln>
        </p:spPr>
        <p:txBody>
          <a:bodyPr wrap="square" lIns="0" tIns="0" rIns="0" bIns="0" rtlCol="0" anchor="t">
            <a:normAutofit/>
          </a:bodyPr>
          <a:lstStyle/>
          <a:p>
            <a:pPr algn="ctr">
              <a:spcBef>
                <a:spcPts val="0"/>
              </a:spcBef>
              <a:spcAft>
                <a:spcPts val="0"/>
              </a:spcAft>
              <a:buNone/>
            </a:pPr>
            <a:r>
              <a:rPr lang="en-US" sz="1150" b="0" i="0" dirty="0">
                <a:solidFill>
                  <a:srgbClr val="1F2A37"/>
                </a:solidFill>
                <a:latin typeface="Calibri"/>
                <a:cs typeface="Calibri"/>
              </a:rPr>
              <a:t>Final investment decision envisaged; purchase of carbon removals conditional on procurement compliance</a:t>
            </a:r>
          </a:p>
        </p:txBody>
      </p:sp>
      <p:sp>
        <p:nvSpPr>
          <p:cNvPr id="1115" name="Card"/>
          <p:cNvSpPr/>
          <p:nvPr/>
        </p:nvSpPr>
        <p:spPr>
          <a:xfrm>
            <a:off x="502920" y="4114800"/>
            <a:ext cx="5852160" cy="21031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28016" rIns="182880" bIns="91440" rtlCol="0" anchor="t">
            <a:normAutofit/>
          </a:bodyPr>
          <a:lstStyle/>
          <a:p>
            <a:pPr algn="l">
              <a:spcBef>
                <a:spcPts val="0"/>
              </a:spcBef>
              <a:spcAft>
                <a:spcPts val="400"/>
              </a:spcAft>
              <a:buNone/>
            </a:pPr>
            <a:r>
              <a:rPr lang="en-US" sz="1400" b="1" i="0" dirty="0">
                <a:solidFill>
                  <a:srgbClr val="193F61"/>
                </a:solidFill>
                <a:latin typeface="Calibri"/>
                <a:cs typeface="Calibri"/>
              </a:rPr>
              <a:t>What the records show</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Projected revenues combine carbon-removal credits, avoided allowance costs and anticipated EU Innovation Fund and Industriklivet support; profitability described as dependent on support.</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Malmö's prospective purchase is tied to procurement law: in-house award (Teckal, Directive 2014/24 Art. 12) and the January 2026 CJEU judgment C-692/23 on group-level activity.</a:t>
            </a:r>
          </a:p>
          <a:p>
            <a:pPr algn="l" marL="201168" indent="-201168">
              <a:spcBef>
                <a:spcPts val="0"/>
              </a:spcBef>
              <a:spcAft>
                <a:spcPts val="400"/>
              </a:spcAft>
              <a:buClr>
                <a:srgbClr val="4C886C"/>
              </a:buClr>
              <a:buFont typeface="Arial"/>
              <a:buChar char="•"/>
            </a:pPr>
            <a:r>
              <a:rPr lang="en-US" sz="1250" b="0" i="0" dirty="0">
                <a:solidFill>
                  <a:srgbClr val="1F2A37"/>
                </a:solidFill>
                <a:latin typeface="Calibri"/>
                <a:cs typeface="Calibri"/>
              </a:rPr>
              <a:t>A later reference (C-672/26) asks whether third-party sales count as entrusted activity; it is a question, not a ruling on SkyZero.</a:t>
            </a:r>
          </a:p>
        </p:txBody>
      </p:sp>
      <p:sp>
        <p:nvSpPr>
          <p:cNvPr id="1116" name="Card"/>
          <p:cNvSpPr/>
          <p:nvPr/>
        </p:nvSpPr>
        <p:spPr>
          <a:xfrm>
            <a:off x="6537960" y="4114800"/>
            <a:ext cx="5120640" cy="2103120"/>
          </a:xfrm>
          <a:prstGeom prst="roundRect">
            <a:avLst>
              <a:gd name="adj" fmla="val 3000"/>
            </a:avLst>
          </a:prstGeom>
          <a:solidFill>
            <a:srgbClr val="EEF3F8">
              <a:alpha val="96000"/>
            </a:srgbClr>
          </a:solidFill>
          <a:ln>
            <a:noFill/>
          </a:ln>
          <a:effectLst>
            <a:outerShdw blurRad="63500" dist="25400" dir="5400000" algn="t" rotWithShape="0">
              <a:srgbClr val="193F61">
                <a:alpha val="18000"/>
              </a:srgbClr>
            </a:outerShdw>
          </a:effectLst>
        </p:spPr>
        <p:txBody>
          <a:bodyPr wrap="square" lIns="182880" tIns="128016" rIns="182880" bIns="91440" rtlCol="0" anchor="t">
            <a:normAutofit/>
          </a:bodyPr>
          <a:lstStyle/>
          <a:p>
            <a:pPr algn="l">
              <a:spcBef>
                <a:spcPts val="0"/>
              </a:spcBef>
              <a:spcAft>
                <a:spcPts val="400"/>
              </a:spcAft>
              <a:buNone/>
            </a:pPr>
            <a:r>
              <a:rPr lang="en-US" sz="1400" b="1" i="0" dirty="0">
                <a:solidFill>
                  <a:srgbClr val="129152"/>
                </a:solidFill>
                <a:latin typeface="Calibri"/>
                <a:cs typeface="Calibri"/>
              </a:rPr>
              <a:t>Reading</a:t>
            </a:r>
          </a:p>
          <a:p>
            <a:pPr algn="l">
              <a:spcBef>
                <a:spcPts val="0"/>
              </a:spcBef>
              <a:spcAft>
                <a:spcPts val="600"/>
              </a:spcAft>
              <a:buNone/>
            </a:pPr>
            <a:r>
              <a:rPr lang="en-US" sz="1300" b="0" i="0" dirty="0">
                <a:solidFill>
                  <a:srgbClr val="1F2A37"/>
                </a:solidFill>
                <a:latin typeface="Calibri"/>
                <a:cs typeface="Calibri"/>
              </a:rPr>
              <a:t xml:space="preserve">Malmö appears twice: as </a:t>
            </a:r>
            <a:r>
              <a:rPr lang="en-US" sz="1300" b="1" i="0" dirty="0">
                <a:solidFill>
                  <a:srgbClr val="193F61"/>
                </a:solidFill>
                <a:latin typeface="Calibri"/>
                <a:cs typeface="Calibri"/>
              </a:rPr>
              <a:t>financier</a:t>
            </a:r>
            <a:r>
              <a:rPr lang="en-US" sz="1300" b="0" i="0" dirty="0">
                <a:solidFill>
                  <a:srgbClr val="1F2A37"/>
                </a:solidFill>
                <a:latin typeface="Calibri"/>
                <a:cs typeface="Calibri"/>
              </a:rPr>
              <a:t xml:space="preserve"> (guarantee ceiling) and as </a:t>
            </a:r>
            <a:r>
              <a:rPr lang="en-US" sz="1300" b="1" i="0" dirty="0">
                <a:solidFill>
                  <a:srgbClr val="193F61"/>
                </a:solidFill>
                <a:latin typeface="Calibri"/>
                <a:cs typeface="Calibri"/>
              </a:rPr>
              <a:t>prospective customer</a:t>
            </a:r>
            <a:r>
              <a:rPr lang="en-US" sz="1300" b="0" i="0" dirty="0">
                <a:solidFill>
                  <a:srgbClr val="1F2A37"/>
                </a:solidFill>
                <a:latin typeface="Calibri"/>
                <a:cs typeface="Calibri"/>
              </a:rPr>
              <a:t xml:space="preserve"> (conditional purchase). Ownership did not remove the procurement condition.</a:t>
            </a:r>
          </a:p>
          <a:p>
            <a:pPr algn="l">
              <a:spcBef>
                <a:spcPts val="0"/>
              </a:spcBef>
              <a:spcAft>
                <a:spcPts val="0"/>
              </a:spcAft>
              <a:buNone/>
            </a:pPr>
            <a:r>
              <a:rPr lang="en-US" sz="1300" b="0" i="0" dirty="0">
                <a:solidFill>
                  <a:srgbClr val="1F2A37"/>
                </a:solidFill>
                <a:latin typeface="Calibri"/>
                <a:cs typeface="Calibri"/>
              </a:rPr>
              <a:t xml:space="preserve">Siptex is a </a:t>
            </a:r>
            <a:r>
              <a:rPr lang="en-US" sz="1300" b="1" i="0" dirty="0">
                <a:solidFill>
                  <a:srgbClr val="193F61"/>
                </a:solidFill>
                <a:latin typeface="Calibri"/>
                <a:cs typeface="Calibri"/>
              </a:rPr>
              <a:t>change of activities</a:t>
            </a:r>
            <a:r>
              <a:rPr lang="en-US" sz="1300" b="0" i="0" dirty="0">
                <a:solidFill>
                  <a:srgbClr val="1F2A37"/>
                </a:solidFill>
                <a:latin typeface="Calibri"/>
                <a:cs typeface="Calibri"/>
              </a:rPr>
              <a:t xml:space="preserve"> after a weak market, distinct from abandoning a proposed investment.</a:t>
            </a:r>
          </a:p>
        </p:txBody>
      </p:sp>
    </p:spTree>
    <p:extLst>
      <p:ext uri="{BB962C8B-B14F-4D97-AF65-F5344CB8AC3E}">
        <p14:creationId xmlns:p14="http://schemas.microsoft.com/office/powerpoint/2010/main" val="382855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117"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Owner actions and the components of investability, by project</a:t>
            </a:r>
          </a:p>
        </p:txBody>
      </p:sp>
      <p:sp>
        <p:nvSpPr>
          <p:cNvPr id="1118" name="Subtitle"/>
          <p:cNvSpPr txBox="1"/>
          <p:nvPr/>
        </p:nvSpPr>
        <p:spPr>
          <a:xfrm>
            <a:off x="502920" y="1783080"/>
            <a:ext cx="11155680" cy="365760"/>
          </a:xfrm>
          <a:prstGeom prst="rect">
            <a:avLst/>
          </a:prstGeom>
          <a:noFill/>
          <a:ln>
            <a:noFill/>
          </a:ln>
        </p:spPr>
        <p:txBody>
          <a:bodyPr wrap="square" lIns="0" tIns="0" rIns="0" bIns="0" rtlCol="0" anchor="t">
            <a:normAutofit/>
          </a:bodyPr>
          <a:lstStyle/>
          <a:p>
            <a:pPr algn="l">
              <a:spcBef>
                <a:spcPts val="0"/>
              </a:spcBef>
              <a:spcAft>
                <a:spcPts val="0"/>
              </a:spcAft>
              <a:buNone/>
            </a:pPr>
            <a:r>
              <a:rPr lang="en-US" sz="1400" b="0" i="1" dirty="0">
                <a:solidFill>
                  <a:srgbClr val="5A6B7C"/>
                </a:solidFill>
                <a:latin typeface="Calibri"/>
                <a:cs typeface="Calibri"/>
              </a:rPr>
              <a:t>Condensed from Table I of the paper</a:t>
            </a:r>
          </a:p>
        </p:txBody>
      </p:sp>
      <p:sp>
        <p:nvSpPr>
          <p:cNvPr id="1119" name="Table backdrop"/>
          <p:cNvSpPr/>
          <p:nvPr/>
        </p:nvSpPr>
        <p:spPr>
          <a:xfrm>
            <a:off x="457200" y="2176272"/>
            <a:ext cx="11247120" cy="4114800"/>
          </a:xfrm>
          <a:prstGeom prst="rect">
            <a:avLst/>
          </a:prstGeom>
          <a:solidFill>
            <a:srgbClr val="FFFFFF">
              <a:alpha val="90000"/>
            </a:srgbClr>
          </a:solidFill>
          <a:ln>
            <a:noFill/>
          </a:ln>
        </p:spPr>
        <p:txBody>
          <a:bodyPr wrap="square" lIns="91440" tIns="54864" rIns="91440" bIns="54864" rtlCol="0" anchor="t">
            <a:normAutofit/>
          </a:bodyPr>
          <a:lstStyle/>
          <a:p>
            <a:endParaRPr lang="en-US"/>
          </a:p>
        </p:txBody>
      </p:sp>
      <p:graphicFrame>
        <p:nvGraphicFramePr>
          <p:cNvPr id="1120" name="Table"/>
          <p:cNvGraphicFramePr>
            <a:graphicFrameLocks noGrp="1"/>
          </p:cNvGraphicFramePr>
          <p:nvPr/>
        </p:nvGraphicFramePr>
        <p:xfrm>
          <a:off x="502920" y="2212848"/>
          <a:ext cx="11155680" cy="3730752"/>
        </p:xfrm>
        <a:graphic>
          <a:graphicData uri="http://schemas.openxmlformats.org/drawingml/2006/table">
            <a:tbl>
              <a:tblPr firstRow="1" bandRow="1"/>
              <a:tblGrid>
                <a:gridCol w="1904628"/>
                <a:gridCol w="2358111"/>
                <a:gridCol w="1995325"/>
                <a:gridCol w="2630201"/>
                <a:gridCol w="2267415"/>
              </a:tblGrid>
              <a:tr h="329184">
                <a:tc>
                  <a:txBody>
                    <a:bodyPr/>
                    <a:lstStyle/>
                    <a:p>
                      <a:pPr algn="l">
                        <a:spcBef>
                          <a:spcPts val="0"/>
                        </a:spcBef>
                        <a:spcAft>
                          <a:spcPts val="0"/>
                        </a:spcAft>
                        <a:buNone/>
                      </a:pPr>
                      <a:r>
                        <a:rPr lang="en-US" sz="1050" b="1" i="0" dirty="0">
                          <a:solidFill>
                            <a:srgbClr val="FFFFFF"/>
                          </a:solidFill>
                          <a:latin typeface="Calibri"/>
                          <a:cs typeface="Calibri"/>
                        </a:rPr>
                        <a:t>Project (record)</a:t>
                      </a:r>
                    </a:p>
                  </a:txBody>
                  <a:tcPr marL="64008" marR="64008" marT="36576" marB="36576" anchor="ctr">
                    <a:lnL w="6350">
                      <a:solidFill>
                        <a:srgbClr val="D5DCE4"/>
                      </a:solidFill>
                    </a:lnL>
                    <a:lnR w="6350">
                      <a:solidFill>
                        <a:srgbClr val="D5DCE4"/>
                      </a:solidFill>
                    </a:lnR>
                    <a:lnT w="6350">
                      <a:solidFill>
                        <a:srgbClr val="D5DCE4"/>
                      </a:solidFill>
                    </a:lnT>
                    <a:lnB w="6350">
                      <a:solidFill>
                        <a:srgbClr val="D5DCE4"/>
                      </a:solidFill>
                    </a:lnB>
                    <a:solidFill>
                      <a:srgbClr val="193F61"/>
                    </a:solidFill>
                  </a:tcPr>
                </a:tc>
                <a:tc>
                  <a:txBody>
                    <a:bodyPr/>
                    <a:lstStyle/>
                    <a:p>
                      <a:pPr algn="l">
                        <a:spcBef>
                          <a:spcPts val="0"/>
                        </a:spcBef>
                        <a:spcAft>
                          <a:spcPts val="0"/>
                        </a:spcAft>
                        <a:buNone/>
                      </a:pPr>
                      <a:r>
                        <a:rPr lang="en-US" sz="1050" b="1" i="0" dirty="0">
                          <a:solidFill>
                            <a:srgbClr val="FFFFFF"/>
                          </a:solidFill>
                          <a:latin typeface="Calibri"/>
                          <a:cs typeface="Calibri"/>
                        </a:rPr>
                        <a:t>Owner action</a:t>
                      </a:r>
                    </a:p>
                  </a:txBody>
                  <a:tcPr marL="64008" marR="64008" marT="36576" marB="36576" anchor="ctr">
                    <a:lnL w="6350">
                      <a:solidFill>
                        <a:srgbClr val="D5DCE4"/>
                      </a:solidFill>
                    </a:lnL>
                    <a:lnR w="6350">
                      <a:solidFill>
                        <a:srgbClr val="D5DCE4"/>
                      </a:solidFill>
                    </a:lnR>
                    <a:lnT w="6350">
                      <a:solidFill>
                        <a:srgbClr val="D5DCE4"/>
                      </a:solidFill>
                    </a:lnT>
                    <a:lnB w="6350">
                      <a:solidFill>
                        <a:srgbClr val="D5DCE4"/>
                      </a:solidFill>
                    </a:lnB>
                    <a:solidFill>
                      <a:srgbClr val="193F61"/>
                    </a:solidFill>
                  </a:tcPr>
                </a:tc>
                <a:tc>
                  <a:txBody>
                    <a:bodyPr/>
                    <a:lstStyle/>
                    <a:p>
                      <a:pPr algn="l">
                        <a:spcBef>
                          <a:spcPts val="0"/>
                        </a:spcBef>
                        <a:spcAft>
                          <a:spcPts val="0"/>
                        </a:spcAft>
                        <a:buNone/>
                      </a:pPr>
                      <a:r>
                        <a:rPr lang="en-US" sz="1050" b="1" i="0" dirty="0">
                          <a:solidFill>
                            <a:srgbClr val="FFFFFF"/>
                          </a:solidFill>
                          <a:latin typeface="Calibri"/>
                          <a:cs typeface="Calibri"/>
                        </a:rPr>
                        <a:t>Financing basis</a:t>
                      </a:r>
                    </a:p>
                  </a:txBody>
                  <a:tcPr marL="64008" marR="64008" marT="36576" marB="36576" anchor="ctr">
                    <a:lnL w="6350">
                      <a:solidFill>
                        <a:srgbClr val="D5DCE4"/>
                      </a:solidFill>
                    </a:lnL>
                    <a:lnR w="6350">
                      <a:solidFill>
                        <a:srgbClr val="D5DCE4"/>
                      </a:solidFill>
                    </a:lnR>
                    <a:lnT w="6350">
                      <a:solidFill>
                        <a:srgbClr val="D5DCE4"/>
                      </a:solidFill>
                    </a:lnT>
                    <a:lnB w="6350">
                      <a:solidFill>
                        <a:srgbClr val="D5DCE4"/>
                      </a:solidFill>
                    </a:lnB>
                    <a:solidFill>
                      <a:srgbClr val="193F61"/>
                    </a:solidFill>
                  </a:tcPr>
                </a:tc>
                <a:tc>
                  <a:txBody>
                    <a:bodyPr/>
                    <a:lstStyle/>
                    <a:p>
                      <a:pPr algn="l">
                        <a:spcBef>
                          <a:spcPts val="0"/>
                        </a:spcBef>
                        <a:spcAft>
                          <a:spcPts val="0"/>
                        </a:spcAft>
                        <a:buNone/>
                      </a:pPr>
                      <a:r>
                        <a:rPr lang="en-US" sz="1050" b="1" i="0" dirty="0">
                          <a:solidFill>
                            <a:srgbClr val="FFFFFF"/>
                          </a:solidFill>
                          <a:latin typeface="Calibri"/>
                          <a:cs typeface="Calibri"/>
                        </a:rPr>
                        <a:t>Cost-recovery basis</a:t>
                      </a:r>
                    </a:p>
                  </a:txBody>
                  <a:tcPr marL="64008" marR="64008" marT="36576" marB="36576" anchor="ctr">
                    <a:lnL w="6350">
                      <a:solidFill>
                        <a:srgbClr val="D5DCE4"/>
                      </a:solidFill>
                    </a:lnL>
                    <a:lnR w="6350">
                      <a:solidFill>
                        <a:srgbClr val="D5DCE4"/>
                      </a:solidFill>
                    </a:lnR>
                    <a:lnT w="6350">
                      <a:solidFill>
                        <a:srgbClr val="D5DCE4"/>
                      </a:solidFill>
                    </a:lnT>
                    <a:lnB w="6350">
                      <a:solidFill>
                        <a:srgbClr val="D5DCE4"/>
                      </a:solidFill>
                    </a:lnB>
                    <a:solidFill>
                      <a:srgbClr val="193F61"/>
                    </a:solidFill>
                  </a:tcPr>
                </a:tc>
                <a:tc>
                  <a:txBody>
                    <a:bodyPr/>
                    <a:lstStyle/>
                    <a:p>
                      <a:pPr algn="l">
                        <a:spcBef>
                          <a:spcPts val="0"/>
                        </a:spcBef>
                        <a:spcAft>
                          <a:spcPts val="0"/>
                        </a:spcAft>
                        <a:buNone/>
                      </a:pPr>
                      <a:r>
                        <a:rPr lang="en-US" sz="1050" b="1" i="0" dirty="0">
                          <a:solidFill>
                            <a:srgbClr val="FFFFFF"/>
                          </a:solidFill>
                          <a:latin typeface="Calibri"/>
                          <a:cs typeface="Calibri"/>
                        </a:rPr>
                        <a:t>Stage / open condition</a:t>
                      </a:r>
                    </a:p>
                  </a:txBody>
                  <a:tcPr marL="64008" marR="64008" marT="36576" marB="36576" anchor="ctr">
                    <a:lnL w="6350">
                      <a:solidFill>
                        <a:srgbClr val="D5DCE4"/>
                      </a:solidFill>
                    </a:lnL>
                    <a:lnR w="6350">
                      <a:solidFill>
                        <a:srgbClr val="D5DCE4"/>
                      </a:solidFill>
                    </a:lnR>
                    <a:lnT w="6350">
                      <a:solidFill>
                        <a:srgbClr val="D5DCE4"/>
                      </a:solidFill>
                    </a:lnT>
                    <a:lnB w="6350">
                      <a:solidFill>
                        <a:srgbClr val="D5DCE4"/>
                      </a:solidFill>
                    </a:lnB>
                    <a:solidFill>
                      <a:srgbClr val="193F61"/>
                    </a:solidFill>
                  </a:tcPr>
                </a:tc>
              </a:tr>
              <a:tr h="566928">
                <a:tc>
                  <a:txBody>
                    <a:bodyPr/>
                    <a:lstStyle/>
                    <a:p>
                      <a:pPr algn="l">
                        <a:spcBef>
                          <a:spcPts val="0"/>
                        </a:spcBef>
                        <a:spcAft>
                          <a:spcPts val="200"/>
                        </a:spcAft>
                        <a:buNone/>
                      </a:pPr>
                      <a:r>
                        <a:rPr lang="en-US" sz="1050" b="1" i="0" dirty="0">
                          <a:solidFill>
                            <a:srgbClr val="193F61"/>
                          </a:solidFill>
                          <a:latin typeface="Calibri"/>
                          <a:cs typeface="Calibri"/>
                        </a:rPr>
                        <a:t>Helsinki: decentralised heat and coal closures (H1–H5)</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Incorporation with ≥50% equity target (2014); council chose decentralised option (2 Dec 2015)</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Prepared equity capacity; EUR 360m vs EUR 960m CHP</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Board: options commercially unattractive; limited tariff pass-through. 2025: fuel and allowance costs down</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Pathway authorised 2015; plants closed 2023 and 2025. Price vs production effects not separated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r>
              <a:tr h="566928">
                <a:tc>
                  <a:txBody>
                    <a:bodyPr/>
                    <a:lstStyle/>
                    <a:p>
                      <a:pPr algn="l">
                        <a:spcBef>
                          <a:spcPts val="0"/>
                        </a:spcBef>
                        <a:spcAft>
                          <a:spcPts val="200"/>
                        </a:spcAft>
                        <a:buNone/>
                      </a:pPr>
                      <a:r>
                        <a:rPr lang="en-US" sz="1050" b="1" i="0" dirty="0">
                          <a:solidFill>
                            <a:srgbClr val="193F61"/>
                          </a:solidFill>
                          <a:latin typeface="Calibri"/>
                          <a:cs typeface="Calibri"/>
                        </a:rPr>
                        <a:t>Aalborg: network and associated investments (A4)</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Council guarantee DKK 385m (26 Jun 2025) with commission and risk assessment</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Municipal guarantee for Varme borrowing; 17.3% of Varme assets</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Statutory necessary-cost tariff route (§20); project costs' treatment not specified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Approved. Final risk assessment and commission not in cited minutes</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r>
              <a:tr h="566928">
                <a:tc>
                  <a:txBody>
                    <a:bodyPr/>
                    <a:lstStyle/>
                    <a:p>
                      <a:pPr algn="l">
                        <a:spcBef>
                          <a:spcPts val="0"/>
                        </a:spcBef>
                        <a:spcAft>
                          <a:spcPts val="200"/>
                        </a:spcAft>
                        <a:buNone/>
                      </a:pPr>
                      <a:r>
                        <a:rPr lang="en-US" sz="1050" b="1" i="0" dirty="0">
                          <a:solidFill>
                            <a:srgbClr val="193F61"/>
                          </a:solidFill>
                          <a:latin typeface="Calibri"/>
                          <a:cs typeface="Calibri"/>
                        </a:rPr>
                        <a:t>Aalborg: 150 MW electric boiler (A3)</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No direct owner action documented; intra-group agreement</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Not documented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Varme pays fixed capacity and variable costs at self-cost</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Cold testing done; commissioning summer 2026. Duration and continuity obligations unspecified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r>
              <a:tr h="566928">
                <a:tc>
                  <a:txBody>
                    <a:bodyPr/>
                    <a:lstStyle/>
                    <a:p>
                      <a:pPr algn="l">
                        <a:spcBef>
                          <a:spcPts val="0"/>
                        </a:spcBef>
                        <a:spcAft>
                          <a:spcPts val="200"/>
                        </a:spcAft>
                        <a:buNone/>
                      </a:pPr>
                      <a:r>
                        <a:rPr lang="en-US" sz="1050" b="1" i="0" dirty="0">
                          <a:solidFill>
                            <a:srgbClr val="193F61"/>
                          </a:solidFill>
                          <a:latin typeface="Calibri"/>
                          <a:cs typeface="Calibri"/>
                        </a:rPr>
                        <a:t>Aalborg: Vest 20 MW heat pump (A5–A6)</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Not documented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Not documented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Abandonment attributed to excess-heat cap; regulator corrected 4 Dec 2023; cap abolished Jul 2025</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Abandonment announced 9 Nov 2023. Later implementation not established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r>
              <a:tr h="566928">
                <a:tc>
                  <a:txBody>
                    <a:bodyPr/>
                    <a:lstStyle/>
                    <a:p>
                      <a:pPr algn="l">
                        <a:spcBef>
                          <a:spcPts val="0"/>
                        </a:spcBef>
                        <a:spcAft>
                          <a:spcPts val="200"/>
                        </a:spcAft>
                        <a:buNone/>
                      </a:pPr>
                      <a:r>
                        <a:rPr lang="en-US" sz="1050" b="1" i="0" dirty="0">
                          <a:solidFill>
                            <a:srgbClr val="193F61"/>
                          </a:solidFill>
                          <a:latin typeface="Calibri"/>
                          <a:cs typeface="Calibri"/>
                        </a:rPr>
                        <a:t>Sysav: SkyZero carbon capture (S2, S4)</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13 of 14 owners endorsed direction; Malmö conditional authorisation and guarantee ceiling ≈ SEK 1.2bn; prospective purchases</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Internal funds, anticipated Innovation Fund / Industriklivet, borrowing with owner support; conditional</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Positive NPV on contracted revenues required; Malmö purchase conditional on procurement compliance and final approval</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c>
                  <a:txBody>
                    <a:bodyPr/>
                    <a:lstStyle/>
                    <a:p>
                      <a:pPr algn="l">
                        <a:spcBef>
                          <a:spcPts val="0"/>
                        </a:spcBef>
                        <a:spcAft>
                          <a:spcPts val="200"/>
                        </a:spcAft>
                        <a:buNone/>
                      </a:pPr>
                      <a:r>
                        <a:rPr lang="en-US" sz="1050" b="0" i="0" dirty="0">
                          <a:solidFill>
                            <a:srgbClr val="1F2A37"/>
                          </a:solidFill>
                          <a:latin typeface="Calibri"/>
                          <a:cs typeface="Calibri"/>
                        </a:rPr>
                        <a:t>Development; FID envisaged 2027. Entrusted-activity treatment pending (C-672/26); grants unconfirmed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FFFFF"/>
                    </a:solidFill>
                  </a:tcPr>
                </a:tc>
              </a:tr>
              <a:tr h="566928">
                <a:tc>
                  <a:txBody>
                    <a:bodyPr/>
                    <a:lstStyle/>
                    <a:p>
                      <a:pPr algn="l">
                        <a:spcBef>
                          <a:spcPts val="0"/>
                        </a:spcBef>
                        <a:spcAft>
                          <a:spcPts val="200"/>
                        </a:spcAft>
                        <a:buNone/>
                      </a:pPr>
                      <a:r>
                        <a:rPr lang="en-US" sz="1050" b="1" i="0" dirty="0">
                          <a:solidFill>
                            <a:srgbClr val="193F61"/>
                          </a:solidFill>
                          <a:latin typeface="Calibri"/>
                          <a:cs typeface="Calibri"/>
                        </a:rPr>
                        <a:t>Sysav: Siptex textile sorting (S3)</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Not documented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Not documented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Weak demand for sorted outputs</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c>
                  <a:txBody>
                    <a:bodyPr/>
                    <a:lstStyle/>
                    <a:p>
                      <a:pPr algn="l">
                        <a:spcBef>
                          <a:spcPts val="0"/>
                        </a:spcBef>
                        <a:spcAft>
                          <a:spcPts val="200"/>
                        </a:spcAft>
                        <a:buNone/>
                      </a:pPr>
                      <a:r>
                        <a:rPr lang="en-US" sz="1050" b="0" i="0" dirty="0">
                          <a:solidFill>
                            <a:srgbClr val="1F2A37"/>
                          </a:solidFill>
                          <a:latin typeface="Calibri"/>
                          <a:cs typeface="Calibri"/>
                        </a:rPr>
                        <a:t>Divestment Dec 2025; sale reported Jul 2026. Post-sale financing not documented</a:t>
                      </a:r>
                    </a:p>
                  </a:txBody>
                  <a:tcPr marL="64008" marR="64008" marT="36576" marB="36576" anchor="t">
                    <a:lnL w="6350">
                      <a:solidFill>
                        <a:srgbClr val="D5DCE4"/>
                      </a:solidFill>
                    </a:lnL>
                    <a:lnR w="6350">
                      <a:solidFill>
                        <a:srgbClr val="D5DCE4"/>
                      </a:solidFill>
                    </a:lnR>
                    <a:lnT w="6350">
                      <a:solidFill>
                        <a:srgbClr val="D5DCE4"/>
                      </a:solidFill>
                    </a:lnT>
                    <a:lnB w="6350">
                      <a:solidFill>
                        <a:srgbClr val="D5DCE4"/>
                      </a:solidFill>
                    </a:lnB>
                    <a:solidFill>
                      <a:srgbClr val="F3F6F9"/>
                    </a:solidFill>
                  </a:tcPr>
                </a:tc>
              </a:tr>
            </a:tbl>
          </a:graphicData>
        </a:graphic>
      </p:graphicFrame>
    </p:spTree>
    <p:extLst>
      <p:ext uri="{BB962C8B-B14F-4D97-AF65-F5344CB8AC3E}">
        <p14:creationId xmlns:p14="http://schemas.microsoft.com/office/powerpoint/2010/main" val="382855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121"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Finding 1: owner support coexisted with adverse appraisals and open recovery conditions</a:t>
            </a:r>
          </a:p>
        </p:txBody>
      </p:sp>
      <p:sp>
        <p:nvSpPr>
          <p:cNvPr id="1122" name="Lead"/>
          <p:cNvSpPr txBox="1"/>
          <p:nvPr/>
        </p:nvSpPr>
        <p:spPr>
          <a:xfrm>
            <a:off x="502920" y="1874520"/>
            <a:ext cx="11155680" cy="457200"/>
          </a:xfrm>
          <a:prstGeom prst="rect">
            <a:avLst/>
          </a:prstGeom>
          <a:noFill/>
          <a:ln>
            <a:noFill/>
          </a:ln>
        </p:spPr>
        <p:txBody>
          <a:bodyPr wrap="square" lIns="0" tIns="0" rIns="0" bIns="0" rtlCol="0" anchor="t">
            <a:normAutofit/>
          </a:bodyPr>
          <a:lstStyle/>
          <a:p>
            <a:pPr algn="l">
              <a:spcBef>
                <a:spcPts val="0"/>
              </a:spcBef>
              <a:spcAft>
                <a:spcPts val="0"/>
              </a:spcAft>
              <a:buNone/>
            </a:pPr>
            <a:r>
              <a:rPr lang="en-US" sz="1400" b="0" i="1" dirty="0">
                <a:solidFill>
                  <a:srgbClr val="5A6B7C"/>
                </a:solidFill>
                <a:latin typeface="Calibri"/>
                <a:cs typeface="Calibri"/>
              </a:rPr>
              <a:t>Financial support was given, yet recovery stayed under scrutiny in every arrangement. The three records show the same gap in three forms.</a:t>
            </a:r>
          </a:p>
        </p:txBody>
      </p:sp>
      <p:sp>
        <p:nvSpPr>
          <p:cNvPr id="1123" name="Card"/>
          <p:cNvSpPr/>
          <p:nvPr/>
        </p:nvSpPr>
        <p:spPr>
          <a:xfrm>
            <a:off x="502920" y="2423160"/>
            <a:ext cx="3566160" cy="310896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82880" rIns="182880" bIns="137160" rtlCol="0" anchor="t">
            <a:normAutofit/>
          </a:bodyPr>
          <a:lstStyle/>
          <a:p>
            <a:pPr algn="l">
              <a:spcBef>
                <a:spcPts val="0"/>
              </a:spcBef>
              <a:spcAft>
                <a:spcPts val="800"/>
              </a:spcAft>
              <a:buNone/>
            </a:pPr>
            <a:r>
              <a:rPr lang="en-US" sz="1500" b="1" i="0" dirty="0">
                <a:solidFill>
                  <a:srgbClr val="193F61"/>
                </a:solidFill>
                <a:latin typeface="Calibri"/>
                <a:cs typeface="Calibri"/>
              </a:rPr>
              <a:t>Helsinki</a:t>
            </a:r>
          </a:p>
          <a:p>
            <a:pPr algn="l">
              <a:spcBef>
                <a:spcPts val="0"/>
              </a:spcBef>
              <a:spcAft>
                <a:spcPts val="100"/>
              </a:spcAft>
              <a:buNone/>
            </a:pPr>
            <a:r>
              <a:rPr lang="en-US" sz="1100" b="1" i="0" dirty="0">
                <a:solidFill>
                  <a:srgbClr val="4C886C"/>
                </a:solidFill>
                <a:latin typeface="Calibri"/>
                <a:cs typeface="Calibri"/>
              </a:rPr>
              <a:t>Owner support</a:t>
            </a:r>
          </a:p>
          <a:p>
            <a:pPr algn="l">
              <a:spcBef>
                <a:spcPts val="0"/>
              </a:spcBef>
              <a:spcAft>
                <a:spcPts val="800"/>
              </a:spcAft>
              <a:buNone/>
            </a:pPr>
            <a:r>
              <a:rPr lang="en-US" sz="1350" b="1" i="0" dirty="0">
                <a:solidFill>
                  <a:srgbClr val="1F2A37"/>
                </a:solidFill>
                <a:latin typeface="Calibri"/>
                <a:cs typeface="Calibri"/>
              </a:rPr>
              <a:t>Capital prepared</a:t>
            </a:r>
          </a:p>
          <a:p>
            <a:pPr algn="l">
              <a:spcBef>
                <a:spcPts val="0"/>
              </a:spcBef>
              <a:spcAft>
                <a:spcPts val="100"/>
              </a:spcAft>
              <a:buNone/>
            </a:pPr>
            <a:r>
              <a:rPr lang="en-US" sz="1100" b="1" i="0" dirty="0">
                <a:solidFill>
                  <a:srgbClr val="4C886C"/>
                </a:solidFill>
                <a:latin typeface="Calibri"/>
                <a:cs typeface="Calibri"/>
              </a:rPr>
              <a:t>Still outstanding / adverse</a:t>
            </a:r>
          </a:p>
          <a:p>
            <a:pPr algn="l">
              <a:spcBef>
                <a:spcPts val="0"/>
              </a:spcBef>
              <a:spcAft>
                <a:spcPts val="1000"/>
              </a:spcAft>
              <a:buNone/>
            </a:pPr>
            <a:r>
              <a:rPr lang="en-US" sz="1350" b="1" i="0" dirty="0">
                <a:solidFill>
                  <a:srgbClr val="1F2A37"/>
                </a:solidFill>
                <a:latin typeface="Calibri"/>
                <a:cs typeface="Calibri"/>
              </a:rPr>
              <a:t>Board: all alternatives commercially unattractive</a:t>
            </a:r>
          </a:p>
          <a:p>
            <a:pPr algn="l">
              <a:spcBef>
                <a:spcPts val="0"/>
              </a:spcBef>
              <a:spcAft>
                <a:spcPts val="0"/>
              </a:spcAft>
              <a:buNone/>
            </a:pPr>
            <a:r>
              <a:rPr lang="en-US" sz="1250" b="0" i="0" dirty="0">
                <a:solidFill>
                  <a:srgbClr val="1F2A37"/>
                </a:solidFill>
                <a:latin typeface="Calibri"/>
                <a:cs typeface="Calibri"/>
              </a:rPr>
              <a:t>Council selected the board's conditional preference: a less burdensome, staged pathway. Political authorisation adjusted the means, not the purpose.</a:t>
            </a:r>
          </a:p>
        </p:txBody>
      </p:sp>
      <p:sp>
        <p:nvSpPr>
          <p:cNvPr id="1124" name="Badge"/>
          <p:cNvSpPr/>
          <p:nvPr/>
        </p:nvSpPr>
        <p:spPr>
          <a:xfrm>
            <a:off x="3383280" y="2560320"/>
            <a:ext cx="502920" cy="502920"/>
          </a:xfrm>
          <a:prstGeom prst="ellipse">
            <a:avLst/>
          </a:prstGeom>
          <a:solidFill>
            <a:srgbClr val="193F61"/>
          </a:solidFill>
          <a:ln>
            <a:noFill/>
          </a:ln>
        </p:spPr>
        <p:txBody>
          <a:bodyPr wrap="square" lIns="0" tIns="0" rIns="0" bIns="0" rtlCol="0" anchor="ctr">
            <a:normAutofit/>
          </a:bodyPr>
          <a:lstStyle/>
          <a:p>
            <a:pPr algn="ctr">
              <a:spcBef>
                <a:spcPts val="0"/>
              </a:spcBef>
              <a:spcAft>
                <a:spcPts val="0"/>
              </a:spcAft>
              <a:buNone/>
            </a:pPr>
            <a:r>
              <a:rPr lang="en-US" sz="1800" b="1" i="0" dirty="0">
                <a:solidFill>
                  <a:srgbClr val="FFFFFF"/>
                </a:solidFill>
                <a:latin typeface="Calibri"/>
                <a:cs typeface="Calibri"/>
              </a:rPr>
              <a:t>H</a:t>
            </a:r>
          </a:p>
        </p:txBody>
      </p:sp>
      <p:sp>
        <p:nvSpPr>
          <p:cNvPr id="1125" name="Card"/>
          <p:cNvSpPr/>
          <p:nvPr/>
        </p:nvSpPr>
        <p:spPr>
          <a:xfrm>
            <a:off x="4297680" y="2423160"/>
            <a:ext cx="3566160" cy="310896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82880" rIns="182880" bIns="137160" rtlCol="0" anchor="t">
            <a:normAutofit/>
          </a:bodyPr>
          <a:lstStyle/>
          <a:p>
            <a:pPr algn="l">
              <a:spcBef>
                <a:spcPts val="0"/>
              </a:spcBef>
              <a:spcAft>
                <a:spcPts val="800"/>
              </a:spcAft>
              <a:buNone/>
            </a:pPr>
            <a:r>
              <a:rPr lang="en-US" sz="1500" b="1" i="0" dirty="0">
                <a:solidFill>
                  <a:srgbClr val="193F61"/>
                </a:solidFill>
                <a:latin typeface="Calibri"/>
                <a:cs typeface="Calibri"/>
              </a:rPr>
              <a:t>Aalborg</a:t>
            </a:r>
          </a:p>
          <a:p>
            <a:pPr algn="l">
              <a:spcBef>
                <a:spcPts val="0"/>
              </a:spcBef>
              <a:spcAft>
                <a:spcPts val="100"/>
              </a:spcAft>
              <a:buNone/>
            </a:pPr>
            <a:r>
              <a:rPr lang="en-US" sz="1100" b="1" i="0" dirty="0">
                <a:solidFill>
                  <a:srgbClr val="4C886C"/>
                </a:solidFill>
                <a:latin typeface="Calibri"/>
                <a:cs typeface="Calibri"/>
              </a:rPr>
              <a:t>Owner support</a:t>
            </a:r>
          </a:p>
          <a:p>
            <a:pPr algn="l">
              <a:spcBef>
                <a:spcPts val="0"/>
              </a:spcBef>
              <a:spcAft>
                <a:spcPts val="800"/>
              </a:spcAft>
              <a:buNone/>
            </a:pPr>
            <a:r>
              <a:rPr lang="en-US" sz="1350" b="1" i="0" dirty="0">
                <a:solidFill>
                  <a:srgbClr val="1F2A37"/>
                </a:solidFill>
                <a:latin typeface="Calibri"/>
                <a:cs typeface="Calibri"/>
              </a:rPr>
              <a:t>Guarantee DKK 385m for network</a:t>
            </a:r>
          </a:p>
          <a:p>
            <a:pPr algn="l">
              <a:spcBef>
                <a:spcPts val="0"/>
              </a:spcBef>
              <a:spcAft>
                <a:spcPts val="100"/>
              </a:spcAft>
              <a:buNone/>
            </a:pPr>
            <a:r>
              <a:rPr lang="en-US" sz="1100" b="1" i="0" dirty="0">
                <a:solidFill>
                  <a:srgbClr val="4C886C"/>
                </a:solidFill>
                <a:latin typeface="Calibri"/>
                <a:cs typeface="Calibri"/>
              </a:rPr>
              <a:t>Still outstanding / adverse</a:t>
            </a:r>
          </a:p>
          <a:p>
            <a:pPr algn="l">
              <a:spcBef>
                <a:spcPts val="0"/>
              </a:spcBef>
              <a:spcAft>
                <a:spcPts val="1000"/>
              </a:spcAft>
              <a:buNone/>
            </a:pPr>
            <a:r>
              <a:rPr lang="en-US" sz="1350" b="1" i="0" dirty="0">
                <a:solidFill>
                  <a:srgbClr val="1F2A37"/>
                </a:solidFill>
                <a:latin typeface="Calibri"/>
                <a:cs typeface="Calibri"/>
              </a:rPr>
              <a:t>Boiler costs assigned to the purchaser by agreement</a:t>
            </a:r>
          </a:p>
          <a:p>
            <a:pPr algn="l">
              <a:spcBef>
                <a:spcPts val="0"/>
              </a:spcBef>
              <a:spcAft>
                <a:spcPts val="0"/>
              </a:spcAft>
              <a:buNone/>
            </a:pPr>
            <a:r>
              <a:rPr lang="en-US" sz="1250" b="0" i="0" dirty="0">
                <a:solidFill>
                  <a:srgbClr val="1F2A37"/>
                </a:solidFill>
                <a:latin typeface="Calibri"/>
                <a:cs typeface="Calibri"/>
              </a:rPr>
              <a:t>The group company accepted the producer's costs through a supply agreement. Support and payment obligations sit at different corporate levels.</a:t>
            </a:r>
          </a:p>
        </p:txBody>
      </p:sp>
      <p:sp>
        <p:nvSpPr>
          <p:cNvPr id="1126" name="Badge"/>
          <p:cNvSpPr/>
          <p:nvPr/>
        </p:nvSpPr>
        <p:spPr>
          <a:xfrm>
            <a:off x="7178040" y="2560320"/>
            <a:ext cx="502920" cy="502920"/>
          </a:xfrm>
          <a:prstGeom prst="ellipse">
            <a:avLst/>
          </a:prstGeom>
          <a:solidFill>
            <a:srgbClr val="129152"/>
          </a:solidFill>
          <a:ln>
            <a:noFill/>
          </a:ln>
        </p:spPr>
        <p:txBody>
          <a:bodyPr wrap="square" lIns="0" tIns="0" rIns="0" bIns="0" rtlCol="0" anchor="ctr">
            <a:normAutofit/>
          </a:bodyPr>
          <a:lstStyle/>
          <a:p>
            <a:pPr algn="ctr">
              <a:spcBef>
                <a:spcPts val="0"/>
              </a:spcBef>
              <a:spcAft>
                <a:spcPts val="0"/>
              </a:spcAft>
              <a:buNone/>
            </a:pPr>
            <a:r>
              <a:rPr lang="en-US" sz="1800" b="1" i="0" dirty="0">
                <a:solidFill>
                  <a:srgbClr val="FFFFFF"/>
                </a:solidFill>
                <a:latin typeface="Calibri"/>
                <a:cs typeface="Calibri"/>
              </a:rPr>
              <a:t>A</a:t>
            </a:r>
          </a:p>
        </p:txBody>
      </p:sp>
      <p:sp>
        <p:nvSpPr>
          <p:cNvPr id="1127" name="Card"/>
          <p:cNvSpPr/>
          <p:nvPr/>
        </p:nvSpPr>
        <p:spPr>
          <a:xfrm>
            <a:off x="8092440" y="2423160"/>
            <a:ext cx="3566160" cy="310896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82880" rIns="182880" bIns="137160" rtlCol="0" anchor="t">
            <a:normAutofit/>
          </a:bodyPr>
          <a:lstStyle/>
          <a:p>
            <a:pPr algn="l">
              <a:spcBef>
                <a:spcPts val="0"/>
              </a:spcBef>
              <a:spcAft>
                <a:spcPts val="800"/>
              </a:spcAft>
              <a:buNone/>
            </a:pPr>
            <a:r>
              <a:rPr lang="en-US" sz="1500" b="1" i="0" dirty="0">
                <a:solidFill>
                  <a:srgbClr val="193F61"/>
                </a:solidFill>
                <a:latin typeface="Calibri"/>
                <a:cs typeface="Calibri"/>
              </a:rPr>
              <a:t>Sysav / Malmö</a:t>
            </a:r>
          </a:p>
          <a:p>
            <a:pPr algn="l">
              <a:spcBef>
                <a:spcPts val="0"/>
              </a:spcBef>
              <a:spcAft>
                <a:spcPts val="100"/>
              </a:spcAft>
              <a:buNone/>
            </a:pPr>
            <a:r>
              <a:rPr lang="en-US" sz="1100" b="1" i="0" dirty="0">
                <a:solidFill>
                  <a:srgbClr val="4C886C"/>
                </a:solidFill>
                <a:latin typeface="Calibri"/>
                <a:cs typeface="Calibri"/>
              </a:rPr>
              <a:t>Owner support</a:t>
            </a:r>
          </a:p>
          <a:p>
            <a:pPr algn="l">
              <a:spcBef>
                <a:spcPts val="0"/>
              </a:spcBef>
              <a:spcAft>
                <a:spcPts val="800"/>
              </a:spcAft>
              <a:buNone/>
            </a:pPr>
            <a:r>
              <a:rPr lang="en-US" sz="1350" b="1" i="0" dirty="0">
                <a:solidFill>
                  <a:srgbClr val="1F2A37"/>
                </a:solidFill>
                <a:latin typeface="Calibri"/>
                <a:cs typeface="Calibri"/>
              </a:rPr>
              <a:t>Guarantee ceiling ≈ SEK 1.2bn</a:t>
            </a:r>
          </a:p>
          <a:p>
            <a:pPr algn="l">
              <a:spcBef>
                <a:spcPts val="0"/>
              </a:spcBef>
              <a:spcAft>
                <a:spcPts val="100"/>
              </a:spcAft>
              <a:buNone/>
            </a:pPr>
            <a:r>
              <a:rPr lang="en-US" sz="1100" b="1" i="0" dirty="0">
                <a:solidFill>
                  <a:srgbClr val="4C886C"/>
                </a:solidFill>
                <a:latin typeface="Calibri"/>
                <a:cs typeface="Calibri"/>
              </a:rPr>
              <a:t>Still outstanding / adverse</a:t>
            </a:r>
          </a:p>
          <a:p>
            <a:pPr algn="l">
              <a:spcBef>
                <a:spcPts val="0"/>
              </a:spcBef>
              <a:spcAft>
                <a:spcPts val="1000"/>
              </a:spcAft>
              <a:buNone/>
            </a:pPr>
            <a:r>
              <a:rPr lang="en-US" sz="1350" b="1" i="0" dirty="0">
                <a:solidFill>
                  <a:srgbClr val="1F2A37"/>
                </a:solidFill>
                <a:latin typeface="Calibri"/>
                <a:cs typeface="Calibri"/>
              </a:rPr>
              <a:t>Contracted revenues and final approval still required</a:t>
            </a:r>
          </a:p>
          <a:p>
            <a:pPr algn="l">
              <a:spcBef>
                <a:spcPts val="0"/>
              </a:spcBef>
              <a:spcAft>
                <a:spcPts val="0"/>
              </a:spcAft>
              <a:buNone/>
            </a:pPr>
            <a:r>
              <a:rPr lang="en-US" sz="1250" b="0" i="0" dirty="0">
                <a:solidFill>
                  <a:srgbClr val="1F2A37"/>
                </a:solidFill>
                <a:latin typeface="Calibri"/>
                <a:cs typeface="Calibri"/>
              </a:rPr>
              <a:t>Malmö qualified its support: borrowing ceiling now, purchase subject to procurement compliance, decision in 2027.</a:t>
            </a:r>
          </a:p>
        </p:txBody>
      </p:sp>
      <p:sp>
        <p:nvSpPr>
          <p:cNvPr id="1128" name="Badge"/>
          <p:cNvSpPr/>
          <p:nvPr/>
        </p:nvSpPr>
        <p:spPr>
          <a:xfrm>
            <a:off x="10972800" y="2560320"/>
            <a:ext cx="502920" cy="502920"/>
          </a:xfrm>
          <a:prstGeom prst="ellipse">
            <a:avLst/>
          </a:prstGeom>
          <a:solidFill>
            <a:srgbClr val="EEBC37"/>
          </a:solidFill>
          <a:ln>
            <a:noFill/>
          </a:ln>
        </p:spPr>
        <p:txBody>
          <a:bodyPr wrap="square" lIns="0" tIns="0" rIns="0" bIns="0" rtlCol="0" anchor="ctr">
            <a:normAutofit/>
          </a:bodyPr>
          <a:lstStyle/>
          <a:p>
            <a:pPr algn="ctr">
              <a:spcBef>
                <a:spcPts val="0"/>
              </a:spcBef>
              <a:spcAft>
                <a:spcPts val="0"/>
              </a:spcAft>
              <a:buNone/>
            </a:pPr>
            <a:r>
              <a:rPr lang="en-US" sz="1800" b="1" i="0" dirty="0">
                <a:solidFill>
                  <a:srgbClr val="193F61"/>
                </a:solidFill>
                <a:latin typeface="Calibri"/>
                <a:cs typeface="Calibri"/>
              </a:rPr>
              <a:t>S</a:t>
            </a:r>
          </a:p>
        </p:txBody>
      </p:sp>
      <p:sp>
        <p:nvSpPr>
          <p:cNvPr id="1129" name="Card"/>
          <p:cNvSpPr/>
          <p:nvPr/>
        </p:nvSpPr>
        <p:spPr>
          <a:xfrm>
            <a:off x="502920" y="5669280"/>
            <a:ext cx="11155680" cy="548640"/>
          </a:xfrm>
          <a:prstGeom prst="roundRect">
            <a:avLst>
              <a:gd name="adj" fmla="val 3000"/>
            </a:avLst>
          </a:prstGeom>
          <a:solidFill>
            <a:srgbClr val="EEF3F8">
              <a:alpha val="96000"/>
            </a:srgbClr>
          </a:solidFill>
          <a:ln>
            <a:noFill/>
          </a:ln>
        </p:spPr>
        <p:txBody>
          <a:bodyPr wrap="square" lIns="164592" tIns="128016" rIns="164592" bIns="109728" rtlCol="0" anchor="ctr">
            <a:normAutofit/>
          </a:bodyPr>
          <a:lstStyle/>
          <a:p>
            <a:pPr algn="ctr">
              <a:spcBef>
                <a:spcPts val="0"/>
              </a:spcBef>
              <a:spcAft>
                <a:spcPts val="0"/>
              </a:spcAft>
              <a:buNone/>
            </a:pPr>
            <a:r>
              <a:rPr lang="en-US" sz="1450" b="1" i="0" dirty="0">
                <a:solidFill>
                  <a:srgbClr val="193F61"/>
                </a:solidFill>
                <a:latin typeface="Calibri"/>
                <a:cs typeface="Calibri"/>
              </a:rPr>
              <a:t>Owner support advances a proposal; it does not by itself settle the business case.</a:t>
            </a:r>
          </a:p>
        </p:txBody>
      </p:sp>
    </p:spTree>
    <p:extLst>
      <p:ext uri="{BB962C8B-B14F-4D97-AF65-F5344CB8AC3E}">
        <p14:creationId xmlns:p14="http://schemas.microsoft.com/office/powerpoint/2010/main" val="382855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130"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Finding 2: institutions entered through appraisals and purchasing conditions</a:t>
            </a:r>
          </a:p>
        </p:txBody>
      </p:sp>
      <p:sp>
        <p:nvSpPr>
          <p:cNvPr id="1131" name="Card"/>
          <p:cNvSpPr/>
          <p:nvPr/>
        </p:nvSpPr>
        <p:spPr>
          <a:xfrm>
            <a:off x="502920" y="1965960"/>
            <a:ext cx="3566160" cy="32461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82880" rIns="182880" bIns="137160" rtlCol="0" anchor="t">
            <a:normAutofit/>
          </a:bodyPr>
          <a:lstStyle/>
          <a:p>
            <a:pPr algn="l">
              <a:spcBef>
                <a:spcPts val="0"/>
              </a:spcBef>
              <a:spcAft>
                <a:spcPts val="800"/>
              </a:spcAft>
              <a:buNone/>
            </a:pPr>
            <a:r>
              <a:rPr lang="en-US" sz="1500" b="1" i="0" dirty="0">
                <a:solidFill>
                  <a:srgbClr val="193F61"/>
                </a:solidFill>
                <a:latin typeface="Calibri"/>
                <a:cs typeface="Calibri"/>
              </a:rPr>
              <a:t>Tariff and price rules</a:t>
            </a:r>
          </a:p>
          <a:p>
            <a:pPr algn="l" marL="201168" indent="-201168">
              <a:spcBef>
                <a:spcPts val="0"/>
              </a:spcBef>
              <a:spcAft>
                <a:spcPts val="600"/>
              </a:spcAft>
              <a:buClr>
                <a:srgbClr val="193F61"/>
              </a:buClr>
              <a:buFont typeface="Arial"/>
              <a:buChar char="•"/>
            </a:pPr>
            <a:r>
              <a:rPr lang="en-US" sz="1250" b="0" i="0" dirty="0">
                <a:solidFill>
                  <a:srgbClr val="1F2A37"/>
                </a:solidFill>
                <a:latin typeface="Calibri"/>
                <a:cs typeface="Calibri"/>
              </a:rPr>
              <a:t>Helen: limits on heat-price increases in the 2015 appraisal; Consumer Ombudsman required changes to price-rise procedures (KKV 2022).</a:t>
            </a:r>
          </a:p>
          <a:p>
            <a:pPr algn="l" marL="201168" indent="-201168">
              <a:spcBef>
                <a:spcPts val="0"/>
              </a:spcBef>
              <a:spcAft>
                <a:spcPts val="600"/>
              </a:spcAft>
              <a:buClr>
                <a:srgbClr val="193F61"/>
              </a:buClr>
              <a:buFont typeface="Arial"/>
              <a:buChar char="•"/>
            </a:pPr>
            <a:r>
              <a:rPr lang="en-US" sz="1250" b="0" i="0" dirty="0">
                <a:solidFill>
                  <a:srgbClr val="1F2A37"/>
                </a:solidFill>
                <a:latin typeface="Calibri"/>
                <a:cs typeface="Calibri"/>
              </a:rPr>
              <a:t>Denmark: necessary costs may enter tariffs (§§20–21); Vest abandoned on the excess-heat cap as then understood, corrected a month later.</a:t>
            </a:r>
          </a:p>
        </p:txBody>
      </p:sp>
      <p:sp>
        <p:nvSpPr>
          <p:cNvPr id="1132" name="Tag"/>
          <p:cNvSpPr/>
          <p:nvPr/>
        </p:nvSpPr>
        <p:spPr>
          <a:xfrm>
            <a:off x="685800" y="4800600"/>
            <a:ext cx="3200400" cy="310896"/>
          </a:xfrm>
          <a:prstGeom prst="roundRect">
            <a:avLst>
              <a:gd name="adj" fmla="val 25000"/>
            </a:avLst>
          </a:prstGeom>
          <a:solidFill>
            <a:srgbClr val="193F61"/>
          </a:solidFill>
          <a:ln>
            <a:noFill/>
          </a:ln>
        </p:spPr>
        <p:txBody>
          <a:bodyPr wrap="square" lIns="91440" tIns="54864" rIns="91440" bIns="54864" rtlCol="0" anchor="ctr">
            <a:normAutofit/>
          </a:bodyPr>
          <a:lstStyle/>
          <a:p>
            <a:pPr algn="ctr">
              <a:spcBef>
                <a:spcPts val="0"/>
              </a:spcBef>
              <a:spcAft>
                <a:spcPts val="0"/>
              </a:spcAft>
              <a:buNone/>
            </a:pPr>
            <a:r>
              <a:rPr lang="en-US" sz="1150" b="1" i="0" dirty="0">
                <a:solidFill>
                  <a:srgbClr val="FFFFFF"/>
                </a:solidFill>
                <a:latin typeface="Calibri"/>
                <a:cs typeface="Calibri"/>
              </a:rPr>
              <a:t>Appraised tariff capacity</a:t>
            </a:r>
          </a:p>
        </p:txBody>
      </p:sp>
      <p:sp>
        <p:nvSpPr>
          <p:cNvPr id="1133" name="Card"/>
          <p:cNvSpPr/>
          <p:nvPr/>
        </p:nvSpPr>
        <p:spPr>
          <a:xfrm>
            <a:off x="4297680" y="1965960"/>
            <a:ext cx="3566160" cy="32461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82880" rIns="182880" bIns="137160" rtlCol="0" anchor="t">
            <a:normAutofit/>
          </a:bodyPr>
          <a:lstStyle/>
          <a:p>
            <a:pPr algn="l">
              <a:spcBef>
                <a:spcPts val="0"/>
              </a:spcBef>
              <a:spcAft>
                <a:spcPts val="800"/>
              </a:spcAft>
              <a:buNone/>
            </a:pPr>
            <a:r>
              <a:rPr lang="en-US" sz="1500" b="1" i="0" dirty="0">
                <a:solidFill>
                  <a:srgbClr val="129152"/>
                </a:solidFill>
                <a:latin typeface="Calibri"/>
                <a:cs typeface="Calibri"/>
              </a:rPr>
              <a:t>Supply agreements between companies</a:t>
            </a:r>
          </a:p>
          <a:p>
            <a:pPr algn="l" marL="201168" indent="-201168">
              <a:spcBef>
                <a:spcPts val="0"/>
              </a:spcBef>
              <a:spcAft>
                <a:spcPts val="600"/>
              </a:spcAft>
              <a:buClr>
                <a:srgbClr val="129152"/>
              </a:buClr>
              <a:buFont typeface="Arial"/>
              <a:buChar char="•"/>
            </a:pPr>
            <a:r>
              <a:rPr lang="en-US" sz="1250" b="0" i="0" dirty="0">
                <a:solidFill>
                  <a:srgbClr val="1F2A37"/>
                </a:solidFill>
                <a:latin typeface="Calibri"/>
                <a:cs typeface="Calibri"/>
              </a:rPr>
              <a:t>Aalborg Varme covers Nordjyllandsværket's fixed capacity and variable operating costs at self-cost for the 150 MW boiler.</a:t>
            </a:r>
          </a:p>
          <a:p>
            <a:pPr algn="l" marL="201168" indent="-201168">
              <a:spcBef>
                <a:spcPts val="0"/>
              </a:spcBef>
              <a:spcAft>
                <a:spcPts val="600"/>
              </a:spcAft>
              <a:buClr>
                <a:srgbClr val="129152"/>
              </a:buClr>
              <a:buFont typeface="Arial"/>
              <a:buChar char="•"/>
            </a:pPr>
            <a:r>
              <a:rPr lang="en-US" sz="1250" b="0" i="0" dirty="0">
                <a:solidFill>
                  <a:srgbClr val="1F2A37"/>
                </a:solidFill>
                <a:latin typeface="Calibri"/>
                <a:cs typeface="Calibri"/>
              </a:rPr>
              <a:t>Duration and continuity obligations are not specified in the cited reports; the agreement identifies the payer, not the full recovery.</a:t>
            </a:r>
          </a:p>
        </p:txBody>
      </p:sp>
      <p:sp>
        <p:nvSpPr>
          <p:cNvPr id="1134" name="Tag"/>
          <p:cNvSpPr/>
          <p:nvPr/>
        </p:nvSpPr>
        <p:spPr>
          <a:xfrm>
            <a:off x="4480560" y="4800600"/>
            <a:ext cx="3200400" cy="310896"/>
          </a:xfrm>
          <a:prstGeom prst="roundRect">
            <a:avLst>
              <a:gd name="adj" fmla="val 25000"/>
            </a:avLst>
          </a:prstGeom>
          <a:solidFill>
            <a:srgbClr val="129152"/>
          </a:solidFill>
          <a:ln>
            <a:noFill/>
          </a:ln>
        </p:spPr>
        <p:txBody>
          <a:bodyPr wrap="square" lIns="91440" tIns="54864" rIns="91440" bIns="54864" rtlCol="0" anchor="ctr">
            <a:normAutofit/>
          </a:bodyPr>
          <a:lstStyle/>
          <a:p>
            <a:pPr algn="ctr">
              <a:spcBef>
                <a:spcPts val="0"/>
              </a:spcBef>
              <a:spcAft>
                <a:spcPts val="0"/>
              </a:spcAft>
              <a:buNone/>
            </a:pPr>
            <a:r>
              <a:rPr lang="en-US" sz="1150" b="1" i="0" dirty="0">
                <a:solidFill>
                  <a:srgbClr val="FFFFFF"/>
                </a:solidFill>
                <a:latin typeface="Calibri"/>
                <a:cs typeface="Calibri"/>
              </a:rPr>
              <a:t>Contractual cost allocation</a:t>
            </a:r>
          </a:p>
        </p:txBody>
      </p:sp>
      <p:sp>
        <p:nvSpPr>
          <p:cNvPr id="1135" name="Card"/>
          <p:cNvSpPr/>
          <p:nvPr/>
        </p:nvSpPr>
        <p:spPr>
          <a:xfrm>
            <a:off x="8092440" y="1965960"/>
            <a:ext cx="3566160" cy="32461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82880" rIns="182880" bIns="137160" rtlCol="0" anchor="t">
            <a:normAutofit/>
          </a:bodyPr>
          <a:lstStyle/>
          <a:p>
            <a:pPr algn="l">
              <a:spcBef>
                <a:spcPts val="0"/>
              </a:spcBef>
              <a:spcAft>
                <a:spcPts val="800"/>
              </a:spcAft>
              <a:buNone/>
            </a:pPr>
            <a:r>
              <a:rPr lang="en-US" sz="1500" b="1" i="0" dirty="0">
                <a:solidFill>
                  <a:srgbClr val="4C886C"/>
                </a:solidFill>
                <a:latin typeface="Calibri"/>
                <a:cs typeface="Calibri"/>
              </a:rPr>
              <a:t>Procurement rules</a:t>
            </a:r>
          </a:p>
          <a:p>
            <a:pPr algn="l" marL="201168" indent="-201168">
              <a:spcBef>
                <a:spcPts val="0"/>
              </a:spcBef>
              <a:spcAft>
                <a:spcPts val="600"/>
              </a:spcAft>
              <a:buClr>
                <a:srgbClr val="4C886C"/>
              </a:buClr>
              <a:buFont typeface="Arial"/>
              <a:buChar char="•"/>
            </a:pPr>
            <a:r>
              <a:rPr lang="en-US" sz="1250" b="0" i="0" dirty="0">
                <a:solidFill>
                  <a:srgbClr val="1F2A37"/>
                </a:solidFill>
                <a:latin typeface="Calibri"/>
                <a:cs typeface="Calibri"/>
              </a:rPr>
              <a:t>Malmö's purchase of carbon removals conditional on procurement compliance, final investment approval and legally effective decisions.</a:t>
            </a:r>
          </a:p>
          <a:p>
            <a:pPr algn="l" marL="201168" indent="-201168">
              <a:spcBef>
                <a:spcPts val="0"/>
              </a:spcBef>
              <a:spcAft>
                <a:spcPts val="600"/>
              </a:spcAft>
              <a:buClr>
                <a:srgbClr val="4C886C"/>
              </a:buClr>
              <a:buFont typeface="Arial"/>
              <a:buChar char="•"/>
            </a:pPr>
            <a:r>
              <a:rPr lang="en-US" sz="1250" b="0" i="0" dirty="0">
                <a:solidFill>
                  <a:srgbClr val="1F2A37"/>
                </a:solidFill>
                <a:latin typeface="Calibri"/>
                <a:cs typeface="Calibri"/>
              </a:rPr>
              <a:t>In-house award (Teckal) requires &gt;80% entrusted activity; Malmö linked its condition to CJEU C-692/23 (Jan 2026).</a:t>
            </a:r>
          </a:p>
        </p:txBody>
      </p:sp>
      <p:sp>
        <p:nvSpPr>
          <p:cNvPr id="1136" name="Tag"/>
          <p:cNvSpPr/>
          <p:nvPr/>
        </p:nvSpPr>
        <p:spPr>
          <a:xfrm>
            <a:off x="8275320" y="4800600"/>
            <a:ext cx="3200400" cy="310896"/>
          </a:xfrm>
          <a:prstGeom prst="roundRect">
            <a:avLst>
              <a:gd name="adj" fmla="val 25000"/>
            </a:avLst>
          </a:prstGeom>
          <a:solidFill>
            <a:srgbClr val="4C886C"/>
          </a:solidFill>
          <a:ln>
            <a:noFill/>
          </a:ln>
        </p:spPr>
        <p:txBody>
          <a:bodyPr wrap="square" lIns="91440" tIns="54864" rIns="91440" bIns="54864" rtlCol="0" anchor="ctr">
            <a:normAutofit/>
          </a:bodyPr>
          <a:lstStyle/>
          <a:p>
            <a:pPr algn="ctr">
              <a:spcBef>
                <a:spcPts val="0"/>
              </a:spcBef>
              <a:spcAft>
                <a:spcPts val="0"/>
              </a:spcAft>
              <a:buNone/>
            </a:pPr>
            <a:r>
              <a:rPr lang="en-US" sz="1150" b="1" i="0" dirty="0">
                <a:solidFill>
                  <a:srgbClr val="FFFFFF"/>
                </a:solidFill>
                <a:latin typeface="Calibri"/>
                <a:cs typeface="Calibri"/>
              </a:rPr>
              <a:t>Conditional purchasing</a:t>
            </a:r>
          </a:p>
        </p:txBody>
      </p:sp>
      <p:sp>
        <p:nvSpPr>
          <p:cNvPr id="1137" name="Card"/>
          <p:cNvSpPr/>
          <p:nvPr/>
        </p:nvSpPr>
        <p:spPr>
          <a:xfrm>
            <a:off x="502920" y="5394960"/>
            <a:ext cx="11155680" cy="822960"/>
          </a:xfrm>
          <a:prstGeom prst="roundRect">
            <a:avLst>
              <a:gd name="adj" fmla="val 3000"/>
            </a:avLst>
          </a:prstGeom>
          <a:solidFill>
            <a:srgbClr val="EEF3F8">
              <a:alpha val="96000"/>
            </a:srgbClr>
          </a:solidFill>
          <a:ln>
            <a:noFill/>
          </a:ln>
        </p:spPr>
        <p:txBody>
          <a:bodyPr wrap="square" lIns="164592" tIns="128016" rIns="164592" bIns="109728" rtlCol="0" anchor="ctr">
            <a:normAutofit/>
          </a:bodyPr>
          <a:lstStyle/>
          <a:p>
            <a:pPr algn="l">
              <a:spcBef>
                <a:spcPts val="0"/>
              </a:spcBef>
              <a:spcAft>
                <a:spcPts val="0"/>
              </a:spcAft>
              <a:buNone/>
            </a:pPr>
            <a:r>
              <a:rPr lang="en-US" sz="1400" b="1" i="0" dirty="0">
                <a:solidFill>
                  <a:srgbClr val="193F61"/>
                </a:solidFill>
                <a:latin typeface="Calibri"/>
                <a:cs typeface="Calibri"/>
              </a:rPr>
              <a:t xml:space="preserve">Caveat: </a:t>
            </a:r>
            <a:r>
              <a:rPr lang="en-US" sz="1350" b="0" i="0" dirty="0">
                <a:solidFill>
                  <a:srgbClr val="1F2A37"/>
                </a:solidFill>
                <a:latin typeface="Calibri"/>
                <a:cs typeface="Calibri"/>
              </a:rPr>
              <a:t>the presence of a rule does not establish that an investment's full costs will be recovered. The evidence of institutional influence lies in the specific assessment or condition, read against the rule as understood at the time.</a:t>
            </a:r>
          </a:p>
        </p:txBody>
      </p:sp>
    </p:spTree>
    <p:extLst>
      <p:ext uri="{BB962C8B-B14F-4D97-AF65-F5344CB8AC3E}">
        <p14:creationId xmlns:p14="http://schemas.microsoft.com/office/powerpoint/2010/main" val="382855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138"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Contribution and implications</a:t>
            </a:r>
          </a:p>
        </p:txBody>
      </p:sp>
      <p:sp>
        <p:nvSpPr>
          <p:cNvPr id="1139" name="Card"/>
          <p:cNvSpPr/>
          <p:nvPr/>
        </p:nvSpPr>
        <p:spPr>
          <a:xfrm>
            <a:off x="502920" y="1965960"/>
            <a:ext cx="5486400" cy="201168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46304" rIns="182880" bIns="109728" rtlCol="0" anchor="t">
            <a:normAutofit/>
          </a:bodyPr>
          <a:lstStyle/>
          <a:p>
            <a:pPr algn="l">
              <a:spcBef>
                <a:spcPts val="0"/>
              </a:spcBef>
              <a:spcAft>
                <a:spcPts val="600"/>
              </a:spcAft>
              <a:buNone/>
            </a:pPr>
            <a:r>
              <a:rPr lang="en-US" sz="1400" b="1" i="0" dirty="0">
                <a:solidFill>
                  <a:srgbClr val="193F61"/>
                </a:solidFill>
                <a:latin typeface="Calibri"/>
                <a:cs typeface="Calibri"/>
              </a:rPr>
              <a:t>To the multiple-principals literature</a:t>
            </a:r>
          </a:p>
          <a:p>
            <a:pPr algn="l">
              <a:spcBef>
                <a:spcPts val="0"/>
              </a:spcBef>
              <a:spcAft>
                <a:spcPts val="0"/>
              </a:spcAft>
              <a:buNone/>
            </a:pPr>
            <a:r>
              <a:rPr lang="en-US" sz="1250" b="0" i="0" dirty="0">
                <a:solidFill>
                  <a:srgbClr val="1F2A37"/>
                </a:solidFill>
                <a:latin typeface="Calibri"/>
                <a:cs typeface="Calibri"/>
              </a:rPr>
              <a:t>Agreement on direction can coexist with different positions on the obligations needed to act (refining Voorn et al. 2019; Voorn &amp; van Genugten 2022). Agreement among public actors must be examined at the level of expenditure and income, not only objectives. Even within one municipal group, common ownership leaves the payment obligation to be specified by contract.</a:t>
            </a:r>
          </a:p>
        </p:txBody>
      </p:sp>
      <p:sp>
        <p:nvSpPr>
          <p:cNvPr id="1140" name="Card"/>
          <p:cNvSpPr/>
          <p:nvPr/>
        </p:nvSpPr>
        <p:spPr>
          <a:xfrm>
            <a:off x="6172200" y="1965960"/>
            <a:ext cx="5486400" cy="201168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46304" rIns="182880" bIns="109728" rtlCol="0" anchor="t">
            <a:normAutofit/>
          </a:bodyPr>
          <a:lstStyle/>
          <a:p>
            <a:pPr algn="l">
              <a:spcBef>
                <a:spcPts val="0"/>
              </a:spcBef>
              <a:spcAft>
                <a:spcPts val="600"/>
              </a:spcAft>
              <a:buNone/>
            </a:pPr>
            <a:r>
              <a:rPr lang="en-US" sz="1400" b="1" i="0" dirty="0">
                <a:solidFill>
                  <a:srgbClr val="129152"/>
                </a:solidFill>
                <a:latin typeface="Calibri"/>
                <a:cs typeface="Calibri"/>
              </a:rPr>
              <a:t>To public service ecosystem research</a:t>
            </a:r>
          </a:p>
          <a:p>
            <a:pPr algn="l">
              <a:spcBef>
                <a:spcPts val="0"/>
              </a:spcBef>
              <a:spcAft>
                <a:spcPts val="0"/>
              </a:spcAft>
              <a:buNone/>
            </a:pPr>
            <a:r>
              <a:rPr lang="en-US" sz="1250" b="0" i="0" dirty="0">
                <a:solidFill>
                  <a:srgbClr val="1F2A37"/>
                </a:solidFill>
                <a:latin typeface="Calibri"/>
                <a:cs typeface="Calibri"/>
              </a:rPr>
              <a:t>Mediation of public values here takes a material and financial form: which production option a council accepts, which company pays for heat, on what terms a municipality may buy carbon removals. Agreement on an environmental purpose coexists with disagreement about acceptable cost. Service continuity (replacement heat before closure) is a condition of the transition pathway.</a:t>
            </a:r>
          </a:p>
        </p:txBody>
      </p:sp>
      <p:sp>
        <p:nvSpPr>
          <p:cNvPr id="1141" name="Card"/>
          <p:cNvSpPr/>
          <p:nvPr/>
        </p:nvSpPr>
        <p:spPr>
          <a:xfrm>
            <a:off x="502920" y="4160520"/>
            <a:ext cx="5486400" cy="205740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46304" rIns="182880" bIns="109728" rtlCol="0" anchor="t">
            <a:normAutofit/>
          </a:bodyPr>
          <a:lstStyle/>
          <a:p>
            <a:pPr algn="l">
              <a:spcBef>
                <a:spcPts val="0"/>
              </a:spcBef>
              <a:spcAft>
                <a:spcPts val="600"/>
              </a:spcAft>
              <a:buNone/>
            </a:pPr>
            <a:r>
              <a:rPr lang="en-US" sz="1400" b="1" i="0" dirty="0">
                <a:solidFill>
                  <a:srgbClr val="4C886C"/>
                </a:solidFill>
                <a:latin typeface="Calibri"/>
                <a:cs typeface="Calibri"/>
              </a:rPr>
              <a:t>On investability</a:t>
            </a:r>
          </a:p>
          <a:p>
            <a:pPr algn="l">
              <a:spcBef>
                <a:spcPts val="0"/>
              </a:spcBef>
              <a:spcAft>
                <a:spcPts val="0"/>
              </a:spcAft>
              <a:buNone/>
            </a:pPr>
            <a:r>
              <a:rPr lang="en-US" sz="1250" b="0" i="0" dirty="0">
                <a:solidFill>
                  <a:srgbClr val="1F2A37"/>
                </a:solidFill>
                <a:latin typeface="Calibri"/>
                <a:cs typeface="Calibri"/>
              </a:rPr>
              <a:t>Its value lies less in classifying projects as investable or not than in separating the commitments that make investment possible. Owner support did not settle recovery in Helsinki or SkyZero; Aalborg's agreement shows a purchaser taking responsibility for production costs. Incomplete records do not license the inference that municipal ownership relaxes financing constraints.</a:t>
            </a:r>
          </a:p>
        </p:txBody>
      </p:sp>
      <p:sp>
        <p:nvSpPr>
          <p:cNvPr id="1142" name="Card"/>
          <p:cNvSpPr/>
          <p:nvPr/>
        </p:nvSpPr>
        <p:spPr>
          <a:xfrm>
            <a:off x="6172200" y="4160520"/>
            <a:ext cx="5486400" cy="2057400"/>
          </a:xfrm>
          <a:prstGeom prst="roundRect">
            <a:avLst>
              <a:gd name="adj" fmla="val 3000"/>
            </a:avLst>
          </a:prstGeom>
          <a:solidFill>
            <a:srgbClr val="EEF3F8">
              <a:alpha val="96000"/>
            </a:srgbClr>
          </a:solidFill>
          <a:ln>
            <a:noFill/>
          </a:ln>
          <a:effectLst>
            <a:outerShdw blurRad="63500" dist="25400" dir="5400000" algn="t" rotWithShape="0">
              <a:srgbClr val="193F61">
                <a:alpha val="18000"/>
              </a:srgbClr>
            </a:outerShdw>
          </a:effectLst>
        </p:spPr>
        <p:txBody>
          <a:bodyPr wrap="square" lIns="182880" tIns="146304" rIns="182880" bIns="109728" rtlCol="0" anchor="t">
            <a:normAutofit/>
          </a:bodyPr>
          <a:lstStyle/>
          <a:p>
            <a:pPr algn="l">
              <a:spcBef>
                <a:spcPts val="0"/>
              </a:spcBef>
              <a:spcAft>
                <a:spcPts val="600"/>
              </a:spcAft>
              <a:buNone/>
            </a:pPr>
            <a:r>
              <a:rPr lang="en-US" sz="1400" b="1" i="0" dirty="0">
                <a:solidFill>
                  <a:srgbClr val="EEBC37"/>
                </a:solidFill>
                <a:latin typeface="Calibri"/>
                <a:cs typeface="Calibri"/>
              </a:rPr>
              <a:t>Managerial implication: make the scope of a commitment explicit</a:t>
            </a:r>
          </a:p>
          <a:p>
            <a:pPr algn="l" marL="201168" indent="-201168">
              <a:spcBef>
                <a:spcPts val="0"/>
              </a:spcBef>
              <a:spcAft>
                <a:spcPts val="200"/>
              </a:spcAft>
              <a:buClr>
                <a:srgbClr val="EEBC37"/>
              </a:buClr>
              <a:buFont typeface="Arial"/>
              <a:buChar char="•"/>
            </a:pPr>
            <a:r>
              <a:rPr lang="en-US" sz="1250" b="0" i="0" dirty="0">
                <a:solidFill>
                  <a:srgbClr val="1F2A37"/>
                </a:solidFill>
                <a:latin typeface="Calibri"/>
                <a:cs typeface="Calibri"/>
              </a:rPr>
              <a:t>the alternatives considered</a:t>
            </a:r>
          </a:p>
          <a:p>
            <a:pPr algn="l" marL="201168" indent="-201168">
              <a:spcBef>
                <a:spcPts val="0"/>
              </a:spcBef>
              <a:spcAft>
                <a:spcPts val="200"/>
              </a:spcAft>
              <a:buClr>
                <a:srgbClr val="EEBC37"/>
              </a:buClr>
              <a:buFont typeface="Arial"/>
              <a:buChar char="•"/>
            </a:pPr>
            <a:r>
              <a:rPr lang="en-US" sz="1250" b="0" i="0" dirty="0">
                <a:solidFill>
                  <a:srgbClr val="1F2A37"/>
                </a:solidFill>
                <a:latin typeface="Calibri"/>
                <a:cs typeface="Calibri"/>
              </a:rPr>
              <a:t>the party accepting each cost</a:t>
            </a:r>
          </a:p>
          <a:p>
            <a:pPr algn="l" marL="201168" indent="-201168">
              <a:spcBef>
                <a:spcPts val="0"/>
              </a:spcBef>
              <a:spcAft>
                <a:spcPts val="200"/>
              </a:spcAft>
              <a:buClr>
                <a:srgbClr val="EEBC37"/>
              </a:buClr>
              <a:buFont typeface="Arial"/>
              <a:buChar char="•"/>
            </a:pPr>
            <a:r>
              <a:rPr lang="en-US" sz="1250" b="0" i="0" dirty="0">
                <a:solidFill>
                  <a:srgbClr val="1F2A37"/>
                </a:solidFill>
                <a:latin typeface="Calibri"/>
                <a:cs typeface="Calibri"/>
              </a:rPr>
              <a:t>the revenue conditions</a:t>
            </a:r>
          </a:p>
          <a:p>
            <a:pPr algn="l" marL="201168" indent="-201168">
              <a:spcBef>
                <a:spcPts val="0"/>
              </a:spcBef>
              <a:spcAft>
                <a:spcPts val="200"/>
              </a:spcAft>
              <a:buClr>
                <a:srgbClr val="EEBC37"/>
              </a:buClr>
              <a:buFont typeface="Arial"/>
              <a:buChar char="•"/>
            </a:pPr>
            <a:r>
              <a:rPr lang="en-US" sz="1250" b="0" i="0" dirty="0">
                <a:solidFill>
                  <a:srgbClr val="1F2A37"/>
                </a:solidFill>
                <a:latin typeface="Calibri"/>
                <a:cs typeface="Calibri"/>
              </a:rPr>
              <a:t>the decisions still outstanding</a:t>
            </a:r>
          </a:p>
          <a:p>
            <a:pPr algn="l">
              <a:spcBef>
                <a:spcPts val="400"/>
              </a:spcBef>
              <a:spcAft>
                <a:spcPts val="0"/>
              </a:spcAft>
              <a:buNone/>
            </a:pPr>
            <a:r>
              <a:rPr lang="en-US" sz="1250" b="0" i="0" dirty="0">
                <a:solidFill>
                  <a:srgbClr val="1F2A37"/>
                </a:solidFill>
                <a:latin typeface="Calibri"/>
                <a:cs typeface="Calibri"/>
              </a:rPr>
              <a:t>This allows scrutiny of exposure while a common purpose stays politically supported. Where rules affect recovery or purchasing, their interpretation belongs in the appraisal.</a:t>
            </a:r>
          </a:p>
        </p:txBody>
      </p:sp>
    </p:spTree>
    <p:extLst>
      <p:ext uri="{BB962C8B-B14F-4D97-AF65-F5344CB8AC3E}">
        <p14:creationId xmlns:p14="http://schemas.microsoft.com/office/powerpoint/2010/main" val="382855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143"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Limitations and next steps</a:t>
            </a:r>
          </a:p>
        </p:txBody>
      </p:sp>
      <p:sp>
        <p:nvSpPr>
          <p:cNvPr id="1144" name="Card"/>
          <p:cNvSpPr/>
          <p:nvPr/>
        </p:nvSpPr>
        <p:spPr>
          <a:xfrm>
            <a:off x="502920" y="1965960"/>
            <a:ext cx="5486400" cy="39319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46304" rIns="182880" bIns="109728" rtlCol="0" anchor="t">
            <a:normAutofit/>
          </a:bodyPr>
          <a:lstStyle/>
          <a:p>
            <a:pPr algn="l">
              <a:spcBef>
                <a:spcPts val="0"/>
              </a:spcBef>
              <a:spcAft>
                <a:spcPts val="600"/>
              </a:spcAft>
              <a:buNone/>
            </a:pPr>
            <a:r>
              <a:rPr lang="en-US" sz="1400" b="1" i="0" dirty="0">
                <a:solidFill>
                  <a:srgbClr val="193F61"/>
                </a:solidFill>
                <a:latin typeface="Calibri"/>
                <a:cs typeface="Calibri"/>
              </a:rPr>
              <a:t>Limits of the evidence</a:t>
            </a:r>
          </a:p>
          <a:p>
            <a:pPr algn="l" marL="201168" indent="-201168">
              <a:spcBef>
                <a:spcPts val="0"/>
              </a:spcBef>
              <a:spcAft>
                <a:spcPts val="600"/>
              </a:spcAft>
              <a:buClr>
                <a:srgbClr val="4C886C"/>
              </a:buClr>
              <a:buFont typeface="Arial"/>
              <a:buChar char="•"/>
            </a:pPr>
            <a:r>
              <a:rPr lang="en-US" sz="1250" b="0" i="0" dirty="0">
                <a:solidFill>
                  <a:srgbClr val="1F2A37"/>
                </a:solidFill>
                <a:latin typeface="Calibri"/>
                <a:cs typeface="Calibri"/>
              </a:rPr>
              <a:t>Documentary accounts capture formal decisions and reported explanations more readily than informal negotiation.</a:t>
            </a:r>
          </a:p>
          <a:p>
            <a:pPr algn="l" marL="201168" indent="-201168">
              <a:spcBef>
                <a:spcPts val="0"/>
              </a:spcBef>
              <a:spcAft>
                <a:spcPts val="600"/>
              </a:spcAft>
              <a:buClr>
                <a:srgbClr val="4C886C"/>
              </a:buClr>
              <a:buFont typeface="Arial"/>
              <a:buChar char="•"/>
            </a:pPr>
            <a:r>
              <a:rPr lang="en-US" sz="1250" b="0" i="0" dirty="0">
                <a:solidFill>
                  <a:srgbClr val="1F2A37"/>
                </a:solidFill>
                <a:latin typeface="Calibri"/>
                <a:cs typeface="Calibri"/>
              </a:rPr>
              <a:t>Evidence is uneven across projects and stages; several financing or recovery cells remain blank.</a:t>
            </a:r>
          </a:p>
          <a:p>
            <a:pPr algn="l" marL="201168" indent="-201168">
              <a:spcBef>
                <a:spcPts val="0"/>
              </a:spcBef>
              <a:spcAft>
                <a:spcPts val="600"/>
              </a:spcAft>
              <a:buClr>
                <a:srgbClr val="4C886C"/>
              </a:buClr>
              <a:buFont typeface="Arial"/>
              <a:buChar char="•"/>
            </a:pPr>
            <a:r>
              <a:rPr lang="en-US" sz="1250" b="0" i="0" dirty="0">
                <a:solidFill>
                  <a:srgbClr val="1F2A37"/>
                </a:solidFill>
                <a:latin typeface="Calibri"/>
                <a:cs typeface="Calibri"/>
              </a:rPr>
              <a:t>National effects are not isolated; the comparison identifies institutional channels in specific decisions, not country outcomes.</a:t>
            </a:r>
          </a:p>
          <a:p>
            <a:pPr algn="l" marL="201168" indent="-201168">
              <a:spcBef>
                <a:spcPts val="0"/>
              </a:spcBef>
              <a:spcAft>
                <a:spcPts val="600"/>
              </a:spcAft>
              <a:buClr>
                <a:srgbClr val="4C886C"/>
              </a:buClr>
              <a:buFont typeface="Arial"/>
              <a:buChar char="•"/>
            </a:pPr>
            <a:r>
              <a:rPr lang="en-US" sz="1250" b="0" i="0" dirty="0">
                <a:solidFill>
                  <a:srgbClr val="1F2A37"/>
                </a:solidFill>
                <a:latin typeface="Calibri"/>
                <a:cs typeface="Calibri"/>
              </a:rPr>
              <a:t>Reported operating costs (Helen 2025) need a different assessment from the return attributable to an earlier choice.</a:t>
            </a:r>
          </a:p>
          <a:p>
            <a:pPr algn="l" marL="201168" indent="-201168">
              <a:spcBef>
                <a:spcPts val="0"/>
              </a:spcBef>
              <a:spcAft>
                <a:spcPts val="600"/>
              </a:spcAft>
              <a:buClr>
                <a:srgbClr val="4C886C"/>
              </a:buClr>
              <a:buFont typeface="Arial"/>
              <a:buChar char="•"/>
            </a:pPr>
            <a:r>
              <a:rPr lang="en-US" sz="1250" b="0" i="0" dirty="0">
                <a:solidFill>
                  <a:srgbClr val="1F2A37"/>
                </a:solidFill>
                <a:latin typeface="Calibri"/>
                <a:cs typeface="Calibri"/>
              </a:rPr>
              <a:t>Revisability claims (Helsinki staging, Siptex sale) would need revised costs, revenues and accepted exposure from the same project.</a:t>
            </a:r>
          </a:p>
        </p:txBody>
      </p:sp>
      <p:sp>
        <p:nvSpPr>
          <p:cNvPr id="1145" name="Card"/>
          <p:cNvSpPr/>
          <p:nvPr/>
        </p:nvSpPr>
        <p:spPr>
          <a:xfrm>
            <a:off x="6172200" y="1965960"/>
            <a:ext cx="5486400" cy="393192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182880" tIns="146304" rIns="182880" bIns="109728" rtlCol="0" anchor="t">
            <a:normAutofit/>
          </a:bodyPr>
          <a:lstStyle/>
          <a:p>
            <a:pPr algn="l">
              <a:spcBef>
                <a:spcPts val="0"/>
              </a:spcBef>
              <a:spcAft>
                <a:spcPts val="600"/>
              </a:spcAft>
              <a:buNone/>
            </a:pPr>
            <a:r>
              <a:rPr lang="en-US" sz="1400" b="1" i="0" dirty="0">
                <a:solidFill>
                  <a:srgbClr val="129152"/>
                </a:solidFill>
                <a:latin typeface="Calibri"/>
                <a:cs typeface="Calibri"/>
              </a:rPr>
              <a:t>Next steps</a:t>
            </a:r>
          </a:p>
          <a:p>
            <a:pPr algn="l" marL="201168" indent="-201168">
              <a:spcBef>
                <a:spcPts val="0"/>
              </a:spcBef>
              <a:spcAft>
                <a:spcPts val="600"/>
              </a:spcAft>
              <a:buClr>
                <a:srgbClr val="129152"/>
              </a:buClr>
              <a:buFont typeface="Arial"/>
              <a:buChar char="•"/>
            </a:pPr>
            <a:r>
              <a:rPr lang="en-US" sz="1250" b="0" i="0" dirty="0">
                <a:solidFill>
                  <a:srgbClr val="1F2A37"/>
                </a:solidFill>
                <a:latin typeface="Calibri"/>
                <a:cs typeface="Calibri"/>
              </a:rPr>
              <a:t>Follow the same projects through implementation: boiler commissioning (summer 2026), SkyZero final decision (2027), post-closure accounts at Helen.</a:t>
            </a:r>
          </a:p>
          <a:p>
            <a:pPr algn="l" marL="201168" indent="-201168">
              <a:spcBef>
                <a:spcPts val="0"/>
              </a:spcBef>
              <a:spcAft>
                <a:spcPts val="600"/>
              </a:spcAft>
              <a:buClr>
                <a:srgbClr val="129152"/>
              </a:buClr>
              <a:buFont typeface="Arial"/>
              <a:buChar char="•"/>
            </a:pPr>
            <a:r>
              <a:rPr lang="en-US" sz="1250" b="0" i="0" dirty="0">
                <a:solidFill>
                  <a:srgbClr val="1F2A37"/>
                </a:solidFill>
                <a:latin typeface="Calibri"/>
                <a:cs typeface="Calibri"/>
              </a:rPr>
              <a:t>Add the outstanding documents: Aalborg's final risk assessment and guarantee commission; the Varme–Nordjyllandsværket agreement's duration and continuity terms.</a:t>
            </a:r>
          </a:p>
          <a:p>
            <a:pPr algn="l" marL="201168" indent="-201168">
              <a:spcBef>
                <a:spcPts val="0"/>
              </a:spcBef>
              <a:spcAft>
                <a:spcPts val="600"/>
              </a:spcAft>
              <a:buClr>
                <a:srgbClr val="129152"/>
              </a:buClr>
              <a:buFont typeface="Arial"/>
              <a:buChar char="•"/>
            </a:pPr>
            <a:r>
              <a:rPr lang="en-US" sz="1250" b="0" i="0" dirty="0">
                <a:solidFill>
                  <a:srgbClr val="1F2A37"/>
                </a:solidFill>
                <a:latin typeface="Calibri"/>
                <a:cs typeface="Calibri"/>
              </a:rPr>
              <a:t>Trace whether revisions preserved approved financing and credible recovery, and how accepted obligations changed during operation.</a:t>
            </a:r>
          </a:p>
          <a:p>
            <a:pPr algn="l" marL="201168" indent="-201168">
              <a:spcBef>
                <a:spcPts val="0"/>
              </a:spcBef>
              <a:spcAft>
                <a:spcPts val="600"/>
              </a:spcAft>
              <a:buClr>
                <a:srgbClr val="129152"/>
              </a:buClr>
              <a:buFont typeface="Arial"/>
              <a:buChar char="•"/>
            </a:pPr>
            <a:r>
              <a:rPr lang="en-US" sz="1250" b="0" i="0" dirty="0">
                <a:solidFill>
                  <a:srgbClr val="1F2A37"/>
                </a:solidFill>
                <a:latin typeface="Calibri"/>
                <a:cs typeface="Calibri"/>
              </a:rPr>
              <a:t>Complement records with interviews on informal negotiation between councils, boards and group management.</a:t>
            </a:r>
          </a:p>
          <a:p>
            <a:pPr algn="l" marL="201168" indent="-201168">
              <a:spcBef>
                <a:spcPts val="0"/>
              </a:spcBef>
              <a:spcAft>
                <a:spcPts val="600"/>
              </a:spcAft>
              <a:buClr>
                <a:srgbClr val="129152"/>
              </a:buClr>
              <a:buFont typeface="Arial"/>
              <a:buChar char="•"/>
            </a:pPr>
            <a:r>
              <a:rPr lang="en-US" sz="1250" b="0" i="0" dirty="0">
                <a:solidFill>
                  <a:srgbClr val="1F2A37"/>
                </a:solidFill>
                <a:latin typeface="Calibri"/>
                <a:cs typeface="Calibri"/>
              </a:rPr>
              <a:t>Test the framework on further arrangements (e.g. Finnish and German multi-utility groups) before any generalisation.</a:t>
            </a:r>
          </a:p>
        </p:txBody>
      </p:sp>
    </p:spTree>
    <p:extLst>
      <p:ext uri="{BB962C8B-B14F-4D97-AF65-F5344CB8AC3E}">
        <p14:creationId xmlns:p14="http://schemas.microsoft.com/office/powerpoint/2010/main" val="382855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1146" name="Title"/>
          <p:cNvSpPr txBox="1"/>
          <p:nvPr/>
        </p:nvSpPr>
        <p:spPr>
          <a:xfrm>
            <a:off x="502920" y="1207008"/>
            <a:ext cx="11155680" cy="548640"/>
          </a:xfrm>
          <a:prstGeom prst="rect">
            <a:avLst/>
          </a:prstGeom>
          <a:noFill/>
          <a:ln>
            <a:noFill/>
          </a:ln>
        </p:spPr>
        <p:txBody>
          <a:bodyPr wrap="square" lIns="0" tIns="0" rIns="0" bIns="0" rtlCol="0" anchor="t">
            <a:normAutofit/>
          </a:bodyPr>
          <a:lstStyle/>
          <a:p>
            <a:pPr algn="l">
              <a:spcBef>
                <a:spcPts val="0"/>
              </a:spcBef>
              <a:spcAft>
                <a:spcPts val="0"/>
              </a:spcAft>
              <a:buNone/>
            </a:pPr>
            <a:r>
              <a:rPr lang="en-US" sz="2600" b="1" i="0" dirty="0">
                <a:solidFill>
                  <a:srgbClr val="193F61"/>
                </a:solidFill>
                <a:latin typeface="Calibri"/>
                <a:cs typeface="Calibri"/>
              </a:rPr>
              <a:t>Central finding</a:t>
            </a:r>
          </a:p>
        </p:txBody>
      </p:sp>
      <p:sp>
        <p:nvSpPr>
          <p:cNvPr id="1147" name="Card"/>
          <p:cNvSpPr/>
          <p:nvPr/>
        </p:nvSpPr>
        <p:spPr>
          <a:xfrm>
            <a:off x="502920" y="1965960"/>
            <a:ext cx="11155680" cy="178308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228600" tIns="182880" rIns="228600" bIns="164592" rtlCol="0" anchor="ctr">
            <a:normAutofit/>
          </a:bodyPr>
          <a:lstStyle/>
          <a:p>
            <a:pPr algn="l">
              <a:lnSpc>
                <a:spcPct val="105000"/>
              </a:lnSpc>
              <a:spcBef>
                <a:spcPts val="0"/>
              </a:spcBef>
              <a:spcAft>
                <a:spcPts val="800"/>
              </a:spcAft>
              <a:buNone/>
            </a:pPr>
            <a:r>
              <a:rPr lang="en-US" sz="1900" b="1" i="0" dirty="0">
                <a:solidFill>
                  <a:srgbClr val="193F61"/>
                </a:solidFill>
                <a:latin typeface="Calibri"/>
                <a:cs typeface="Calibri"/>
              </a:rPr>
              <a:t>Owner support can advance a politically endorsed proposal while commercial appraisal or revenue conditions remain adverse or unsettled.</a:t>
            </a:r>
          </a:p>
          <a:p>
            <a:pPr algn="l">
              <a:spcBef>
                <a:spcPts val="0"/>
              </a:spcBef>
              <a:spcAft>
                <a:spcPts val="0"/>
              </a:spcAft>
              <a:buNone/>
            </a:pPr>
            <a:r>
              <a:rPr lang="en-US" sz="1350" b="0" i="0" dirty="0">
                <a:solidFill>
                  <a:srgbClr val="1F2A37"/>
                </a:solidFill>
                <a:latin typeface="Calibri"/>
                <a:cs typeface="Calibri"/>
              </a:rPr>
              <a:t>Public ownership matters through the authority and organisational relationships used to negotiate these obligations. Its contribution to green transition lies in coordinating acceptable expenditure, financing and recovery, with choices about staging, contracts and conditional participation. Financing intervention alone cannot be treated as a settled business case.</a:t>
            </a:r>
          </a:p>
        </p:txBody>
      </p:sp>
      <p:sp>
        <p:nvSpPr>
          <p:cNvPr id="1148" name="Card"/>
          <p:cNvSpPr/>
          <p:nvPr/>
        </p:nvSpPr>
        <p:spPr>
          <a:xfrm>
            <a:off x="502920" y="3931920"/>
            <a:ext cx="4663440" cy="2286000"/>
          </a:xfrm>
          <a:prstGeom prst="roundRect">
            <a:avLst>
              <a:gd name="adj" fmla="val 3000"/>
            </a:avLst>
          </a:prstGeom>
          <a:solidFill>
            <a:srgbClr val="FFFFFF">
              <a:alpha val="92000"/>
            </a:srgbClr>
          </a:solidFill>
          <a:ln>
            <a:noFill/>
          </a:ln>
          <a:effectLst>
            <a:outerShdw blurRad="63500" dist="25400" dir="5400000" algn="t" rotWithShape="0">
              <a:srgbClr val="193F61">
                <a:alpha val="18000"/>
              </a:srgbClr>
            </a:outerShdw>
          </a:effectLst>
        </p:spPr>
        <p:txBody>
          <a:bodyPr wrap="square" lIns="228600" tIns="182880" rIns="228600" bIns="137160" rtlCol="0" anchor="t">
            <a:normAutofit/>
          </a:bodyPr>
          <a:lstStyle/>
          <a:p>
            <a:pPr algn="l">
              <a:spcBef>
                <a:spcPts val="0"/>
              </a:spcBef>
              <a:spcAft>
                <a:spcPts val="800"/>
              </a:spcAft>
              <a:buNone/>
            </a:pPr>
            <a:r>
              <a:rPr lang="en-US" sz="2000" b="1" i="0" dirty="0">
                <a:solidFill>
                  <a:srgbClr val="129152"/>
                </a:solidFill>
                <a:latin typeface="Calibri"/>
                <a:cs typeface="Calibri"/>
              </a:rPr>
              <a:t>Thank you</a:t>
            </a:r>
          </a:p>
          <a:p>
            <a:pPr algn="l">
              <a:spcBef>
                <a:spcPts val="0"/>
              </a:spcBef>
              <a:spcAft>
                <a:spcPts val="200"/>
              </a:spcAft>
              <a:buNone/>
            </a:pPr>
            <a:r>
              <a:rPr lang="en-US" sz="1400" b="1" i="0" dirty="0">
                <a:solidFill>
                  <a:srgbClr val="193F61"/>
                </a:solidFill>
                <a:latin typeface="Calibri"/>
                <a:cs typeface="Calibri"/>
              </a:rPr>
              <a:t>[Presenter name]</a:t>
            </a:r>
          </a:p>
          <a:p>
            <a:pPr algn="l">
              <a:spcBef>
                <a:spcPts val="0"/>
              </a:spcBef>
              <a:spcAft>
                <a:spcPts val="200"/>
              </a:spcAft>
              <a:buNone/>
            </a:pPr>
            <a:r>
              <a:rPr lang="en-US" sz="1300" b="0" i="0" dirty="0">
                <a:solidFill>
                  <a:srgbClr val="1F2A37"/>
                </a:solidFill>
                <a:latin typeface="Calibri"/>
                <a:cs typeface="Calibri"/>
              </a:rPr>
              <a:t>[Affiliation]</a:t>
            </a:r>
          </a:p>
          <a:p>
            <a:pPr algn="l">
              <a:spcBef>
                <a:spcPts val="0"/>
              </a:spcBef>
              <a:spcAft>
                <a:spcPts val="1000"/>
              </a:spcAft>
              <a:buNone/>
            </a:pPr>
            <a:r>
              <a:rPr lang="en-US" sz="1300" b="0" i="0" dirty="0">
                <a:solidFill>
                  <a:srgbClr val="1F2A37"/>
                </a:solidFill>
                <a:latin typeface="Calibri"/>
                <a:cs typeface="Calibri"/>
              </a:rPr>
              <a:t>[e-mail address]</a:t>
            </a:r>
          </a:p>
          <a:p>
            <a:pPr algn="l">
              <a:spcBef>
                <a:spcPts val="0"/>
              </a:spcBef>
              <a:spcAft>
                <a:spcPts val="0"/>
              </a:spcAft>
              <a:buNone/>
            </a:pPr>
            <a:r>
              <a:rPr lang="en-US" sz="1150" b="0" i="1" dirty="0">
                <a:solidFill>
                  <a:srgbClr val="5A6B7C"/>
                </a:solidFill>
                <a:latin typeface="Calibri"/>
                <a:cs typeface="Calibri"/>
              </a:rPr>
              <a:t>Full paper, Table I and Appendix A (15 records) available on request.</a:t>
            </a:r>
          </a:p>
        </p:txBody>
      </p:sp>
      <p:sp>
        <p:nvSpPr>
          <p:cNvPr id="1149" name="Card"/>
          <p:cNvSpPr/>
          <p:nvPr/>
        </p:nvSpPr>
        <p:spPr>
          <a:xfrm>
            <a:off x="5349240" y="3931920"/>
            <a:ext cx="6309360" cy="2286000"/>
          </a:xfrm>
          <a:prstGeom prst="roundRect">
            <a:avLst>
              <a:gd name="adj" fmla="val 3000"/>
            </a:avLst>
          </a:prstGeom>
          <a:solidFill>
            <a:srgbClr val="EEF3F8">
              <a:alpha val="96000"/>
            </a:srgbClr>
          </a:solidFill>
          <a:ln>
            <a:noFill/>
          </a:ln>
          <a:effectLst>
            <a:outerShdw blurRad="63500" dist="25400" dir="5400000" algn="t" rotWithShape="0">
              <a:srgbClr val="193F61">
                <a:alpha val="18000"/>
              </a:srgbClr>
            </a:outerShdw>
          </a:effectLst>
        </p:spPr>
        <p:txBody>
          <a:bodyPr wrap="square" lIns="201168" tIns="146304" rIns="201168" bIns="109728" rtlCol="0" anchor="t">
            <a:normAutofit/>
          </a:bodyPr>
          <a:lstStyle/>
          <a:p>
            <a:pPr algn="l">
              <a:spcBef>
                <a:spcPts val="0"/>
              </a:spcBef>
              <a:spcAft>
                <a:spcPts val="400"/>
              </a:spcAft>
              <a:buNone/>
            </a:pPr>
            <a:r>
              <a:rPr lang="en-US" sz="1300" b="1" i="0" dirty="0">
                <a:solidFill>
                  <a:srgbClr val="4C886C"/>
                </a:solidFill>
                <a:latin typeface="Calibri"/>
                <a:cs typeface="Calibri"/>
              </a:rPr>
              <a:t>Selected references</a:t>
            </a:r>
          </a:p>
          <a:p>
            <a:pPr algn="l">
              <a:spcBef>
                <a:spcPts val="0"/>
              </a:spcBef>
              <a:spcAft>
                <a:spcPts val="300"/>
              </a:spcAft>
              <a:buNone/>
            </a:pPr>
            <a:r>
              <a:rPr lang="en-US" sz="1050" b="0" i="0" dirty="0">
                <a:solidFill>
                  <a:srgbClr val="1F2A37"/>
                </a:solidFill>
                <a:latin typeface="Calibri"/>
                <a:cs typeface="Calibri"/>
              </a:rPr>
              <a:t>Bruton, G. D. et al. (2015). State-owned enterprises around the world as hybrid organizations. Academy of Management Perspectives, 29(1).</a:t>
            </a:r>
          </a:p>
          <a:p>
            <a:pPr algn="l">
              <a:spcBef>
                <a:spcPts val="0"/>
              </a:spcBef>
              <a:spcAft>
                <a:spcPts val="300"/>
              </a:spcAft>
              <a:buNone/>
            </a:pPr>
            <a:r>
              <a:rPr lang="en-US" sz="1050" b="0" i="0" dirty="0">
                <a:solidFill>
                  <a:srgbClr val="1F2A37"/>
                </a:solidFill>
                <a:latin typeface="Calibri"/>
                <a:cs typeface="Calibri"/>
              </a:rPr>
              <a:t>Osborne, S. P. et al. (2022). Value creation in the public service ecosystem. Public Administration Review, 82(4).</a:t>
            </a:r>
          </a:p>
          <a:p>
            <a:pPr algn="l">
              <a:spcBef>
                <a:spcPts val="0"/>
              </a:spcBef>
              <a:spcAft>
                <a:spcPts val="300"/>
              </a:spcAft>
              <a:buNone/>
            </a:pPr>
            <a:r>
              <a:rPr lang="en-US" sz="1050" b="0" i="0" dirty="0">
                <a:solidFill>
                  <a:srgbClr val="1F2A37"/>
                </a:solidFill>
                <a:latin typeface="Calibri"/>
                <a:cs typeface="Calibri"/>
              </a:rPr>
              <a:t>Skålén, P., Engen, M., &amp; Jenhaug, L. (2024). Conflicts over public value within public service ecosystems. Public Management Review, 26(11).</a:t>
            </a:r>
          </a:p>
          <a:p>
            <a:pPr algn="l">
              <a:spcBef>
                <a:spcPts val="0"/>
              </a:spcBef>
              <a:spcAft>
                <a:spcPts val="300"/>
              </a:spcAft>
              <a:buNone/>
            </a:pPr>
            <a:r>
              <a:rPr lang="en-US" sz="1050" b="0" i="0" dirty="0">
                <a:solidFill>
                  <a:srgbClr val="1F2A37"/>
                </a:solidFill>
                <a:latin typeface="Calibri"/>
                <a:cs typeface="Calibri"/>
              </a:rPr>
              <a:t>Voorn, B., &amp; van Genugten, M. (2022). Dealing with multiple principals in at arm's length organizations. Public Administration, 100(2).</a:t>
            </a:r>
          </a:p>
          <a:p>
            <a:pPr algn="l">
              <a:spcBef>
                <a:spcPts val="0"/>
              </a:spcBef>
              <a:spcAft>
                <a:spcPts val="0"/>
              </a:spcAft>
              <a:buNone/>
            </a:pPr>
            <a:r>
              <a:rPr lang="en-US" sz="1050" b="0" i="0" dirty="0">
                <a:solidFill>
                  <a:srgbClr val="5A6B7C"/>
                </a:solidFill>
                <a:latin typeface="Calibri"/>
                <a:cs typeface="Calibri"/>
              </a:rPr>
              <a:t>Primary records: Helsinki (2014, 2015); Helen (2023, 2025, 2026); Aalborg Kommune (2025a, b); Aalborg Varme A/S (2026); Forsyningstilsynet (2023); Sysav (2026a, b); Malmö stad (2026a, b); CJEU C-692/23, C-672/26.</a:t>
            </a:r>
          </a:p>
        </p:txBody>
      </p:sp>
    </p:spTree>
    <p:extLst>
      <p:ext uri="{BB962C8B-B14F-4D97-AF65-F5344CB8AC3E}">
        <p14:creationId xmlns:p14="http://schemas.microsoft.com/office/powerpoint/2010/main" val="38285544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2</Words>
  <Application>Microsoft Office PowerPoint</Application>
  <PresentationFormat>Widescreen</PresentationFormat>
  <Paragraphs>2</Paragraphs>
  <Slides>2</Slides>
  <Notes>2</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vt:i4>
      </vt:variant>
    </vt:vector>
  </HeadingPairs>
  <TitlesOfParts>
    <vt:vector size="6" baseType="lpstr">
      <vt:lpstr>Arial</vt:lpstr>
      <vt:lpstr>Calibri</vt:lpstr>
      <vt:lpstr>Calibri Light</vt:lpstr>
      <vt:lpstr>Tema do Office</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Ferreira</dc:creator>
  <cp:lastModifiedBy>Luciana Oliveira Militão</cp:lastModifiedBy>
  <cp:revision>6</cp:revision>
  <dcterms:created xsi:type="dcterms:W3CDTF">2025-03-31T20:37:47Z</dcterms:created>
  <dcterms:modified xsi:type="dcterms:W3CDTF">2026-09-30T10:06:27Z</dcterms:modified>
</cp:coreProperties>
</file>