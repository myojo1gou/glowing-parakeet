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3F61"/>
    <a:srgbClr val="F8B232"/>
    <a:srgbClr val="3354A1"/>
    <a:srgbClr val="036535"/>
    <a:srgbClr val="FEF7B6"/>
    <a:srgbClr val="3D8964"/>
    <a:srgbClr val="FFC0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580" autoAdjust="0"/>
    <p:restoredTop sz="95259" autoAdjust="0"/>
  </p:normalViewPr>
  <p:slideViewPr>
    <p:cSldViewPr snapToGrid="0">
      <p:cViewPr varScale="1">
        <p:scale>
          <a:sx n="75" d="100"/>
          <a:sy n="75" d="100"/>
        </p:scale>
        <p:origin x="1373" y="53"/>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2CD53-6E5B-4A34-9F2A-00C496FCE8D4}" type="datetimeFigureOut">
              <a:rPr lang="pt-BR" smtClean="0"/>
              <a:t>30/09/2026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43AB2-5DA7-4C60-B7BD-B41F920BA838}" type="slidenum">
              <a:rPr lang="pt-BR" smtClean="0"/>
              <a:t>‹nº›</a:t>
            </a:fld>
            <a:endParaRPr lang="pt-BR"/>
          </a:p>
        </p:txBody>
      </p:sp>
    </p:spTree>
    <p:extLst>
      <p:ext uri="{BB962C8B-B14F-4D97-AF65-F5344CB8AC3E}">
        <p14:creationId xmlns:p14="http://schemas.microsoft.com/office/powerpoint/2010/main" val="1719494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t>Good morning/afternoon. This paper looks at how municipally owned service companies finance green transition investments in heat and waste services. We compare Helsinki, Aalborg and the Sysav arrangement in Skåne, using 15 documentary records of decisions and their context.</a:t>
            </a:r>
          </a:p>
        </p:txBody>
      </p:sp>
      <p:sp>
        <p:nvSpPr>
          <p:cNvPr id="4" name="Espaço Reservado para Número de Slide 3"/>
          <p:cNvSpPr>
            <a:spLocks noGrp="1"/>
          </p:cNvSpPr>
          <p:nvPr>
            <p:ph type="sldNum" sz="quarter" idx="5"/>
          </p:nvPr>
        </p:nvSpPr>
        <p:spPr/>
        <p:txBody>
          <a:bodyPr/>
          <a:lstStyle/>
          <a:p>
            <a:fld id="{86A43AB2-5DA7-4C60-B7BD-B41F920BA838}" type="slidenum">
              <a:rPr lang="pt-BR" smtClean="0"/>
              <a:t>1</a:t>
            </a:fld>
            <a:endParaRPr lang="pt-BR"/>
          </a:p>
        </p:txBody>
      </p:sp>
    </p:spTree>
    <p:extLst>
      <p:ext uri="{BB962C8B-B14F-4D97-AF65-F5344CB8AC3E}">
        <p14:creationId xmlns:p14="http://schemas.microsoft.com/office/powerpoint/2010/main" val="3941414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56A6-1183-B9B1-2226-9545B52FA05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E37D783-D0E1-2FA8-3519-50A05DA19AE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622F033-5995-DD7A-1C39-E88AEF689A7F}"/>
              </a:ext>
            </a:extLst>
          </p:cNvPr>
          <p:cNvSpPr>
            <a:spLocks noGrp="1"/>
          </p:cNvSpPr>
          <p:nvPr>
            <p:ph type="body" idx="1"/>
          </p:nvPr>
        </p:nvSpPr>
        <p:spPr/>
        <p:txBody>
          <a:bodyPr/>
          <a:lstStyle/>
          <a:p>
            <a:r>
              <a:t>Green transition is a political commitment, but it is implemented through investments in existing networks and plants. Those investments need capital and dependable income. Municipally owned enterprises put these decisions into a shared political and economic setting. Our two research questions: how political objectives and business appraisal interact, and how institutions and ownership practices shape that interaction.</a:t>
            </a:r>
          </a:p>
        </p:txBody>
      </p:sp>
      <p:sp>
        <p:nvSpPr>
          <p:cNvPr id="4" name="Espaço Reservado para Número de Slide 3">
            <a:extLst>
              <a:ext uri="{FF2B5EF4-FFF2-40B4-BE49-F238E27FC236}">
                <a16:creationId xmlns:a16="http://schemas.microsoft.com/office/drawing/2014/main" id="{3FE5381C-DA13-1BB1-A619-2130EE9F5AD6}"/>
              </a:ext>
            </a:extLst>
          </p:cNvPr>
          <p:cNvSpPr>
            <a:spLocks noGrp="1"/>
          </p:cNvSpPr>
          <p:nvPr>
            <p:ph type="sldNum" sz="quarter" idx="5"/>
          </p:nvPr>
        </p:nvSpPr>
        <p:spPr/>
        <p:txBody>
          <a:bodyPr/>
          <a:lstStyle/>
          <a:p>
            <a:fld id="{86A43AB2-5DA7-4C60-B7BD-B41F920BA838}" type="slidenum">
              <a:rPr lang="pt-BR" smtClean="0"/>
              <a:t>2</a:t>
            </a:fld>
            <a:endParaRPr lang="pt-BR"/>
          </a:p>
        </p:txBody>
      </p:sp>
    </p:spTree>
    <p:extLst>
      <p:ext uri="{BB962C8B-B14F-4D97-AF65-F5344CB8AC3E}">
        <p14:creationId xmlns:p14="http://schemas.microsoft.com/office/powerpoint/2010/main" val="2363566213"/>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draw on three bodies of work. Climate governance research treats service provision as a means of implementing climate policy. Research on municipally owned enterprises highlights hybrid organisation and coordination among multiple principals. Public service ecosystem research explains political mediation among actors pursuing different public values. Investment decisions are where we can observe this mediation, because each kind of owner support has different consequences for the business case.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analytical framework. Institutions set who can act and what enters economic evaluation. Councils and boards weigh political objectives against business appraisal. Through appraisal and authorisation, owners can provide capital and guarantees, consider purchasing outputs, or companies can agree to allocate costs. Investability, as used here, means approved financing combined with credible cost recovery. Revisability is a secondary question: can those conditions be maintained when technology, scale, timing or activities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is the municipal service arrangement; the observation is a documented investment decision sequence. Helsinki and Aalborg allow a closer comparison of heat; Sysav extends the inquiry to waste treatment and recovered products. The cases began from different initial expectations and are read with the same questions. We use 15 records: council resolutions, annual reports, legal sources and press, checked in Finnish, Danish and Swedish. For each episode we record the purposes invoked, the economic assessment, the action taken, and the financing and recovery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Helsinki prepared capital before choosing a production pathway: the 2014 capital plan targeted an equity ratio of at least 50 per cent. In December 2015 Helen's board judged all alternatives commercially unattractive, with limited scope to pass costs into heat prices. If the city chose action for climate or land-use reasons, the board preferred the less burdensome staged pathway, and the council adopted it. Hanasaari B closed in 2023 and Salmisaari in 2025. Helen's 2025 accounts show lower fuel and allowance costs, but they do not separate price and production effects, so this is not a return on the 2015 choice.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Aalborg the obligations sit at different levels of the municipal group. For the 150 MW electric boiler, Aalborg Varme agreed to cover the producer's fixed capacity and variable operating costs at self-cost: a contractual allocation of production costs. Separately, the council approved a DKK 385 million guarantee for Varme's network investment, exposing the municipality to borrowing risk. The Vest wastewater heat pump was abandoned in 2023; the company attributed this to the excess-heat price cap, which the regulator later reinterpreted. The mayor's personal influence on these investments is not confirmed by the records.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Sysav's SkyZero carbon-capture project shows political support coexisting with an incomplete business case. In April 2024 Sysav's board required positive net present value backed by contracted revenues. Thirteen of fourteen owners supported the direction. In March 2026 Malmö authorised further development with conditions and a guarantee ceiling of about SEK 1.2 billion, its share of Sysav's maximum borrowing. The projected case combines credit income, avoided allowance costs and grants, and Malmö's assessment describes profitability as dependent on support. Separately, Sysav sold Siptex after weak market development: a change of activities, not a revised investment pathway.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condenses Table I in the paper. For each project it separates the owner action, the financing basis, the cost-recovery basis and the stage at the last record. Green marks a documented commitment, yellow an adverse assessment or outstanding condition, grey a component the cited records do not document. A blank is a limit of the material, not proof that no action was taken. No project shows both components settled in the records: owner financing and recovery are documented for different projects.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cases, owner support did not settle the recovery question. In Helsinki the political objective survived an adverse appraisal, but the means were adapted. In Aalborg a purchaser within the group took on the producer's costs by contract, while Vest shows the limits of recovery under a pricing rule. In Skåne Malmö accepted a guarantee ceiling while revenue and purchasing conditions remained outstanding.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Institutions entered through specific rules, not as national models: limited price increases in Helen's appraisal, the necessary-cost principle and supply agreements in Denmark, and procurement law for municipal purchases in Sweden. Malmö's dual role is instructive. As guarantor it accepted a ceiling on borrowing exposure. As a prospective customer for carbon removals it needed a purchasing route consistent with procurement law, and its assessment linked the January 2026 CJEU judgment to that condition. The later Sysav reference to the CJEU concerns a further question and cannot explain the earlier decision.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see four contributions. For coordination research, agreement on a direction can coexist with different positions on obligations, so agreement must be examined at the level of expenditure and income. For public service ecosystem research, mediation takes a material and financial form before users meet the changed service. Continuity is part of the transition: Helsinki required replacement heat before retiring Hanasaari B. For practice: make a commitment's scope explicit, and put rule interpretation into the appraisal.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owner support can advance a politically endorsed proposal while commercial appraisal or revenue conditions remain adverse or unsettled. Public ownership contributes by coordinating acceptable expenditure, financing and recovery through staging, contracts and conditional participation. The evidence is documentary and uneven, so we do not claim national effects or complete financing pictures. Following the same projects over time would show whether revisions preserve investability.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look forward to your questions and comments.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C96E2-2599-A77C-5AD1-734E1366A034}"/>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3D21146-F68B-C81F-4FA2-4AFFBCA476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66950FB-E64C-DA7D-CEBB-5A3FAE5EF11F}"/>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8C634A2E-CF94-B554-9315-0B725DFD716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22A67E5-804D-1CDF-4D2F-24B64092E1B2}"/>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2766562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351881-C3BC-6A46-D8FF-ADCBB930A39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EC990B1-91EB-CFC9-4267-E8044402A156}"/>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787A57-B5FF-6EC8-B5ED-43143E081C5E}"/>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8EFC0A0D-B515-83F9-5913-3053F908DC3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04B1513-3572-2949-939D-FE1E0AA73F9E}"/>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523652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819539-D0FC-ADCE-CD0B-6CDE7CE52A3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1ACBD3D-B83F-0854-D73F-E5D700156C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C9459AB6-D9FF-5B8D-787B-FE095C4CF59D}"/>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D9ACC130-2864-9926-757A-370B49266D7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9ABD6B4-65D0-63B8-CCE3-701314BD0D2E}"/>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720428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079E89-A1B4-AFA7-0409-CBC561CFD91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C067329-8DC4-D2A4-AC7F-38E7C49A13F6}"/>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1C754A56-651E-6888-FA50-A6CAB473FB4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F075027-BC29-7153-08A3-766877A49AEE}"/>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6" name="Espaço Reservado para Rodapé 5">
            <a:extLst>
              <a:ext uri="{FF2B5EF4-FFF2-40B4-BE49-F238E27FC236}">
                <a16:creationId xmlns:a16="http://schemas.microsoft.com/office/drawing/2014/main" id="{D6A7974F-3D8A-0BAC-F472-306213B6FC5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42EAFE9-096D-680F-A0F5-D265238DDECD}"/>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42101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60BF8C-46AE-5950-2CCA-E7F85E340B19}"/>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D9FEA82B-9A6F-C6D7-F190-42D9F15E5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412F486-2935-699B-78EF-C0B8C5515B46}"/>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90B01973-600B-D3A5-8438-561986E404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5C7023BB-F7DA-43CA-CDEA-98490E3C723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33B01CE8-023E-B9A6-1D11-259D0F9B6E6C}"/>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8" name="Espaço Reservado para Rodapé 7">
            <a:extLst>
              <a:ext uri="{FF2B5EF4-FFF2-40B4-BE49-F238E27FC236}">
                <a16:creationId xmlns:a16="http://schemas.microsoft.com/office/drawing/2014/main" id="{ACA03797-D129-146A-4D1C-EBC7E7DA4592}"/>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05D708CA-48A2-7D3F-14E0-FBD30BCB4302}"/>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2639462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07AE1-CA18-E726-CABF-9B260623C1E0}"/>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B1DADF2-A613-62DA-3322-BE9FB3E90B54}"/>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4" name="Espaço Reservado para Rodapé 3">
            <a:extLst>
              <a:ext uri="{FF2B5EF4-FFF2-40B4-BE49-F238E27FC236}">
                <a16:creationId xmlns:a16="http://schemas.microsoft.com/office/drawing/2014/main" id="{7656D420-6744-090A-AFD0-3EA6F5129322}"/>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B83015B-813E-DC55-8FEB-FF44289F5111}"/>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378322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EA4AB75-8764-6500-E0FC-87BFBF86ECE5}"/>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3" name="Espaço Reservado para Rodapé 2">
            <a:extLst>
              <a:ext uri="{FF2B5EF4-FFF2-40B4-BE49-F238E27FC236}">
                <a16:creationId xmlns:a16="http://schemas.microsoft.com/office/drawing/2014/main" id="{13500D7C-6D64-0F7B-87B2-BE1903F99909}"/>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A186180-D845-1605-F2C3-91C9B289550C}"/>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365647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4B4234-5542-F78F-AFB6-2B711AA44C2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03C17ABD-F15C-0BD7-6D7D-E8B4D7AF2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DC43461-0900-54E7-14A6-3261E37E03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85A9F92-10CF-EA71-65F9-736F3B32EB2A}"/>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6" name="Espaço Reservado para Rodapé 5">
            <a:extLst>
              <a:ext uri="{FF2B5EF4-FFF2-40B4-BE49-F238E27FC236}">
                <a16:creationId xmlns:a16="http://schemas.microsoft.com/office/drawing/2014/main" id="{36D5D4FE-A885-5AC2-AFD1-C792F76B219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FD91BC6-7587-1C9A-D3DD-90F1A371FF4E}"/>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582747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B4B046-FB32-861B-494E-14F95909496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CE36080-89C0-0119-B7D5-657D002827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3B662FBF-8EE9-3FA3-6F38-0390CDBF3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7ED685D-B2A0-90BE-B840-8769F44C63EF}"/>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6" name="Espaço Reservado para Rodapé 5">
            <a:extLst>
              <a:ext uri="{FF2B5EF4-FFF2-40B4-BE49-F238E27FC236}">
                <a16:creationId xmlns:a16="http://schemas.microsoft.com/office/drawing/2014/main" id="{91D8BF69-75BD-A7A0-2C01-8D33A51DE85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E0AA476-12E8-466E-4717-CD0D8594D5DA}"/>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852245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A5ADDE-4E53-31D8-F401-3511FFD3A2C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1759C68F-A7D2-1C98-DC6A-5B4D01852AD6}"/>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9DE6250-9F7B-081E-75DC-72552CB231CC}"/>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6FF6C081-5425-48B4-586A-59FC0576D9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7FF21E5-E616-3517-B1FE-28A8303D4A34}"/>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1507885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0BFCAF3-DCD2-EB84-17C7-1ED00806C2AC}"/>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854553B1-BDA8-4C2A-009B-D65725384A62}"/>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AD39E48-F823-3C60-9526-DE5E355E100E}"/>
              </a:ext>
            </a:extLst>
          </p:cNvPr>
          <p:cNvSpPr>
            <a:spLocks noGrp="1"/>
          </p:cNvSpPr>
          <p:nvPr>
            <p:ph type="dt" sz="half" idx="10"/>
          </p:nvPr>
        </p:nvSpPr>
        <p:spPr/>
        <p:txBody>
          <a:body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49048609-ED78-1222-B617-B809828F0BA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2A50937-A0CB-425C-E920-EBEEBFFF9EEB}"/>
              </a:ext>
            </a:extLst>
          </p:cNvPr>
          <p:cNvSpPr>
            <a:spLocks noGrp="1"/>
          </p:cNvSpPr>
          <p:nvPr>
            <p:ph type="sldNum" sz="quarter" idx="12"/>
          </p:nvPr>
        </p:nvSpPr>
        <p:spPr/>
        <p:txBody>
          <a:bodyPr/>
          <a:lstStyle/>
          <a:p>
            <a:fld id="{908DBD7C-359F-41C9-AF0C-C6D0B244C318}" type="slidenum">
              <a:rPr lang="pt-BR" smtClean="0"/>
              <a:t>‹nº›</a:t>
            </a:fld>
            <a:endParaRPr lang="pt-BR"/>
          </a:p>
        </p:txBody>
      </p:sp>
    </p:spTree>
    <p:extLst>
      <p:ext uri="{BB962C8B-B14F-4D97-AF65-F5344CB8AC3E}">
        <p14:creationId xmlns:p14="http://schemas.microsoft.com/office/powerpoint/2010/main" val="34353387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BF890BF-047E-BDA3-C076-166AFEBB8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639A064-1277-1CAE-8255-1E0925A6BC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206E2B1-FC77-780B-DB1E-B68DBE8EC9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37C3AA-8260-4400-9280-C6AD14E05EC8}" type="datetimeFigureOut">
              <a:rPr lang="pt-BR" smtClean="0"/>
              <a:t>30/09/2026</a:t>
            </a:fld>
            <a:endParaRPr lang="pt-BR"/>
          </a:p>
        </p:txBody>
      </p:sp>
      <p:sp>
        <p:nvSpPr>
          <p:cNvPr id="5" name="Espaço Reservado para Rodapé 4">
            <a:extLst>
              <a:ext uri="{FF2B5EF4-FFF2-40B4-BE49-F238E27FC236}">
                <a16:creationId xmlns:a16="http://schemas.microsoft.com/office/drawing/2014/main" id="{F945DE38-492A-4986-F32D-3ED4F0C4F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B3CB1FB4-8889-ADD8-0F77-F323203AB1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8DBD7C-359F-41C9-AF0C-C6D0B244C318}" type="slidenum">
              <a:rPr lang="pt-BR" smtClean="0"/>
              <a:t>‹nº›</a:t>
            </a:fld>
            <a:endParaRPr lang="pt-BR"/>
          </a:p>
        </p:txBody>
      </p:sp>
    </p:spTree>
    <p:extLst>
      <p:ext uri="{BB962C8B-B14F-4D97-AF65-F5344CB8AC3E}">
        <p14:creationId xmlns:p14="http://schemas.microsoft.com/office/powerpoint/2010/main" val="2051858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 Id="rId7" Type="http://schemas.openxmlformats.org/officeDocument/2006/relationships/image" Target="../media/image5.svg"/><Relationship Id="rId8" Type="http://schemas.openxmlformats.org/officeDocument/2006/relationships/image" Target="../media/image6.svg"/><Relationship Id="rId9" Type="http://schemas.openxmlformats.org/officeDocument/2006/relationships/image" Target="../media/image7.svg"/><Relationship Id="rId10" Type="http://schemas.openxmlformats.org/officeDocument/2006/relationships/image" Target="../media/image8.svg"/><Relationship Id="rId11" Type="http://schemas.openxmlformats.org/officeDocument/2006/relationships/image" Target="../media/image9.jpg"/><Relationship Id="rId12" Type="http://schemas.openxmlformats.org/officeDocument/2006/relationships/image" Target="../media/image10.jpe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jpeg"/><Relationship Id="rId19" Type="http://schemas.openxmlformats.org/officeDocument/2006/relationships/image" Target="../media/image17.svg"/><Relationship Id="rId20" Type="http://schemas.openxmlformats.org/officeDocument/2006/relationships/image" Target="../media/image18.svg"/><Relationship Id="rId21" Type="http://schemas.openxmlformats.org/officeDocument/2006/relationships/image" Target="../media/image19.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svg"/><Relationship Id="rId4" Type="http://schemas.openxmlformats.org/officeDocument/2006/relationships/image" Target="../media/image7.svg"/><Relationship Id="rId5" Type="http://schemas.openxmlformats.org/officeDocument/2006/relationships/image" Target="../media/image8.svg"/><Relationship Id="rId6" Type="http://schemas.openxmlformats.org/officeDocument/2006/relationships/image" Target="../media/image9.jp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jpeg"/><Relationship Id="rId14" Type="http://schemas.openxmlformats.org/officeDocument/2006/relationships/image" Target="../media/image17.svg"/><Relationship Id="rId15" Type="http://schemas.openxmlformats.org/officeDocument/2006/relationships/image" Target="../media/image18.svg"/><Relationship Id="rId16" Type="http://schemas.openxmlformats.org/officeDocument/2006/relationships/image" Target="../media/image19.svg"/><Relationship Id="rId17" Type="http://schemas.openxmlformats.org/officeDocument/2006/relationships/image" Target="../media/image2.svg"/><Relationship Id="rId18" Type="http://schemas.openxmlformats.org/officeDocument/2006/relationships/image" Target="../media/image4.svg"/><Relationship Id="rId19" Type="http://schemas.openxmlformats.org/officeDocument/2006/relationships/image" Target="../media/image5.svg"/><Relationship Id="rId20" Type="http://schemas.openxmlformats.org/officeDocument/2006/relationships/image" Target="../media/image20.svg"/><Relationship Id="rId21" Type="http://schemas.openxmlformats.org/officeDocument/2006/relationships/image" Target="../media/image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 Id="rId7" Type="http://schemas.openxmlformats.org/officeDocument/2006/relationships/image" Target="../media/image5.svg"/><Relationship Id="rId8" Type="http://schemas.openxmlformats.org/officeDocument/2006/relationships/image" Target="../media/image6.svg"/><Relationship Id="rId9" Type="http://schemas.openxmlformats.org/officeDocument/2006/relationships/image" Target="../media/image7.svg"/><Relationship Id="rId10" Type="http://schemas.openxmlformats.org/officeDocument/2006/relationships/image" Target="../media/image8.svg"/><Relationship Id="rId11" Type="http://schemas.openxmlformats.org/officeDocument/2006/relationships/image" Target="../media/image9.jpg"/><Relationship Id="rId12" Type="http://schemas.openxmlformats.org/officeDocument/2006/relationships/image" Target="../media/image10.jpe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jpeg"/><Relationship Id="rId19" Type="http://schemas.openxmlformats.org/officeDocument/2006/relationships/image" Target="../media/image17.svg"/><Relationship Id="rId20" Type="http://schemas.openxmlformats.org/officeDocument/2006/relationships/image" Target="../media/image18.svg"/><Relationship Id="rId21"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85EC90F3-0B55-DE10-9CE4-D32BFCD08F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2067823"/>
            <a:ext cx="12192000" cy="4347044"/>
          </a:xfrm>
          <a:prstGeom prst="rect">
            <a:avLst/>
          </a:prstGeom>
        </p:spPr>
      </p:pic>
      <p:pic>
        <p:nvPicPr>
          <p:cNvPr id="9" name="Gráfico 8">
            <a:extLst>
              <a:ext uri="{FF2B5EF4-FFF2-40B4-BE49-F238E27FC236}">
                <a16:creationId xmlns:a16="http://schemas.microsoft.com/office/drawing/2014/main" id="{952245CF-F256-4864-53D4-CCB96AE849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696" y="332422"/>
            <a:ext cx="3486202" cy="1566716"/>
          </a:xfrm>
          <a:prstGeom prst="rect">
            <a:avLst/>
          </a:prstGeom>
        </p:spPr>
      </p:pic>
      <p:pic>
        <p:nvPicPr>
          <p:cNvPr id="11" name="Gráfico 10">
            <a:extLst>
              <a:ext uri="{FF2B5EF4-FFF2-40B4-BE49-F238E27FC236}">
                <a16:creationId xmlns:a16="http://schemas.microsoft.com/office/drawing/2014/main" id="{70994BE6-7773-B795-CCB4-751550EC48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9087" y="2363373"/>
            <a:ext cx="10233826" cy="1660940"/>
          </a:xfrm>
          <a:prstGeom prst="rect">
            <a:avLst/>
          </a:prstGeom>
        </p:spPr>
      </p:pic>
      <p:sp>
        <p:nvSpPr>
          <p:cNvPr id="14" name="Retângulo 13">
            <a:extLst>
              <a:ext uri="{FF2B5EF4-FFF2-40B4-BE49-F238E27FC236}">
                <a16:creationId xmlns:a16="http://schemas.microsoft.com/office/drawing/2014/main" id="{261E66AB-B40E-B874-1D2F-8395BEE965A7}"/>
              </a:ext>
            </a:extLst>
          </p:cNvPr>
          <p:cNvSpPr/>
          <p:nvPr/>
        </p:nvSpPr>
        <p:spPr>
          <a:xfrm>
            <a:off x="3869139" y="1760561"/>
            <a:ext cx="8120419" cy="6141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6" name="Gráfico 15">
            <a:extLst>
              <a:ext uri="{FF2B5EF4-FFF2-40B4-BE49-F238E27FC236}">
                <a16:creationId xmlns:a16="http://schemas.microsoft.com/office/drawing/2014/main" id="{4E51E30B-272E-E38E-9058-65C4BC1D62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60808" y="1275171"/>
            <a:ext cx="1428750" cy="171450"/>
          </a:xfrm>
          <a:prstGeom prst="rect">
            <a:avLst/>
          </a:prstGeom>
        </p:spPr>
      </p:pic>
      <p:pic>
        <p:nvPicPr>
          <p:cNvPr id="28" name="Gráfico 27">
            <a:extLst>
              <a:ext uri="{FF2B5EF4-FFF2-40B4-BE49-F238E27FC236}">
                <a16:creationId xmlns:a16="http://schemas.microsoft.com/office/drawing/2014/main" id="{2259AFDF-A74C-FB37-0857-65B8468E82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55958" y="1471472"/>
            <a:ext cx="2133600" cy="285750"/>
          </a:xfrm>
          <a:prstGeom prst="rect">
            <a:avLst/>
          </a:prstGeom>
        </p:spPr>
      </p:pic>
      <p:pic>
        <p:nvPicPr>
          <p:cNvPr id="40" name="Gráfico 39">
            <a:extLst>
              <a:ext uri="{FF2B5EF4-FFF2-40B4-BE49-F238E27FC236}">
                <a16:creationId xmlns:a16="http://schemas.microsoft.com/office/drawing/2014/main" id="{E69258B4-5B1F-54A5-1B6D-3F0F81D9AFE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86411" y="6552554"/>
            <a:ext cx="3726972" cy="268342"/>
          </a:xfrm>
          <a:prstGeom prst="rect">
            <a:avLst/>
          </a:prstGeom>
        </p:spPr>
      </p:pic>
      <p:pic>
        <p:nvPicPr>
          <p:cNvPr id="44" name="Gráfico 43">
            <a:extLst>
              <a:ext uri="{FF2B5EF4-FFF2-40B4-BE49-F238E27FC236}">
                <a16:creationId xmlns:a16="http://schemas.microsoft.com/office/drawing/2014/main" id="{3667D6E6-8665-9E11-6A32-9FEAFBB4F7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86411" y="6470650"/>
            <a:ext cx="257175" cy="57150"/>
          </a:xfrm>
          <a:prstGeom prst="rect">
            <a:avLst/>
          </a:prstGeom>
        </p:spPr>
      </p:pic>
      <p:grpSp>
        <p:nvGrpSpPr>
          <p:cNvPr id="110" name="Agrupar 109">
            <a:extLst>
              <a:ext uri="{FF2B5EF4-FFF2-40B4-BE49-F238E27FC236}">
                <a16:creationId xmlns:a16="http://schemas.microsoft.com/office/drawing/2014/main" id="{5D912160-7944-FECF-6195-70CAEB3C0D85}"/>
              </a:ext>
            </a:extLst>
          </p:cNvPr>
          <p:cNvGrpSpPr/>
          <p:nvPr/>
        </p:nvGrpSpPr>
        <p:grpSpPr>
          <a:xfrm>
            <a:off x="0" y="6490384"/>
            <a:ext cx="6972870" cy="367616"/>
            <a:chOff x="30153" y="6499225"/>
            <a:chExt cx="6430865" cy="339041"/>
          </a:xfrm>
        </p:grpSpPr>
        <p:pic>
          <p:nvPicPr>
            <p:cNvPr id="48" name="Gráfico 47">
              <a:extLst>
                <a:ext uri="{FF2B5EF4-FFF2-40B4-BE49-F238E27FC236}">
                  <a16:creationId xmlns:a16="http://schemas.microsoft.com/office/drawing/2014/main" id="{CF7A3F27-BC87-E8E6-4F7C-01CF0081C71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04727" y="6613124"/>
              <a:ext cx="2856291" cy="198064"/>
            </a:xfrm>
            <a:prstGeom prst="rect">
              <a:avLst/>
            </a:prstGeom>
          </p:spPr>
        </p:pic>
        <p:pic>
          <p:nvPicPr>
            <p:cNvPr id="93" name="Imagem 92">
              <a:extLst>
                <a:ext uri="{FF2B5EF4-FFF2-40B4-BE49-F238E27FC236}">
                  <a16:creationId xmlns:a16="http://schemas.microsoft.com/office/drawing/2014/main" id="{BE7ED9E3-B0A6-9215-3B66-4C715506E40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95" name="Imagem 94">
              <a:extLst>
                <a:ext uri="{FF2B5EF4-FFF2-40B4-BE49-F238E27FC236}">
                  <a16:creationId xmlns:a16="http://schemas.microsoft.com/office/drawing/2014/main" id="{A3B989B6-0B7B-C203-E7AC-9F367AFA33C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97" name="Imagem 96">
              <a:extLst>
                <a:ext uri="{FF2B5EF4-FFF2-40B4-BE49-F238E27FC236}">
                  <a16:creationId xmlns:a16="http://schemas.microsoft.com/office/drawing/2014/main" id="{A0B96C0C-6F33-0FF0-4423-F4D6F5836BF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99" name="Imagem 98">
              <a:extLst>
                <a:ext uri="{FF2B5EF4-FFF2-40B4-BE49-F238E27FC236}">
                  <a16:creationId xmlns:a16="http://schemas.microsoft.com/office/drawing/2014/main" id="{B025E56F-431C-411B-09B6-F2085FA1A3A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01" name="Imagem 100">
              <a:extLst>
                <a:ext uri="{FF2B5EF4-FFF2-40B4-BE49-F238E27FC236}">
                  <a16:creationId xmlns:a16="http://schemas.microsoft.com/office/drawing/2014/main" id="{C02C3B4A-91D4-2375-D53C-DF6DCE6FE96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03" name="Imagem 102">
              <a:extLst>
                <a:ext uri="{FF2B5EF4-FFF2-40B4-BE49-F238E27FC236}">
                  <a16:creationId xmlns:a16="http://schemas.microsoft.com/office/drawing/2014/main" id="{6F982FD0-2AAB-5F52-4DB4-0D33E1599D2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05" name="Imagem 104">
              <a:extLst>
                <a:ext uri="{FF2B5EF4-FFF2-40B4-BE49-F238E27FC236}">
                  <a16:creationId xmlns:a16="http://schemas.microsoft.com/office/drawing/2014/main" id="{F3241E10-BDDD-61EB-CE29-E96F21432C0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07" name="Imagem 106">
              <a:extLst>
                <a:ext uri="{FF2B5EF4-FFF2-40B4-BE49-F238E27FC236}">
                  <a16:creationId xmlns:a16="http://schemas.microsoft.com/office/drawing/2014/main" id="{2CB7A85D-DA13-61D9-811B-D6760A6004E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109" name="Gráfico 108">
            <a:extLst>
              <a:ext uri="{FF2B5EF4-FFF2-40B4-BE49-F238E27FC236}">
                <a16:creationId xmlns:a16="http://schemas.microsoft.com/office/drawing/2014/main" id="{EF6B59CC-8786-333B-51B9-79C5AACE2E7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5373" y="6475220"/>
            <a:ext cx="114300" cy="47625"/>
          </a:xfrm>
          <a:prstGeom prst="rect">
            <a:avLst/>
          </a:prstGeom>
        </p:spPr>
      </p:pic>
      <p:pic>
        <p:nvPicPr>
          <p:cNvPr id="112" name="Gráfico 111">
            <a:extLst>
              <a:ext uri="{FF2B5EF4-FFF2-40B4-BE49-F238E27FC236}">
                <a16:creationId xmlns:a16="http://schemas.microsoft.com/office/drawing/2014/main" id="{E006CA19-1187-492A-F6CA-F85253363DE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79867" y="6575424"/>
            <a:ext cx="891863" cy="236901"/>
          </a:xfrm>
          <a:prstGeom prst="rect">
            <a:avLst/>
          </a:prstGeom>
        </p:spPr>
      </p:pic>
      <p:pic>
        <p:nvPicPr>
          <p:cNvPr id="114" name="Gráfico 113">
            <a:extLst>
              <a:ext uri="{FF2B5EF4-FFF2-40B4-BE49-F238E27FC236}">
                <a16:creationId xmlns:a16="http://schemas.microsoft.com/office/drawing/2014/main" id="{DD471C64-C06D-C931-B863-18BE6E58ACDF}"/>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129038" y="6473444"/>
            <a:ext cx="381000" cy="47625"/>
          </a:xfrm>
          <a:prstGeom prst="rect">
            <a:avLst/>
          </a:prstGeom>
        </p:spPr>
      </p:pic>
      <p:sp>
        <p:nvSpPr>
          <p:cNvPr id="115" name="Title"/>
          <p:cNvSpPr txBox="1"/>
          <p:nvPr/>
        </p:nvSpPr>
        <p:spPr>
          <a:xfrm>
            <a:off x="978408" y="2304288"/>
            <a:ext cx="10149840" cy="914400"/>
          </a:xfrm>
          <a:prstGeom prst="rect">
            <a:avLst/>
          </a:prstGeom>
          <a:noFill/>
        </p:spPr>
        <p:txBody>
          <a:bodyPr wrap="square" lIns="0" tIns="0" rIns="0" bIns="0" anchor="t">
            <a:noAutofit/>
          </a:bodyPr>
          <a:lstStyle/>
          <a:p>
            <a:pPr algn="l">
              <a:lnSpc>
                <a:spcPct val="95000"/>
              </a:lnSpc>
              <a:spcAft>
                <a:spcPts val="0"/>
              </a:spcAft>
            </a:pPr>
            <a:r>
              <a:rPr sz="3000" b="1" i="0">
                <a:solidFill>
                  <a:srgbClr val="193F61"/>
                </a:solidFill>
                <a:latin typeface="Arial"/>
              </a:rPr>
              <a:t>Reconfiguring Inherited Service Infrastructures for Green Public Service Transition</a:t>
            </a:r>
          </a:p>
        </p:txBody>
      </p:sp>
      <p:sp>
        <p:nvSpPr>
          <p:cNvPr id="116" name="Subtitle"/>
          <p:cNvSpPr txBox="1"/>
          <p:nvPr/>
        </p:nvSpPr>
        <p:spPr>
          <a:xfrm>
            <a:off x="978408" y="3218688"/>
            <a:ext cx="10149840" cy="365760"/>
          </a:xfrm>
          <a:prstGeom prst="rect">
            <a:avLst/>
          </a:prstGeom>
          <a:noFill/>
        </p:spPr>
        <p:txBody>
          <a:bodyPr wrap="square" lIns="0" tIns="0" rIns="0" bIns="0" anchor="t">
            <a:noAutofit/>
          </a:bodyPr>
          <a:lstStyle/>
          <a:p>
            <a:pPr algn="l">
              <a:spcAft>
                <a:spcPts val="0"/>
              </a:spcAft>
            </a:pPr>
            <a:r>
              <a:rPr sz="2000" b="0" i="0">
                <a:solidFill>
                  <a:srgbClr val="129152"/>
                </a:solidFill>
                <a:latin typeface="Arial"/>
              </a:rPr>
              <a:t>Municipally owned arrangements in Helsinki, Aalborg and Skåne</a:t>
            </a:r>
          </a:p>
        </p:txBody>
      </p:sp>
      <p:sp>
        <p:nvSpPr>
          <p:cNvPr id="117" name="Presenter"/>
          <p:cNvSpPr txBox="1"/>
          <p:nvPr/>
        </p:nvSpPr>
        <p:spPr>
          <a:xfrm>
            <a:off x="978408" y="3611880"/>
            <a:ext cx="9000000" cy="292608"/>
          </a:xfrm>
          <a:prstGeom prst="rect">
            <a:avLst/>
          </a:prstGeom>
          <a:noFill/>
        </p:spPr>
        <p:txBody>
          <a:bodyPr wrap="square" lIns="0" tIns="0" rIns="0" bIns="0" anchor="t">
            <a:noAutofit/>
          </a:bodyPr>
          <a:lstStyle/>
          <a:p>
            <a:pPr algn="l">
              <a:spcAft>
                <a:spcPts val="0"/>
              </a:spcAft>
            </a:pPr>
            <a:r>
              <a:rPr sz="1500" b="1" i="0">
                <a:solidFill>
                  <a:srgbClr val="193F61"/>
                </a:solidFill>
                <a:latin typeface="Calibri"/>
              </a:rPr>
              <a:t>Shin Suzuki</a:t>
            </a:r>
            <a:r>
              <a:rPr sz="1500" b="0" i="0">
                <a:solidFill>
                  <a:srgbClr val="566576"/>
                </a:solidFill>
                <a:latin typeface="Calibri"/>
              </a:rPr>
              <a:t xml:space="preserve">  ·  Senior Lecturer, Faculty of Economics, Fukuyama University</a:t>
            </a:r>
          </a:p>
        </p:txBody>
      </p:sp>
    </p:spTree>
    <p:extLst>
      <p:ext uri="{BB962C8B-B14F-4D97-AF65-F5344CB8AC3E}">
        <p14:creationId xmlns:p14="http://schemas.microsoft.com/office/powerpoint/2010/main" val="246115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Green transition is decided through investment</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2</a:t>
            </a:r>
          </a:p>
        </p:txBody>
      </p:sp>
      <p:sp>
        <p:nvSpPr>
          <p:cNvPr id="87" name="Point 1 marker"/>
          <p:cNvSpPr/>
          <p:nvPr/>
        </p:nvSpPr>
        <p:spPr>
          <a:xfrm>
            <a:off x="914400" y="1847088"/>
            <a:ext cx="457200" cy="457200"/>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1</a:t>
            </a:r>
          </a:p>
        </p:txBody>
      </p:sp>
      <p:sp>
        <p:nvSpPr>
          <p:cNvPr id="88" name="Point 1"/>
          <p:cNvSpPr txBox="1"/>
          <p:nvPr/>
        </p:nvSpPr>
        <p:spPr>
          <a:xfrm>
            <a:off x="1554480" y="1828800"/>
            <a:ext cx="4754880" cy="1097280"/>
          </a:xfrm>
          <a:prstGeom prst="rect">
            <a:avLst/>
          </a:prstGeom>
          <a:noFill/>
        </p:spPr>
        <p:txBody>
          <a:bodyPr wrap="square" lIns="0" tIns="0" rIns="0" bIns="0" anchor="t">
            <a:noAutofit/>
          </a:bodyPr>
          <a:lstStyle/>
          <a:p>
            <a:pPr algn="l">
              <a:spcAft>
                <a:spcPts val="300"/>
              </a:spcAft>
            </a:pPr>
            <a:r>
              <a:rPr sz="1700" b="1" i="0">
                <a:solidFill>
                  <a:srgbClr val="193F61"/>
                </a:solidFill>
                <a:latin typeface="Calibri"/>
              </a:rPr>
              <a:t>Political commitment, everyday services</a:t>
            </a:r>
          </a:p>
          <a:p>
            <a:pPr algn="l">
              <a:spcAft>
                <a:spcPts val="0"/>
              </a:spcAft>
            </a:pPr>
            <a:r>
              <a:rPr sz="1450" b="0" i="0">
                <a:solidFill>
                  <a:srgbClr val="1E2B3A"/>
                </a:solidFill>
                <a:latin typeface="Calibri"/>
              </a:rPr>
              <a:t>Municipalities seek lower emissions and greater resource recovery, yet must keep homes heated and waste treated during the change.</a:t>
            </a:r>
          </a:p>
        </p:txBody>
      </p:sp>
      <p:sp>
        <p:nvSpPr>
          <p:cNvPr id="89" name="Point 2 marker"/>
          <p:cNvSpPr/>
          <p:nvPr/>
        </p:nvSpPr>
        <p:spPr>
          <a:xfrm>
            <a:off x="914400" y="3054096"/>
            <a:ext cx="457200" cy="457200"/>
          </a:xfrm>
          <a:prstGeom prst="ellipse">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2</a:t>
            </a:r>
          </a:p>
        </p:txBody>
      </p:sp>
      <p:sp>
        <p:nvSpPr>
          <p:cNvPr id="90" name="Point 2"/>
          <p:cNvSpPr txBox="1"/>
          <p:nvPr/>
        </p:nvSpPr>
        <p:spPr>
          <a:xfrm>
            <a:off x="1554480" y="3035808"/>
            <a:ext cx="4754880" cy="1097280"/>
          </a:xfrm>
          <a:prstGeom prst="rect">
            <a:avLst/>
          </a:prstGeom>
          <a:noFill/>
        </p:spPr>
        <p:txBody>
          <a:bodyPr wrap="square" lIns="0" tIns="0" rIns="0" bIns="0" anchor="t">
            <a:noAutofit/>
          </a:bodyPr>
          <a:lstStyle/>
          <a:p>
            <a:pPr algn="l">
              <a:spcAft>
                <a:spcPts val="300"/>
              </a:spcAft>
            </a:pPr>
            <a:r>
              <a:rPr sz="1700" b="1" i="0">
                <a:solidFill>
                  <a:srgbClr val="193F61"/>
                </a:solidFill>
                <a:latin typeface="Calibri"/>
              </a:rPr>
              <a:t>Targets do not decide investments</a:t>
            </a:r>
          </a:p>
          <a:p>
            <a:pPr algn="l">
              <a:spcAft>
                <a:spcPts val="0"/>
              </a:spcAft>
            </a:pPr>
            <a:r>
              <a:rPr sz="1450" b="0" i="0">
                <a:solidFill>
                  <a:srgbClr val="1E2B3A"/>
                </a:solidFill>
                <a:latin typeface="Calibri"/>
              </a:rPr>
              <a:t>A climate target gives a reason to invest; technology, expenditure and responsibility are left to owners and companies.</a:t>
            </a:r>
          </a:p>
        </p:txBody>
      </p:sp>
      <p:sp>
        <p:nvSpPr>
          <p:cNvPr id="91" name="Point 3 marker"/>
          <p:cNvSpPr/>
          <p:nvPr/>
        </p:nvSpPr>
        <p:spPr>
          <a:xfrm>
            <a:off x="914400" y="4261104"/>
            <a:ext cx="457200" cy="457200"/>
          </a:xfrm>
          <a:prstGeom prst="ellipse">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193F61"/>
                </a:solidFill>
                <a:latin typeface="Arial"/>
              </a:rPr>
              <a:t>3</a:t>
            </a:r>
          </a:p>
        </p:txBody>
      </p:sp>
      <p:sp>
        <p:nvSpPr>
          <p:cNvPr id="92" name="Point 3"/>
          <p:cNvSpPr txBox="1"/>
          <p:nvPr/>
        </p:nvSpPr>
        <p:spPr>
          <a:xfrm>
            <a:off x="1554480" y="4242816"/>
            <a:ext cx="4754880" cy="1097280"/>
          </a:xfrm>
          <a:prstGeom prst="rect">
            <a:avLst/>
          </a:prstGeom>
          <a:noFill/>
        </p:spPr>
        <p:txBody>
          <a:bodyPr wrap="square" lIns="0" tIns="0" rIns="0" bIns="0" anchor="t">
            <a:noAutofit/>
          </a:bodyPr>
          <a:lstStyle/>
          <a:p>
            <a:pPr algn="l">
              <a:spcAft>
                <a:spcPts val="300"/>
              </a:spcAft>
            </a:pPr>
            <a:r>
              <a:rPr sz="1700" b="1" i="0">
                <a:solidFill>
                  <a:srgbClr val="193F61"/>
                </a:solidFill>
                <a:latin typeface="Calibri"/>
              </a:rPr>
              <a:t>Owners in a dual position</a:t>
            </a:r>
          </a:p>
          <a:p>
            <a:pPr algn="l">
              <a:spcAft>
                <a:spcPts val="0"/>
              </a:spcAft>
            </a:pPr>
            <a:r>
              <a:rPr sz="1450" b="0" i="0">
                <a:solidFill>
                  <a:srgbClr val="1E2B3A"/>
                </a:solidFill>
                <a:latin typeface="Calibri"/>
              </a:rPr>
              <a:t>A municipality can instruct its company and support borrowing, while depending on distributions and facing demands for affordable services.</a:t>
            </a:r>
          </a:p>
        </p:txBody>
      </p:sp>
      <p:sp>
        <p:nvSpPr>
          <p:cNvPr id="93" name="RQ1 card"/>
          <p:cNvSpPr/>
          <p:nvPr/>
        </p:nvSpPr>
        <p:spPr>
          <a:xfrm>
            <a:off x="6720840" y="1828800"/>
            <a:ext cx="4892040" cy="1600200"/>
          </a:xfrm>
          <a:prstGeom prst="roundRect">
            <a:avLst>
              <a:gd name="adj" fmla="val 6857"/>
            </a:avLst>
          </a:prstGeom>
          <a:solidFill>
            <a:srgbClr val="193F61"/>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201168" rIns="274320" bIns="182880">
            <a:noAutofit/>
          </a:bodyPr>
          <a:lstStyle/>
          <a:p>
            <a:pPr algn="l">
              <a:spcAft>
                <a:spcPts val="400"/>
              </a:spcAft>
            </a:pPr>
            <a:r>
              <a:rPr sz="1400" b="1" i="0">
                <a:solidFill>
                  <a:srgbClr val="EEBC37"/>
                </a:solidFill>
                <a:latin typeface="Arial"/>
              </a:rPr>
              <a:t>RQ1</a:t>
            </a:r>
          </a:p>
          <a:p>
            <a:pPr algn="l">
              <a:spcAft>
                <a:spcPts val="0"/>
              </a:spcAft>
            </a:pPr>
            <a:r>
              <a:rPr sz="1900" b="0" i="0">
                <a:solidFill>
                  <a:srgbClr val="FFFFFF"/>
                </a:solidFill>
                <a:latin typeface="Calibri"/>
              </a:rPr>
              <a:t>How do political objectives and business appraisal interact in municipal green transition investment?</a:t>
            </a:r>
          </a:p>
        </p:txBody>
      </p:sp>
      <p:sp>
        <p:nvSpPr>
          <p:cNvPr id="94" name="RQ2 card"/>
          <p:cNvSpPr/>
          <p:nvPr/>
        </p:nvSpPr>
        <p:spPr>
          <a:xfrm>
            <a:off x="6720840" y="3657600"/>
            <a:ext cx="4892040" cy="1325880"/>
          </a:xfrm>
          <a:prstGeom prst="roundRect">
            <a:avLst>
              <a:gd name="adj" fmla="val 8275"/>
            </a:avLst>
          </a:prstGeom>
          <a:solidFill>
            <a:srgbClr val="129152"/>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201168" rIns="274320" bIns="182880">
            <a:noAutofit/>
          </a:bodyPr>
          <a:lstStyle/>
          <a:p>
            <a:pPr algn="l">
              <a:spcAft>
                <a:spcPts val="400"/>
              </a:spcAft>
            </a:pPr>
            <a:r>
              <a:rPr sz="1400" b="1" i="0">
                <a:solidFill>
                  <a:srgbClr val="FFFFFF"/>
                </a:solidFill>
                <a:latin typeface="Arial"/>
              </a:rPr>
              <a:t>RQ2</a:t>
            </a:r>
          </a:p>
          <a:p>
            <a:pPr algn="l">
              <a:spcAft>
                <a:spcPts val="0"/>
              </a:spcAft>
            </a:pPr>
            <a:r>
              <a:rPr sz="1900" b="0" i="0">
                <a:solidFill>
                  <a:srgbClr val="FFFFFF"/>
                </a:solidFill>
                <a:latin typeface="Calibri"/>
              </a:rPr>
              <a:t>How do institutions and ownership practices shape that interaction?</a:t>
            </a:r>
          </a:p>
        </p:txBody>
      </p:sp>
      <p:sp>
        <p:nvSpPr>
          <p:cNvPr id="95" name="Cases caption"/>
          <p:cNvSpPr txBox="1"/>
          <p:nvPr/>
        </p:nvSpPr>
        <p:spPr>
          <a:xfrm>
            <a:off x="6720840" y="5230368"/>
            <a:ext cx="4892040" cy="365760"/>
          </a:xfrm>
          <a:prstGeom prst="rect">
            <a:avLst/>
          </a:prstGeom>
          <a:noFill/>
        </p:spPr>
        <p:txBody>
          <a:bodyPr wrap="square" lIns="0" tIns="0" rIns="0" bIns="0" anchor="t">
            <a:noAutofit/>
          </a:bodyPr>
          <a:lstStyle/>
          <a:p>
            <a:pPr algn="l">
              <a:spcAft>
                <a:spcPts val="0"/>
              </a:spcAft>
            </a:pPr>
            <a:r>
              <a:rPr sz="1300" b="0" i="1">
                <a:solidFill>
                  <a:srgbClr val="566576"/>
                </a:solidFill>
                <a:latin typeface="Calibri"/>
              </a:rPr>
              <a:t>Cases: Helen (Helsinki) · Aalborg’s heat utilities · Sysav (Skåne)</a:t>
            </a:r>
          </a:p>
        </p:txBody>
      </p:sp>
    </p:spTree>
    <p:extLst>
      <p:ext uri="{BB962C8B-B14F-4D97-AF65-F5344CB8AC3E}">
        <p14:creationId xmlns:p14="http://schemas.microsoft.com/office/powerpoint/2010/main" val="382855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Three literatures meet at the investment decision</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3</a:t>
            </a:r>
          </a:p>
        </p:txBody>
      </p:sp>
      <p:sp>
        <p:nvSpPr>
          <p:cNvPr id="87" name="Literature card 1"/>
          <p:cNvSpPr/>
          <p:nvPr/>
        </p:nvSpPr>
        <p:spPr>
          <a:xfrm>
            <a:off x="914400" y="1810512"/>
            <a:ext cx="3383280" cy="2898648"/>
          </a:xfrm>
          <a:prstGeom prst="roundRect">
            <a:avLst>
              <a:gd name="adj" fmla="val 252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8" name="Oval 87"/>
          <p:cNvSpPr/>
          <p:nvPr/>
        </p:nvSpPr>
        <p:spPr>
          <a:xfrm>
            <a:off x="1170432" y="2011680"/>
            <a:ext cx="438912" cy="438912"/>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1</a:t>
            </a:r>
          </a:p>
        </p:txBody>
      </p:sp>
      <p:sp>
        <p:nvSpPr>
          <p:cNvPr id="89" name="Literature head 1"/>
          <p:cNvSpPr txBox="1"/>
          <p:nvPr/>
        </p:nvSpPr>
        <p:spPr>
          <a:xfrm>
            <a:off x="1170432" y="2578608"/>
            <a:ext cx="2880360" cy="347472"/>
          </a:xfrm>
          <a:prstGeom prst="rect">
            <a:avLst/>
          </a:prstGeom>
          <a:noFill/>
        </p:spPr>
        <p:txBody>
          <a:bodyPr wrap="square" lIns="0" tIns="0" rIns="0" bIns="0" anchor="t">
            <a:noAutofit/>
          </a:bodyPr>
          <a:lstStyle/>
          <a:p>
            <a:pPr algn="l">
              <a:spcAft>
                <a:spcPts val="0"/>
              </a:spcAft>
            </a:pPr>
            <a:r>
              <a:rPr sz="1700" b="1" i="0">
                <a:solidFill>
                  <a:srgbClr val="193F61"/>
                </a:solidFill>
                <a:latin typeface="Calibri"/>
              </a:rPr>
              <a:t>Municipal climate governance</a:t>
            </a:r>
          </a:p>
        </p:txBody>
      </p:sp>
      <p:sp>
        <p:nvSpPr>
          <p:cNvPr id="90" name="Literature body 1"/>
          <p:cNvSpPr txBox="1"/>
          <p:nvPr/>
        </p:nvSpPr>
        <p:spPr>
          <a:xfrm>
            <a:off x="1170432" y="2990088"/>
            <a:ext cx="2880360" cy="1188720"/>
          </a:xfrm>
          <a:prstGeom prst="rect">
            <a:avLst/>
          </a:prstGeom>
          <a:noFill/>
        </p:spPr>
        <p:txBody>
          <a:bodyPr wrap="square" lIns="0" tIns="0" rIns="0" bIns="0" anchor="t">
            <a:noAutofit/>
          </a:bodyPr>
          <a:lstStyle/>
          <a:p>
            <a:pPr algn="l">
              <a:spcAft>
                <a:spcPts val="0"/>
              </a:spcAft>
            </a:pPr>
            <a:r>
              <a:rPr sz="1450" b="0" i="0">
                <a:solidFill>
                  <a:srgbClr val="1E2B3A"/>
                </a:solidFill>
                <a:latin typeface="Calibri"/>
              </a:rPr>
              <a:t>Service provision implements climate policy; cities coordinate organisations, resources and technical systems in infrastructure transitions.</a:t>
            </a:r>
          </a:p>
        </p:txBody>
      </p:sp>
      <p:sp>
        <p:nvSpPr>
          <p:cNvPr id="91" name="Literature refs 1"/>
          <p:cNvSpPr txBox="1"/>
          <p:nvPr/>
        </p:nvSpPr>
        <p:spPr>
          <a:xfrm>
            <a:off x="1170432" y="4187952"/>
            <a:ext cx="2880360" cy="411480"/>
          </a:xfrm>
          <a:prstGeom prst="rect">
            <a:avLst/>
          </a:prstGeom>
          <a:noFill/>
        </p:spPr>
        <p:txBody>
          <a:bodyPr wrap="square" lIns="0" tIns="0" rIns="0" bIns="0" anchor="b">
            <a:noAutofit/>
          </a:bodyPr>
          <a:lstStyle/>
          <a:p>
            <a:pPr algn="l">
              <a:spcAft>
                <a:spcPts val="0"/>
              </a:spcAft>
            </a:pPr>
            <a:r>
              <a:rPr sz="1100" b="0" i="1">
                <a:solidFill>
                  <a:srgbClr val="566576"/>
                </a:solidFill>
                <a:latin typeface="Calibri"/>
              </a:rPr>
              <a:t>Kern &amp; Alber 2009; Hodson &amp; Marvin 2010; Gross &amp; Hanna 2019</a:t>
            </a:r>
          </a:p>
        </p:txBody>
      </p:sp>
      <p:sp>
        <p:nvSpPr>
          <p:cNvPr id="92" name="Literature card 2"/>
          <p:cNvSpPr/>
          <p:nvPr/>
        </p:nvSpPr>
        <p:spPr>
          <a:xfrm>
            <a:off x="4572000" y="1810512"/>
            <a:ext cx="3383280" cy="2898648"/>
          </a:xfrm>
          <a:prstGeom prst="roundRect">
            <a:avLst>
              <a:gd name="adj" fmla="val 252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3" name="Oval 92"/>
          <p:cNvSpPr/>
          <p:nvPr/>
        </p:nvSpPr>
        <p:spPr>
          <a:xfrm>
            <a:off x="4828032" y="2011680"/>
            <a:ext cx="438912" cy="438912"/>
          </a:xfrm>
          <a:prstGeom prst="ellipse">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2</a:t>
            </a:r>
          </a:p>
        </p:txBody>
      </p:sp>
      <p:sp>
        <p:nvSpPr>
          <p:cNvPr id="94" name="Literature head 2"/>
          <p:cNvSpPr txBox="1"/>
          <p:nvPr/>
        </p:nvSpPr>
        <p:spPr>
          <a:xfrm>
            <a:off x="4828032" y="2578608"/>
            <a:ext cx="2880360" cy="347472"/>
          </a:xfrm>
          <a:prstGeom prst="rect">
            <a:avLst/>
          </a:prstGeom>
          <a:noFill/>
        </p:spPr>
        <p:txBody>
          <a:bodyPr wrap="square" lIns="0" tIns="0" rIns="0" bIns="0" anchor="t">
            <a:noAutofit/>
          </a:bodyPr>
          <a:lstStyle/>
          <a:p>
            <a:pPr algn="l">
              <a:spcAft>
                <a:spcPts val="0"/>
              </a:spcAft>
            </a:pPr>
            <a:r>
              <a:rPr sz="1700" b="1" i="0">
                <a:solidFill>
                  <a:srgbClr val="193F61"/>
                </a:solidFill>
                <a:latin typeface="Calibri"/>
              </a:rPr>
              <a:t>Municipally owned enterprises</a:t>
            </a:r>
          </a:p>
        </p:txBody>
      </p:sp>
      <p:sp>
        <p:nvSpPr>
          <p:cNvPr id="95" name="Literature body 2"/>
          <p:cNvSpPr txBox="1"/>
          <p:nvPr/>
        </p:nvSpPr>
        <p:spPr>
          <a:xfrm>
            <a:off x="4828032" y="2990088"/>
            <a:ext cx="2880360" cy="1188720"/>
          </a:xfrm>
          <a:prstGeom prst="rect">
            <a:avLst/>
          </a:prstGeom>
          <a:noFill/>
        </p:spPr>
        <p:txBody>
          <a:bodyPr wrap="square" lIns="0" tIns="0" rIns="0" bIns="0" anchor="t">
            <a:noAutofit/>
          </a:bodyPr>
          <a:lstStyle/>
          <a:p>
            <a:pPr algn="l">
              <a:spcAft>
                <a:spcPts val="0"/>
              </a:spcAft>
            </a:pPr>
            <a:r>
              <a:rPr sz="1450" b="0" i="0">
                <a:solidFill>
                  <a:srgbClr val="1E2B3A"/>
                </a:solidFill>
                <a:latin typeface="Calibri"/>
              </a:rPr>
              <a:t>Public control combined with corporate organisation; multiple principals create coordination problems in joint service delivery.</a:t>
            </a:r>
          </a:p>
        </p:txBody>
      </p:sp>
      <p:sp>
        <p:nvSpPr>
          <p:cNvPr id="96" name="Literature refs 2"/>
          <p:cNvSpPr txBox="1"/>
          <p:nvPr/>
        </p:nvSpPr>
        <p:spPr>
          <a:xfrm>
            <a:off x="4828032" y="4187952"/>
            <a:ext cx="2880360" cy="411480"/>
          </a:xfrm>
          <a:prstGeom prst="rect">
            <a:avLst/>
          </a:prstGeom>
          <a:noFill/>
        </p:spPr>
        <p:txBody>
          <a:bodyPr wrap="square" lIns="0" tIns="0" rIns="0" bIns="0" anchor="b">
            <a:noAutofit/>
          </a:bodyPr>
          <a:lstStyle/>
          <a:p>
            <a:pPr algn="l">
              <a:spcAft>
                <a:spcPts val="0"/>
              </a:spcAft>
            </a:pPr>
            <a:r>
              <a:rPr sz="1100" b="0" i="1">
                <a:solidFill>
                  <a:srgbClr val="566576"/>
                </a:solidFill>
                <a:latin typeface="Calibri"/>
              </a:rPr>
              <a:t>Bruton et al. 2015; Voorn et al. 2019; Voorn &amp; van Genugten 2022</a:t>
            </a:r>
          </a:p>
        </p:txBody>
      </p:sp>
      <p:sp>
        <p:nvSpPr>
          <p:cNvPr id="97" name="Literature card 3"/>
          <p:cNvSpPr/>
          <p:nvPr/>
        </p:nvSpPr>
        <p:spPr>
          <a:xfrm>
            <a:off x="8229600" y="1810512"/>
            <a:ext cx="3383280" cy="2898648"/>
          </a:xfrm>
          <a:prstGeom prst="roundRect">
            <a:avLst>
              <a:gd name="adj" fmla="val 252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8" name="Oval 97"/>
          <p:cNvSpPr/>
          <p:nvPr/>
        </p:nvSpPr>
        <p:spPr>
          <a:xfrm>
            <a:off x="8485632" y="2011680"/>
            <a:ext cx="438912" cy="438912"/>
          </a:xfrm>
          <a:prstGeom prst="ellipse">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193F61"/>
                </a:solidFill>
                <a:latin typeface="Arial"/>
              </a:rPr>
              <a:t>3</a:t>
            </a:r>
          </a:p>
        </p:txBody>
      </p:sp>
      <p:sp>
        <p:nvSpPr>
          <p:cNvPr id="99" name="Literature head 3"/>
          <p:cNvSpPr txBox="1"/>
          <p:nvPr/>
        </p:nvSpPr>
        <p:spPr>
          <a:xfrm>
            <a:off x="8485632" y="2578608"/>
            <a:ext cx="2880360" cy="347472"/>
          </a:xfrm>
          <a:prstGeom prst="rect">
            <a:avLst/>
          </a:prstGeom>
          <a:noFill/>
        </p:spPr>
        <p:txBody>
          <a:bodyPr wrap="square" lIns="0" tIns="0" rIns="0" bIns="0" anchor="t">
            <a:noAutofit/>
          </a:bodyPr>
          <a:lstStyle/>
          <a:p>
            <a:pPr algn="l">
              <a:spcAft>
                <a:spcPts val="0"/>
              </a:spcAft>
            </a:pPr>
            <a:r>
              <a:rPr sz="1700" b="1" i="0">
                <a:solidFill>
                  <a:srgbClr val="193F61"/>
                </a:solidFill>
                <a:latin typeface="Calibri"/>
              </a:rPr>
              <a:t>Public service ecosystems</a:t>
            </a:r>
          </a:p>
        </p:txBody>
      </p:sp>
      <p:sp>
        <p:nvSpPr>
          <p:cNvPr id="100" name="Literature body 3"/>
          <p:cNvSpPr txBox="1"/>
          <p:nvPr/>
        </p:nvSpPr>
        <p:spPr>
          <a:xfrm>
            <a:off x="8485632" y="2990088"/>
            <a:ext cx="2880360" cy="1188720"/>
          </a:xfrm>
          <a:prstGeom prst="rect">
            <a:avLst/>
          </a:prstGeom>
          <a:noFill/>
        </p:spPr>
        <p:txBody>
          <a:bodyPr wrap="square" lIns="0" tIns="0" rIns="0" bIns="0" anchor="t">
            <a:noAutofit/>
          </a:bodyPr>
          <a:lstStyle/>
          <a:p>
            <a:pPr algn="l">
              <a:spcAft>
                <a:spcPts val="0"/>
              </a:spcAft>
            </a:pPr>
            <a:r>
              <a:rPr sz="1450" b="0" i="0">
                <a:solidFill>
                  <a:srgbClr val="1E2B3A"/>
                </a:solidFill>
                <a:latin typeface="Calibri"/>
              </a:rPr>
              <a:t>Value creation involves political mediation among actors, institutions and competing public values.</a:t>
            </a:r>
          </a:p>
        </p:txBody>
      </p:sp>
      <p:sp>
        <p:nvSpPr>
          <p:cNvPr id="101" name="Literature refs 3"/>
          <p:cNvSpPr txBox="1"/>
          <p:nvPr/>
        </p:nvSpPr>
        <p:spPr>
          <a:xfrm>
            <a:off x="8485632" y="4187952"/>
            <a:ext cx="2880360" cy="411480"/>
          </a:xfrm>
          <a:prstGeom prst="rect">
            <a:avLst/>
          </a:prstGeom>
          <a:noFill/>
        </p:spPr>
        <p:txBody>
          <a:bodyPr wrap="square" lIns="0" tIns="0" rIns="0" bIns="0" anchor="b">
            <a:noAutofit/>
          </a:bodyPr>
          <a:lstStyle/>
          <a:p>
            <a:pPr algn="l">
              <a:spcAft>
                <a:spcPts val="0"/>
              </a:spcAft>
            </a:pPr>
            <a:r>
              <a:rPr sz="1100" b="0" i="1">
                <a:solidFill>
                  <a:srgbClr val="566576"/>
                </a:solidFill>
                <a:latin typeface="Calibri"/>
              </a:rPr>
              <a:t>Osborne et al. 2022; Trischler et al. 2023; Skålén et al. 2024</a:t>
            </a:r>
          </a:p>
        </p:txBody>
      </p:sp>
      <p:sp>
        <p:nvSpPr>
          <p:cNvPr id="102" name="Our lens"/>
          <p:cNvSpPr/>
          <p:nvPr/>
        </p:nvSpPr>
        <p:spPr>
          <a:xfrm>
            <a:off x="914400" y="4873752"/>
            <a:ext cx="10698480" cy="566928"/>
          </a:xfrm>
          <a:prstGeom prst="roundRect">
            <a:avLst>
              <a:gd name="adj" fmla="val 16129"/>
            </a:avLst>
          </a:prstGeom>
          <a:solidFill>
            <a:srgbClr val="D6E0EA"/>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a:spcAft>
                <a:spcPts val="0"/>
              </a:spcAft>
            </a:pPr>
            <a:r>
              <a:rPr sz="1500" b="1" i="0">
                <a:solidFill>
                  <a:srgbClr val="193F61"/>
                </a:solidFill>
                <a:latin typeface="Calibri"/>
              </a:rPr>
              <a:t>Our lens: </a:t>
            </a:r>
            <a:r>
              <a:rPr sz="1500" b="0" i="0">
                <a:solidFill>
                  <a:srgbClr val="193F61"/>
                </a:solidFill>
                <a:latin typeface="Calibri"/>
              </a:rPr>
              <a:t>investment decisions make this mediation observable — an owner may endorse a purpose, provide capital or consider buying an output.</a:t>
            </a:r>
          </a:p>
        </p:txBody>
      </p:sp>
    </p:spTree>
    <p:extLst>
      <p:ext uri="{BB962C8B-B14F-4D97-AF65-F5344CB8AC3E}">
        <p14:creationId xmlns:p14="http://schemas.microsoft.com/office/powerpoint/2010/main" val="382855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Framework: how investability is formed</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4</a:t>
            </a:r>
          </a:p>
        </p:txBody>
      </p:sp>
      <p:sp>
        <p:nvSpPr>
          <p:cNvPr id="87" name="Institutional conditions band"/>
          <p:cNvSpPr/>
          <p:nvPr/>
        </p:nvSpPr>
        <p:spPr>
          <a:xfrm>
            <a:off x="914400" y="1783080"/>
            <a:ext cx="10698480" cy="475488"/>
          </a:xfrm>
          <a:prstGeom prst="roundRect">
            <a:avLst>
              <a:gd name="adj" fmla="val 19230"/>
            </a:avLst>
          </a:prstGeom>
          <a:solidFill>
            <a:srgbClr val="E3EBF5"/>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36576" rIns="228600" bIns="36576">
            <a:noAutofit/>
          </a:bodyPr>
          <a:lstStyle/>
          <a:p>
            <a:pPr algn="l">
              <a:spcAft>
                <a:spcPts val="0"/>
              </a:spcAft>
            </a:pPr>
            <a:r>
              <a:rPr sz="1450" b="1" i="0">
                <a:solidFill>
                  <a:srgbClr val="193F61"/>
                </a:solidFill>
                <a:latin typeface="Calibri"/>
              </a:rPr>
              <a:t>Institutional conditions</a:t>
            </a:r>
            <a:r>
              <a:rPr sz="1450" b="0" i="0">
                <a:solidFill>
                  <a:srgbClr val="193F61"/>
                </a:solidFill>
                <a:latin typeface="Calibri"/>
              </a:rPr>
              <a:t>  —  rules and established practices setting authority, cost recovery and purchasing conditions</a:t>
            </a:r>
          </a:p>
        </p:txBody>
      </p:sp>
      <p:sp>
        <p:nvSpPr>
          <p:cNvPr id="88" name="TextBox 87"/>
          <p:cNvSpPr txBox="1"/>
          <p:nvPr/>
        </p:nvSpPr>
        <p:spPr>
          <a:xfrm>
            <a:off x="914400" y="2487168"/>
            <a:ext cx="2103120" cy="292608"/>
          </a:xfrm>
          <a:prstGeom prst="rect">
            <a:avLst/>
          </a:prstGeom>
          <a:noFill/>
        </p:spPr>
        <p:txBody>
          <a:bodyPr wrap="square" lIns="0" tIns="0" rIns="0" bIns="0" anchor="t">
            <a:noAutofit/>
          </a:bodyPr>
          <a:lstStyle/>
          <a:p>
            <a:pPr algn="ctr">
              <a:spcAft>
                <a:spcPts val="0"/>
              </a:spcAft>
            </a:pPr>
            <a:r>
              <a:rPr sz="1200" b="0" i="1">
                <a:solidFill>
                  <a:srgbClr val="566576"/>
                </a:solidFill>
                <a:latin typeface="Calibri"/>
              </a:rPr>
              <a:t>Councils and company boards</a:t>
            </a:r>
          </a:p>
        </p:txBody>
      </p:sp>
      <p:sp>
        <p:nvSpPr>
          <p:cNvPr id="89" name="Political objectives"/>
          <p:cNvSpPr/>
          <p:nvPr/>
        </p:nvSpPr>
        <p:spPr>
          <a:xfrm>
            <a:off x="914400" y="2852928"/>
            <a:ext cx="2103120" cy="566928"/>
          </a:xfrm>
          <a:prstGeom prst="roundRect">
            <a:avLst>
              <a:gd name="adj" fmla="val 12903"/>
            </a:avLst>
          </a:prstGeom>
          <a:solidFill>
            <a:srgbClr val="193F61"/>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54864" rIns="54864" bIns="54864">
            <a:noAutofit/>
          </a:bodyPr>
          <a:lstStyle/>
          <a:p>
            <a:pPr algn="ctr">
              <a:spcAft>
                <a:spcPts val="0"/>
              </a:spcAft>
            </a:pPr>
            <a:r>
              <a:rPr sz="1450" b="1" i="0">
                <a:solidFill>
                  <a:srgbClr val="FFFFFF"/>
                </a:solidFill>
                <a:latin typeface="Calibri"/>
              </a:rPr>
              <a:t>Political objectives</a:t>
            </a:r>
          </a:p>
        </p:txBody>
      </p:sp>
      <p:cxnSp>
        <p:nvCxnSpPr>
          <p:cNvPr id="90" name="Connector 89"/>
          <p:cNvCxnSpPr/>
          <p:nvPr/>
        </p:nvCxnSpPr>
        <p:spPr>
          <a:xfrm>
            <a:off x="1965960" y="3456432"/>
            <a:ext cx="0" cy="640080"/>
          </a:xfrm>
          <a:prstGeom prst="line">
            <a:avLst/>
          </a:prstGeom>
          <a:ln w="15875">
            <a:solidFill>
              <a:srgbClr val="56657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2075688" y="3611880"/>
            <a:ext cx="960120" cy="365760"/>
          </a:xfrm>
          <a:prstGeom prst="rect">
            <a:avLst/>
          </a:prstGeom>
          <a:noFill/>
        </p:spPr>
        <p:txBody>
          <a:bodyPr wrap="square" lIns="0" tIns="0" rIns="0" bIns="0" anchor="t">
            <a:noAutofit/>
          </a:bodyPr>
          <a:lstStyle/>
          <a:p>
            <a:pPr algn="l">
              <a:spcAft>
                <a:spcPts val="0"/>
              </a:spcAft>
            </a:pPr>
            <a:r>
              <a:rPr sz="1100" b="0" i="1">
                <a:solidFill>
                  <a:srgbClr val="566576"/>
                </a:solidFill>
                <a:latin typeface="Calibri"/>
              </a:rPr>
              <a:t>tension or alignment</a:t>
            </a:r>
          </a:p>
        </p:txBody>
      </p:sp>
      <p:sp>
        <p:nvSpPr>
          <p:cNvPr id="92" name="Business appraisal"/>
          <p:cNvSpPr/>
          <p:nvPr/>
        </p:nvSpPr>
        <p:spPr>
          <a:xfrm>
            <a:off x="914400" y="4133088"/>
            <a:ext cx="2103120" cy="566928"/>
          </a:xfrm>
          <a:prstGeom prst="roundRect">
            <a:avLst>
              <a:gd name="adj" fmla="val 12903"/>
            </a:avLst>
          </a:prstGeom>
          <a:solidFill>
            <a:srgbClr val="193F61"/>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54864" rIns="54864" bIns="54864">
            <a:noAutofit/>
          </a:bodyPr>
          <a:lstStyle/>
          <a:p>
            <a:pPr algn="ctr">
              <a:spcAft>
                <a:spcPts val="0"/>
              </a:spcAft>
            </a:pPr>
            <a:r>
              <a:rPr sz="1450" b="1" i="0">
                <a:solidFill>
                  <a:srgbClr val="FFFFFF"/>
                </a:solidFill>
                <a:latin typeface="Calibri"/>
              </a:rPr>
              <a:t>Business appraisal</a:t>
            </a:r>
          </a:p>
        </p:txBody>
      </p:sp>
      <p:sp>
        <p:nvSpPr>
          <p:cNvPr id="93" name="Appraisal container"/>
          <p:cNvSpPr/>
          <p:nvPr/>
        </p:nvSpPr>
        <p:spPr>
          <a:xfrm>
            <a:off x="3429000" y="2450592"/>
            <a:ext cx="2606040" cy="2395728"/>
          </a:xfrm>
          <a:prstGeom prst="roundRect">
            <a:avLst>
              <a:gd name="adj" fmla="val 3816"/>
            </a:avLst>
          </a:prstGeom>
          <a:solidFill>
            <a:srgbClr val="FFFFFF"/>
          </a:solidFill>
          <a:ln w="9525">
            <a:solidFill>
              <a:srgbClr val="C5D0DC"/>
            </a:solid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4" name="TextBox 93"/>
          <p:cNvSpPr txBox="1"/>
          <p:nvPr/>
        </p:nvSpPr>
        <p:spPr>
          <a:xfrm>
            <a:off x="3429000" y="2505456"/>
            <a:ext cx="2606040" cy="292608"/>
          </a:xfrm>
          <a:prstGeom prst="rect">
            <a:avLst/>
          </a:prstGeom>
          <a:noFill/>
        </p:spPr>
        <p:txBody>
          <a:bodyPr wrap="square" lIns="0" tIns="0" rIns="0" bIns="0" anchor="t">
            <a:noAutofit/>
          </a:bodyPr>
          <a:lstStyle/>
          <a:p>
            <a:pPr algn="ctr">
              <a:spcAft>
                <a:spcPts val="0"/>
              </a:spcAft>
            </a:pPr>
            <a:r>
              <a:rPr sz="1350" b="1" i="0">
                <a:solidFill>
                  <a:srgbClr val="193F61"/>
                </a:solidFill>
                <a:latin typeface="Calibri"/>
              </a:rPr>
              <a:t>Appraisal and authorisation</a:t>
            </a:r>
          </a:p>
        </p:txBody>
      </p:sp>
      <p:sp>
        <p:nvSpPr>
          <p:cNvPr id="95" name="Channel 1"/>
          <p:cNvSpPr/>
          <p:nvPr/>
        </p:nvSpPr>
        <p:spPr>
          <a:xfrm>
            <a:off x="3584448" y="2852928"/>
            <a:ext cx="2295144" cy="530352"/>
          </a:xfrm>
          <a:prstGeom prst="roundRect">
            <a:avLst>
              <a:gd name="adj" fmla="val 13793"/>
            </a:avLst>
          </a:prstGeom>
          <a:solidFill>
            <a:srgbClr val="E3EBF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0"/>
              </a:spcAft>
            </a:pPr>
            <a:r>
              <a:rPr sz="1350" b="0" i="0">
                <a:solidFill>
                  <a:srgbClr val="193F61"/>
                </a:solidFill>
                <a:latin typeface="Calibri"/>
              </a:rPr>
              <a:t>Owner capital and guarantees</a:t>
            </a:r>
          </a:p>
        </p:txBody>
      </p:sp>
      <p:sp>
        <p:nvSpPr>
          <p:cNvPr id="96" name="Channel 2"/>
          <p:cNvSpPr/>
          <p:nvPr/>
        </p:nvSpPr>
        <p:spPr>
          <a:xfrm>
            <a:off x="3584448" y="3493008"/>
            <a:ext cx="2295144" cy="530352"/>
          </a:xfrm>
          <a:prstGeom prst="roundRect">
            <a:avLst>
              <a:gd name="adj" fmla="val 13793"/>
            </a:avLst>
          </a:prstGeom>
          <a:solidFill>
            <a:srgbClr val="E3EBF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0"/>
              </a:spcAft>
            </a:pPr>
            <a:r>
              <a:rPr sz="1350" b="0" i="0">
                <a:solidFill>
                  <a:srgbClr val="193F61"/>
                </a:solidFill>
                <a:latin typeface="Calibri"/>
              </a:rPr>
              <a:t>Prospective owner purchases</a:t>
            </a:r>
          </a:p>
        </p:txBody>
      </p:sp>
      <p:sp>
        <p:nvSpPr>
          <p:cNvPr id="97" name="Channel 3"/>
          <p:cNvSpPr/>
          <p:nvPr/>
        </p:nvSpPr>
        <p:spPr>
          <a:xfrm>
            <a:off x="3584448" y="4133088"/>
            <a:ext cx="2295144" cy="530352"/>
          </a:xfrm>
          <a:prstGeom prst="roundRect">
            <a:avLst>
              <a:gd name="adj" fmla="val 13793"/>
            </a:avLst>
          </a:prstGeom>
          <a:solidFill>
            <a:srgbClr val="E3EBF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0"/>
              </a:spcAft>
            </a:pPr>
            <a:r>
              <a:rPr sz="1350" b="0" i="0">
                <a:solidFill>
                  <a:srgbClr val="193F61"/>
                </a:solidFill>
                <a:latin typeface="Calibri"/>
              </a:rPr>
              <a:t>Agreements between companies</a:t>
            </a:r>
          </a:p>
        </p:txBody>
      </p:sp>
      <p:cxnSp>
        <p:nvCxnSpPr>
          <p:cNvPr id="98" name="Connector 97"/>
          <p:cNvCxnSpPr/>
          <p:nvPr/>
        </p:nvCxnSpPr>
        <p:spPr>
          <a:xfrm>
            <a:off x="3017520" y="3776472"/>
            <a:ext cx="411480" cy="0"/>
          </a:xfrm>
          <a:prstGeom prst="line">
            <a:avLst/>
          </a:prstGeom>
          <a:ln w="19050">
            <a:solidFill>
              <a:srgbClr val="193F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Approved financing"/>
          <p:cNvSpPr/>
          <p:nvPr/>
        </p:nvSpPr>
        <p:spPr>
          <a:xfrm>
            <a:off x="6858000" y="2852928"/>
            <a:ext cx="2057400" cy="530352"/>
          </a:xfrm>
          <a:prstGeom prst="roundRect">
            <a:avLst>
              <a:gd name="adj" fmla="val 13793"/>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0"/>
              </a:spcAft>
            </a:pPr>
            <a:r>
              <a:rPr sz="1400" b="1" i="0">
                <a:solidFill>
                  <a:srgbClr val="FFFFFF"/>
                </a:solidFill>
                <a:latin typeface="Calibri"/>
              </a:rPr>
              <a:t>Approved financing</a:t>
            </a:r>
          </a:p>
        </p:txBody>
      </p:sp>
      <p:sp>
        <p:nvSpPr>
          <p:cNvPr id="100" name="TextBox 99"/>
          <p:cNvSpPr txBox="1"/>
          <p:nvPr/>
        </p:nvSpPr>
        <p:spPr>
          <a:xfrm>
            <a:off x="6858000" y="3529584"/>
            <a:ext cx="2057400" cy="457200"/>
          </a:xfrm>
          <a:prstGeom prst="rect">
            <a:avLst/>
          </a:prstGeom>
          <a:noFill/>
        </p:spPr>
        <p:txBody>
          <a:bodyPr wrap="square" lIns="0" tIns="0" rIns="0" bIns="0" anchor="ctr">
            <a:noAutofit/>
          </a:bodyPr>
          <a:lstStyle/>
          <a:p>
            <a:pPr algn="ctr">
              <a:spcAft>
                <a:spcPts val="0"/>
              </a:spcAft>
            </a:pPr>
            <a:r>
              <a:rPr sz="2600" b="1" i="0">
                <a:solidFill>
                  <a:srgbClr val="193F61"/>
                </a:solidFill>
                <a:latin typeface="Calibri"/>
              </a:rPr>
              <a:t>+</a:t>
            </a:r>
          </a:p>
        </p:txBody>
      </p:sp>
      <p:sp>
        <p:nvSpPr>
          <p:cNvPr id="101" name="Credible cost recovery"/>
          <p:cNvSpPr/>
          <p:nvPr/>
        </p:nvSpPr>
        <p:spPr>
          <a:xfrm>
            <a:off x="6858000" y="4133088"/>
            <a:ext cx="2057400" cy="530352"/>
          </a:xfrm>
          <a:prstGeom prst="roundRect">
            <a:avLst>
              <a:gd name="adj" fmla="val 13793"/>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a:noAutofit/>
          </a:bodyPr>
          <a:lstStyle/>
          <a:p>
            <a:pPr algn="ctr">
              <a:spcAft>
                <a:spcPts val="0"/>
              </a:spcAft>
            </a:pPr>
            <a:r>
              <a:rPr sz="1400" b="1" i="0">
                <a:solidFill>
                  <a:srgbClr val="FFFFFF"/>
                </a:solidFill>
                <a:latin typeface="Calibri"/>
              </a:rPr>
              <a:t>Credible cost recovery</a:t>
            </a:r>
          </a:p>
        </p:txBody>
      </p:sp>
      <p:cxnSp>
        <p:nvCxnSpPr>
          <p:cNvPr id="102" name="Connector 101"/>
          <p:cNvCxnSpPr/>
          <p:nvPr/>
        </p:nvCxnSpPr>
        <p:spPr>
          <a:xfrm>
            <a:off x="5879592" y="3118104"/>
            <a:ext cx="978408" cy="0"/>
          </a:xfrm>
          <a:prstGeom prst="line">
            <a:avLst/>
          </a:prstGeom>
          <a:ln w="19050">
            <a:solidFill>
              <a:srgbClr val="193F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5943600" y="2788920"/>
            <a:ext cx="914400" cy="274320"/>
          </a:xfrm>
          <a:prstGeom prst="rect">
            <a:avLst/>
          </a:prstGeom>
          <a:noFill/>
        </p:spPr>
        <p:txBody>
          <a:bodyPr wrap="square" lIns="0" tIns="0" rIns="0" bIns="0" anchor="t">
            <a:noAutofit/>
          </a:bodyPr>
          <a:lstStyle/>
          <a:p>
            <a:pPr algn="ctr">
              <a:spcAft>
                <a:spcPts val="0"/>
              </a:spcAft>
            </a:pPr>
            <a:r>
              <a:rPr sz="1050" b="0" i="1">
                <a:solidFill>
                  <a:srgbClr val="566576"/>
                </a:solidFill>
                <a:latin typeface="Calibri"/>
              </a:rPr>
              <a:t>financing</a:t>
            </a:r>
          </a:p>
        </p:txBody>
      </p:sp>
      <p:cxnSp>
        <p:nvCxnSpPr>
          <p:cNvPr id="104" name="Connector 103"/>
          <p:cNvCxnSpPr/>
          <p:nvPr/>
        </p:nvCxnSpPr>
        <p:spPr>
          <a:xfrm>
            <a:off x="5879592" y="3758184"/>
            <a:ext cx="978408" cy="557784"/>
          </a:xfrm>
          <a:prstGeom prst="line">
            <a:avLst/>
          </a:prstGeom>
          <a:ln w="19050">
            <a:solidFill>
              <a:srgbClr val="56657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879592" y="4398264"/>
            <a:ext cx="978408" cy="0"/>
          </a:xfrm>
          <a:prstGeom prst="line">
            <a:avLst/>
          </a:prstGeom>
          <a:ln w="19050">
            <a:solidFill>
              <a:srgbClr val="193F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5943600" y="4443984"/>
            <a:ext cx="914400" cy="274320"/>
          </a:xfrm>
          <a:prstGeom prst="rect">
            <a:avLst/>
          </a:prstGeom>
          <a:noFill/>
        </p:spPr>
        <p:txBody>
          <a:bodyPr wrap="square" lIns="0" tIns="0" rIns="0" bIns="0" anchor="t">
            <a:noAutofit/>
          </a:bodyPr>
          <a:lstStyle/>
          <a:p>
            <a:pPr algn="ctr">
              <a:spcAft>
                <a:spcPts val="0"/>
              </a:spcAft>
            </a:pPr>
            <a:r>
              <a:rPr sz="1050" b="0" i="1">
                <a:solidFill>
                  <a:srgbClr val="566576"/>
                </a:solidFill>
                <a:latin typeface="Calibri"/>
              </a:rPr>
              <a:t>cost allocation</a:t>
            </a:r>
          </a:p>
        </p:txBody>
      </p:sp>
      <p:sp>
        <p:nvSpPr>
          <p:cNvPr id="107" name="Investability"/>
          <p:cNvSpPr/>
          <p:nvPr/>
        </p:nvSpPr>
        <p:spPr>
          <a:xfrm>
            <a:off x="9418320" y="2697480"/>
            <a:ext cx="2194560" cy="1188720"/>
          </a:xfrm>
          <a:prstGeom prst="roundRect">
            <a:avLst>
              <a:gd name="adj" fmla="val 6153"/>
            </a:avLst>
          </a:prstGeom>
          <a:solidFill>
            <a:srgbClr val="193F61"/>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tIns="73152" rIns="109728" bIns="73152">
            <a:noAutofit/>
          </a:bodyPr>
          <a:lstStyle/>
          <a:p>
            <a:pPr algn="ctr">
              <a:spcAft>
                <a:spcPts val="300"/>
              </a:spcAft>
            </a:pPr>
            <a:r>
              <a:rPr sz="1900" b="1" i="0">
                <a:solidFill>
                  <a:srgbClr val="FFFFFF"/>
                </a:solidFill>
                <a:latin typeface="Arial"/>
              </a:rPr>
              <a:t>Investability</a:t>
            </a:r>
          </a:p>
          <a:p>
            <a:pPr algn="ctr">
              <a:spcAft>
                <a:spcPts val="0"/>
              </a:spcAft>
            </a:pPr>
            <a:r>
              <a:rPr sz="1200" b="0" i="1">
                <a:solidFill>
                  <a:srgbClr val="D6E0EA"/>
                </a:solidFill>
                <a:latin typeface="Calibri"/>
              </a:rPr>
              <a:t>approved financing + credible cost recovery</a:t>
            </a:r>
          </a:p>
        </p:txBody>
      </p:sp>
      <p:sp>
        <p:nvSpPr>
          <p:cNvPr id="108" name="Revisability"/>
          <p:cNvSpPr/>
          <p:nvPr/>
        </p:nvSpPr>
        <p:spPr>
          <a:xfrm>
            <a:off x="9418320" y="4069080"/>
            <a:ext cx="2194560" cy="1051560"/>
          </a:xfrm>
          <a:prstGeom prst="roundRect">
            <a:avLst>
              <a:gd name="adj" fmla="val 6956"/>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noAutofit/>
          </a:bodyPr>
          <a:lstStyle/>
          <a:p>
            <a:pPr algn="ctr">
              <a:spcAft>
                <a:spcPts val="200"/>
              </a:spcAft>
            </a:pPr>
            <a:r>
              <a:rPr sz="1600" b="1" i="0">
                <a:solidFill>
                  <a:srgbClr val="193F61"/>
                </a:solidFill>
                <a:latin typeface="Arial"/>
              </a:rPr>
              <a:t>Revisability</a:t>
            </a:r>
          </a:p>
          <a:p>
            <a:pPr algn="ctr">
              <a:spcAft>
                <a:spcPts val="0"/>
              </a:spcAft>
            </a:pPr>
            <a:r>
              <a:rPr sz="1150" b="0" i="0">
                <a:solidFill>
                  <a:srgbClr val="193F61"/>
                </a:solidFill>
                <a:latin typeface="Calibri"/>
              </a:rPr>
              <a:t>Can these conditions hold when technology, scale, timing or activities change?</a:t>
            </a:r>
          </a:p>
        </p:txBody>
      </p:sp>
      <p:cxnSp>
        <p:nvCxnSpPr>
          <p:cNvPr id="109" name="Connector 108"/>
          <p:cNvCxnSpPr/>
          <p:nvPr/>
        </p:nvCxnSpPr>
        <p:spPr>
          <a:xfrm>
            <a:off x="8915400" y="3118104"/>
            <a:ext cx="502920" cy="82296"/>
          </a:xfrm>
          <a:prstGeom prst="line">
            <a:avLst/>
          </a:prstGeom>
          <a:ln w="19050">
            <a:solidFill>
              <a:srgbClr val="193F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915400" y="3520440"/>
            <a:ext cx="502920" cy="877824"/>
          </a:xfrm>
          <a:prstGeom prst="line">
            <a:avLst/>
          </a:prstGeom>
          <a:ln w="19050">
            <a:solidFill>
              <a:srgbClr val="193F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Feedback loop"/>
          <p:cNvSpPr/>
          <p:nvPr/>
        </p:nvSpPr>
        <p:spPr>
          <a:xfrm>
            <a:off x="4736592" y="4846320"/>
            <a:ext cx="5779008" cy="438912"/>
          </a:xfrm>
          <a:custGeom>
            <a:avLst/>
            <a:gdLst/>
            <a:ahLst/>
            <a:cxnLst/>
            <a:rect l="l" t="t" r="r" b="b"/>
            <a:pathLst>
              <a:path w="5779008" h="438912">
                <a:moveTo>
                  <a:pt x="5779008" y="274320"/>
                </a:moveTo>
                <a:lnTo>
                  <a:pt x="5779008" y="438912"/>
                </a:lnTo>
                <a:lnTo>
                  <a:pt x="0" y="438912"/>
                </a:lnTo>
                <a:lnTo>
                  <a:pt x="0" y="0"/>
                </a:lnTo>
              </a:path>
            </a:pathLst>
          </a:custGeom>
          <a:noFill/>
          <a:ln w="15875">
            <a:solidFill>
              <a:srgbClr val="566576"/>
            </a:solidFill>
            <a:prstDash val="dash"/>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669280" y="5001768"/>
            <a:ext cx="3566160" cy="256032"/>
          </a:xfrm>
          <a:prstGeom prst="rect">
            <a:avLst/>
          </a:prstGeom>
          <a:noFill/>
        </p:spPr>
        <p:txBody>
          <a:bodyPr wrap="square" lIns="0" tIns="0" rIns="0" bIns="0" anchor="t">
            <a:noAutofit/>
          </a:bodyPr>
          <a:lstStyle/>
          <a:p>
            <a:pPr algn="ctr">
              <a:spcAft>
                <a:spcPts val="0"/>
              </a:spcAft>
            </a:pPr>
            <a:r>
              <a:rPr sz="1050" b="0" i="1">
                <a:solidFill>
                  <a:srgbClr val="566576"/>
                </a:solidFill>
                <a:latin typeface="Calibri"/>
              </a:rPr>
              <a:t>revising the pathway returns to appraisal and authorisation</a:t>
            </a:r>
          </a:p>
        </p:txBody>
      </p:sp>
    </p:spTree>
    <p:extLst>
      <p:ext uri="{BB962C8B-B14F-4D97-AF65-F5344CB8AC3E}">
        <p14:creationId xmlns:p14="http://schemas.microsoft.com/office/powerpoint/2010/main" val="382855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Three municipal arrangements, 15 records</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5</a:t>
            </a:r>
          </a:p>
        </p:txBody>
      </p:sp>
      <p:sp>
        <p:nvSpPr>
          <p:cNvPr id="87" name="Case card 1"/>
          <p:cNvSpPr/>
          <p:nvPr/>
        </p:nvSpPr>
        <p:spPr>
          <a:xfrm>
            <a:off x="914400" y="1810512"/>
            <a:ext cx="3383280" cy="2331720"/>
          </a:xfrm>
          <a:prstGeom prst="roundRect">
            <a:avLst>
              <a:gd name="adj" fmla="val 3137"/>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8" name="Rounded Rectangle 87"/>
          <p:cNvSpPr/>
          <p:nvPr/>
        </p:nvSpPr>
        <p:spPr>
          <a:xfrm>
            <a:off x="1143000" y="1993392"/>
            <a:ext cx="1051560" cy="274320"/>
          </a:xfrm>
          <a:prstGeom prst="roundRect">
            <a:avLst>
              <a:gd name="adj" fmla="val 50000"/>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100" b="1" i="0">
                <a:solidFill>
                  <a:srgbClr val="FFFFFF"/>
                </a:solidFill>
                <a:latin typeface="Calibri"/>
              </a:rPr>
              <a:t>FINLAND</a:t>
            </a:r>
          </a:p>
        </p:txBody>
      </p:sp>
      <p:sp>
        <p:nvSpPr>
          <p:cNvPr id="89" name="TextBox 88"/>
          <p:cNvSpPr txBox="1"/>
          <p:nvPr/>
        </p:nvSpPr>
        <p:spPr>
          <a:xfrm>
            <a:off x="1143000" y="2359152"/>
            <a:ext cx="2971800" cy="365760"/>
          </a:xfrm>
          <a:prstGeom prst="rect">
            <a:avLst/>
          </a:prstGeom>
          <a:noFill/>
        </p:spPr>
        <p:txBody>
          <a:bodyPr wrap="square" lIns="0" tIns="0" rIns="0" bIns="0" anchor="t">
            <a:noAutofit/>
          </a:bodyPr>
          <a:lstStyle/>
          <a:p>
            <a:pPr algn="l">
              <a:spcAft>
                <a:spcPts val="0"/>
              </a:spcAft>
            </a:pPr>
            <a:r>
              <a:rPr sz="1800" b="1" i="0">
                <a:solidFill>
                  <a:srgbClr val="193F61"/>
                </a:solidFill>
                <a:latin typeface="Arial"/>
              </a:rPr>
              <a:t>Helsinki — Helen</a:t>
            </a:r>
          </a:p>
        </p:txBody>
      </p:sp>
      <p:sp>
        <p:nvSpPr>
          <p:cNvPr id="90" name="Case body 1"/>
          <p:cNvSpPr txBox="1"/>
          <p:nvPr/>
        </p:nvSpPr>
        <p:spPr>
          <a:xfrm>
            <a:off x="1143000" y="2788920"/>
            <a:ext cx="2971800" cy="1005840"/>
          </a:xfrm>
          <a:prstGeom prst="rect">
            <a:avLst/>
          </a:prstGeom>
          <a:noFill/>
        </p:spPr>
        <p:txBody>
          <a:bodyPr wrap="square" lIns="0" tIns="0" rIns="0" bIns="0" anchor="t">
            <a:noAutofit/>
          </a:bodyPr>
          <a:lstStyle/>
          <a:p>
            <a:pPr algn="l" marL="201168" indent="-201168">
              <a:spcAft>
                <a:spcPts val="400"/>
              </a:spcAft>
              <a:buClr>
                <a:srgbClr val="129152"/>
              </a:buClr>
              <a:buFont typeface="Arial"/>
              <a:buChar char="•"/>
            </a:pPr>
            <a:r>
              <a:rPr sz="1400" b="0" i="0">
                <a:solidFill>
                  <a:srgbClr val="1E2B3A"/>
                </a:solidFill>
                <a:latin typeface="Calibri"/>
              </a:rPr>
              <a:t>City-owned energy company, incorporated in 2015</a:t>
            </a:r>
          </a:p>
          <a:p>
            <a:pPr algn="l" marL="201168" indent="-201168">
              <a:spcAft>
                <a:spcPts val="400"/>
              </a:spcAft>
              <a:buClr>
                <a:srgbClr val="129152"/>
              </a:buClr>
              <a:buFont typeface="Arial"/>
              <a:buChar char="•"/>
            </a:pPr>
            <a:r>
              <a:rPr sz="1400" b="0" i="0">
                <a:solidFill>
                  <a:srgbClr val="1E2B3A"/>
                </a:solidFill>
                <a:latin typeface="Calibri"/>
              </a:rPr>
              <a:t>Heat: decentralised production pathway and coal closures</a:t>
            </a:r>
          </a:p>
        </p:txBody>
      </p:sp>
      <p:sp>
        <p:nvSpPr>
          <p:cNvPr id="91" name="TextBox 90"/>
          <p:cNvSpPr txBox="1"/>
          <p:nvPr/>
        </p:nvSpPr>
        <p:spPr>
          <a:xfrm>
            <a:off x="1143000" y="3794760"/>
            <a:ext cx="2971800" cy="256032"/>
          </a:xfrm>
          <a:prstGeom prst="rect">
            <a:avLst/>
          </a:prstGeom>
          <a:noFill/>
        </p:spPr>
        <p:txBody>
          <a:bodyPr wrap="square" lIns="0" tIns="0" rIns="0" bIns="0" anchor="t">
            <a:noAutofit/>
          </a:bodyPr>
          <a:lstStyle/>
          <a:p>
            <a:pPr algn="l">
              <a:spcAft>
                <a:spcPts val="0"/>
              </a:spcAft>
            </a:pPr>
            <a:r>
              <a:rPr sz="1150" b="0" i="1">
                <a:solidFill>
                  <a:srgbClr val="566576"/>
                </a:solidFill>
                <a:latin typeface="Calibri"/>
              </a:rPr>
              <a:t>Records H1–H5</a:t>
            </a:r>
          </a:p>
        </p:txBody>
      </p:sp>
      <p:sp>
        <p:nvSpPr>
          <p:cNvPr id="92" name="Case card 2"/>
          <p:cNvSpPr/>
          <p:nvPr/>
        </p:nvSpPr>
        <p:spPr>
          <a:xfrm>
            <a:off x="4572000" y="1810512"/>
            <a:ext cx="3383280" cy="2331720"/>
          </a:xfrm>
          <a:prstGeom prst="roundRect">
            <a:avLst>
              <a:gd name="adj" fmla="val 3137"/>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3" name="Rounded Rectangle 92"/>
          <p:cNvSpPr/>
          <p:nvPr/>
        </p:nvSpPr>
        <p:spPr>
          <a:xfrm>
            <a:off x="4800600" y="1993392"/>
            <a:ext cx="1051560" cy="274320"/>
          </a:xfrm>
          <a:prstGeom prst="roundRect">
            <a:avLst>
              <a:gd name="adj" fmla="val 50000"/>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100" b="1" i="0">
                <a:solidFill>
                  <a:srgbClr val="FFFFFF"/>
                </a:solidFill>
                <a:latin typeface="Calibri"/>
              </a:rPr>
              <a:t>DENMARK</a:t>
            </a:r>
          </a:p>
        </p:txBody>
      </p:sp>
      <p:sp>
        <p:nvSpPr>
          <p:cNvPr id="94" name="TextBox 93"/>
          <p:cNvSpPr txBox="1"/>
          <p:nvPr/>
        </p:nvSpPr>
        <p:spPr>
          <a:xfrm>
            <a:off x="4800600" y="2359152"/>
            <a:ext cx="2971800" cy="365760"/>
          </a:xfrm>
          <a:prstGeom prst="rect">
            <a:avLst/>
          </a:prstGeom>
          <a:noFill/>
        </p:spPr>
        <p:txBody>
          <a:bodyPr wrap="square" lIns="0" tIns="0" rIns="0" bIns="0" anchor="t">
            <a:noAutofit/>
          </a:bodyPr>
          <a:lstStyle/>
          <a:p>
            <a:pPr algn="l">
              <a:spcAft>
                <a:spcPts val="0"/>
              </a:spcAft>
            </a:pPr>
            <a:r>
              <a:rPr sz="1800" b="1" i="0">
                <a:solidFill>
                  <a:srgbClr val="193F61"/>
                </a:solidFill>
                <a:latin typeface="Arial"/>
              </a:rPr>
              <a:t>Aalborg — utility group</a:t>
            </a:r>
          </a:p>
        </p:txBody>
      </p:sp>
      <p:sp>
        <p:nvSpPr>
          <p:cNvPr id="95" name="Case body 2"/>
          <p:cNvSpPr txBox="1"/>
          <p:nvPr/>
        </p:nvSpPr>
        <p:spPr>
          <a:xfrm>
            <a:off x="4800600" y="2788920"/>
            <a:ext cx="2971800" cy="1005840"/>
          </a:xfrm>
          <a:prstGeom prst="rect">
            <a:avLst/>
          </a:prstGeom>
          <a:noFill/>
        </p:spPr>
        <p:txBody>
          <a:bodyPr wrap="square" lIns="0" tIns="0" rIns="0" bIns="0" anchor="t">
            <a:noAutofit/>
          </a:bodyPr>
          <a:lstStyle/>
          <a:p>
            <a:pPr algn="l" marL="201168" indent="-201168">
              <a:spcAft>
                <a:spcPts val="400"/>
              </a:spcAft>
              <a:buClr>
                <a:srgbClr val="129152"/>
              </a:buClr>
              <a:buFont typeface="Arial"/>
              <a:buChar char="•"/>
            </a:pPr>
            <a:r>
              <a:rPr sz="1400" b="0" i="0">
                <a:solidFill>
                  <a:srgbClr val="1E2B3A"/>
                </a:solidFill>
                <a:latin typeface="Calibri"/>
              </a:rPr>
              <a:t>Aalborg Forsyning; Varme buys heat from Nordjyllandsværket</a:t>
            </a:r>
          </a:p>
          <a:p>
            <a:pPr algn="l" marL="201168" indent="-201168">
              <a:spcAft>
                <a:spcPts val="400"/>
              </a:spcAft>
              <a:buClr>
                <a:srgbClr val="129152"/>
              </a:buClr>
              <a:buFont typeface="Arial"/>
              <a:buChar char="•"/>
            </a:pPr>
            <a:r>
              <a:rPr sz="1400" b="0" i="0">
                <a:solidFill>
                  <a:srgbClr val="1E2B3A"/>
                </a:solidFill>
                <a:latin typeface="Calibri"/>
              </a:rPr>
              <a:t>Heat: e-boiler, network guarantee, Vest heat pump</a:t>
            </a:r>
          </a:p>
        </p:txBody>
      </p:sp>
      <p:sp>
        <p:nvSpPr>
          <p:cNvPr id="96" name="TextBox 95"/>
          <p:cNvSpPr txBox="1"/>
          <p:nvPr/>
        </p:nvSpPr>
        <p:spPr>
          <a:xfrm>
            <a:off x="4800600" y="3794760"/>
            <a:ext cx="2971800" cy="256032"/>
          </a:xfrm>
          <a:prstGeom prst="rect">
            <a:avLst/>
          </a:prstGeom>
          <a:noFill/>
        </p:spPr>
        <p:txBody>
          <a:bodyPr wrap="square" lIns="0" tIns="0" rIns="0" bIns="0" anchor="t">
            <a:noAutofit/>
          </a:bodyPr>
          <a:lstStyle/>
          <a:p>
            <a:pPr algn="l">
              <a:spcAft>
                <a:spcPts val="0"/>
              </a:spcAft>
            </a:pPr>
            <a:r>
              <a:rPr sz="1150" b="0" i="1">
                <a:solidFill>
                  <a:srgbClr val="566576"/>
                </a:solidFill>
                <a:latin typeface="Calibri"/>
              </a:rPr>
              <a:t>Records A1–A6</a:t>
            </a:r>
          </a:p>
        </p:txBody>
      </p:sp>
      <p:sp>
        <p:nvSpPr>
          <p:cNvPr id="97" name="Case card 3"/>
          <p:cNvSpPr/>
          <p:nvPr/>
        </p:nvSpPr>
        <p:spPr>
          <a:xfrm>
            <a:off x="8229600" y="1810512"/>
            <a:ext cx="3383280" cy="2331720"/>
          </a:xfrm>
          <a:prstGeom prst="roundRect">
            <a:avLst>
              <a:gd name="adj" fmla="val 3137"/>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8" name="Rounded Rectangle 97"/>
          <p:cNvSpPr/>
          <p:nvPr/>
        </p:nvSpPr>
        <p:spPr>
          <a:xfrm>
            <a:off x="8458200" y="1993392"/>
            <a:ext cx="1051560" cy="274320"/>
          </a:xfrm>
          <a:prstGeom prst="roundRect">
            <a:avLst>
              <a:gd name="adj" fmla="val 50000"/>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100" b="1" i="0">
                <a:solidFill>
                  <a:srgbClr val="193F61"/>
                </a:solidFill>
                <a:latin typeface="Calibri"/>
              </a:rPr>
              <a:t>SWEDEN</a:t>
            </a:r>
          </a:p>
        </p:txBody>
      </p:sp>
      <p:sp>
        <p:nvSpPr>
          <p:cNvPr id="99" name="TextBox 98"/>
          <p:cNvSpPr txBox="1"/>
          <p:nvPr/>
        </p:nvSpPr>
        <p:spPr>
          <a:xfrm>
            <a:off x="8458200" y="2359152"/>
            <a:ext cx="2971800" cy="365760"/>
          </a:xfrm>
          <a:prstGeom prst="rect">
            <a:avLst/>
          </a:prstGeom>
          <a:noFill/>
        </p:spPr>
        <p:txBody>
          <a:bodyPr wrap="square" lIns="0" tIns="0" rIns="0" bIns="0" anchor="t">
            <a:noAutofit/>
          </a:bodyPr>
          <a:lstStyle/>
          <a:p>
            <a:pPr algn="l">
              <a:spcAft>
                <a:spcPts val="0"/>
              </a:spcAft>
            </a:pPr>
            <a:r>
              <a:rPr sz="1800" b="1" i="0">
                <a:solidFill>
                  <a:srgbClr val="193F61"/>
                </a:solidFill>
                <a:latin typeface="Arial"/>
              </a:rPr>
              <a:t>Skåne — Sysav</a:t>
            </a:r>
          </a:p>
        </p:txBody>
      </p:sp>
      <p:sp>
        <p:nvSpPr>
          <p:cNvPr id="100" name="Case body 3"/>
          <p:cNvSpPr txBox="1"/>
          <p:nvPr/>
        </p:nvSpPr>
        <p:spPr>
          <a:xfrm>
            <a:off x="8458200" y="2788920"/>
            <a:ext cx="2971800" cy="1005840"/>
          </a:xfrm>
          <a:prstGeom prst="rect">
            <a:avLst/>
          </a:prstGeom>
          <a:noFill/>
        </p:spPr>
        <p:txBody>
          <a:bodyPr wrap="square" lIns="0" tIns="0" rIns="0" bIns="0" anchor="t">
            <a:noAutofit/>
          </a:bodyPr>
          <a:lstStyle/>
          <a:p>
            <a:pPr algn="l" marL="201168" indent="-201168">
              <a:spcAft>
                <a:spcPts val="400"/>
              </a:spcAft>
              <a:buClr>
                <a:srgbClr val="129152"/>
              </a:buClr>
              <a:buFont typeface="Arial"/>
              <a:buChar char="•"/>
            </a:pPr>
            <a:r>
              <a:rPr sz="1400" b="0" i="0">
                <a:solidFill>
                  <a:srgbClr val="1E2B3A"/>
                </a:solidFill>
                <a:latin typeface="Calibri"/>
              </a:rPr>
              <a:t>Regional waste company owned by 14 municipalities</a:t>
            </a:r>
          </a:p>
          <a:p>
            <a:pPr algn="l" marL="201168" indent="-201168">
              <a:spcAft>
                <a:spcPts val="400"/>
              </a:spcAft>
              <a:buClr>
                <a:srgbClr val="129152"/>
              </a:buClr>
              <a:buFont typeface="Arial"/>
              <a:buChar char="•"/>
            </a:pPr>
            <a:r>
              <a:rPr sz="1400" b="0" i="0">
                <a:solidFill>
                  <a:srgbClr val="1E2B3A"/>
                </a:solidFill>
                <a:latin typeface="Calibri"/>
              </a:rPr>
              <a:t>Waste: SkyZero carbon capture, Siptex textile sorting</a:t>
            </a:r>
          </a:p>
        </p:txBody>
      </p:sp>
      <p:sp>
        <p:nvSpPr>
          <p:cNvPr id="101" name="TextBox 100"/>
          <p:cNvSpPr txBox="1"/>
          <p:nvPr/>
        </p:nvSpPr>
        <p:spPr>
          <a:xfrm>
            <a:off x="8458200" y="3794760"/>
            <a:ext cx="2971800" cy="256032"/>
          </a:xfrm>
          <a:prstGeom prst="rect">
            <a:avLst/>
          </a:prstGeom>
          <a:noFill/>
        </p:spPr>
        <p:txBody>
          <a:bodyPr wrap="square" lIns="0" tIns="0" rIns="0" bIns="0" anchor="t">
            <a:noAutofit/>
          </a:bodyPr>
          <a:lstStyle/>
          <a:p>
            <a:pPr algn="l">
              <a:spcAft>
                <a:spcPts val="0"/>
              </a:spcAft>
            </a:pPr>
            <a:r>
              <a:rPr sz="1150" b="0" i="1">
                <a:solidFill>
                  <a:srgbClr val="566576"/>
                </a:solidFill>
                <a:latin typeface="Calibri"/>
              </a:rPr>
              <a:t>Records S1–S4</a:t>
            </a:r>
          </a:p>
        </p:txBody>
      </p:sp>
      <p:sp>
        <p:nvSpPr>
          <p:cNvPr id="102" name="TextBox 101"/>
          <p:cNvSpPr txBox="1"/>
          <p:nvPr/>
        </p:nvSpPr>
        <p:spPr>
          <a:xfrm>
            <a:off x="914400" y="4315968"/>
            <a:ext cx="1234440" cy="566928"/>
          </a:xfrm>
          <a:prstGeom prst="rect">
            <a:avLst/>
          </a:prstGeom>
          <a:noFill/>
        </p:spPr>
        <p:txBody>
          <a:bodyPr wrap="square" lIns="0" tIns="0" rIns="0" bIns="0" anchor="b">
            <a:noAutofit/>
          </a:bodyPr>
          <a:lstStyle/>
          <a:p>
            <a:pPr algn="ctr">
              <a:spcAft>
                <a:spcPts val="0"/>
              </a:spcAft>
            </a:pPr>
            <a:r>
              <a:rPr sz="3600" b="1" i="0">
                <a:solidFill>
                  <a:srgbClr val="193F61"/>
                </a:solidFill>
                <a:latin typeface="Arial"/>
              </a:rPr>
              <a:t>15</a:t>
            </a:r>
          </a:p>
        </p:txBody>
      </p:sp>
      <p:sp>
        <p:nvSpPr>
          <p:cNvPr id="103" name="TextBox 102"/>
          <p:cNvSpPr txBox="1"/>
          <p:nvPr/>
        </p:nvSpPr>
        <p:spPr>
          <a:xfrm>
            <a:off x="914400" y="4901184"/>
            <a:ext cx="1234440" cy="502920"/>
          </a:xfrm>
          <a:prstGeom prst="rect">
            <a:avLst/>
          </a:prstGeom>
          <a:noFill/>
        </p:spPr>
        <p:txBody>
          <a:bodyPr wrap="square" lIns="0" tIns="0" rIns="0" bIns="0" anchor="t">
            <a:noAutofit/>
          </a:bodyPr>
          <a:lstStyle/>
          <a:p>
            <a:pPr algn="ctr">
              <a:spcAft>
                <a:spcPts val="0"/>
              </a:spcAft>
            </a:pPr>
            <a:r>
              <a:rPr sz="1200" b="0" i="0">
                <a:solidFill>
                  <a:srgbClr val="566576"/>
                </a:solidFill>
                <a:latin typeface="Calibri"/>
              </a:rPr>
              <a:t>documentary records</a:t>
            </a:r>
          </a:p>
        </p:txBody>
      </p:sp>
      <p:sp>
        <p:nvSpPr>
          <p:cNvPr id="104" name="TextBox 103"/>
          <p:cNvSpPr txBox="1"/>
          <p:nvPr/>
        </p:nvSpPr>
        <p:spPr>
          <a:xfrm>
            <a:off x="2212848" y="4315968"/>
            <a:ext cx="1234440" cy="566928"/>
          </a:xfrm>
          <a:prstGeom prst="rect">
            <a:avLst/>
          </a:prstGeom>
          <a:noFill/>
        </p:spPr>
        <p:txBody>
          <a:bodyPr wrap="square" lIns="0" tIns="0" rIns="0" bIns="0" anchor="b">
            <a:noAutofit/>
          </a:bodyPr>
          <a:lstStyle/>
          <a:p>
            <a:pPr algn="ctr">
              <a:spcAft>
                <a:spcPts val="0"/>
              </a:spcAft>
            </a:pPr>
            <a:r>
              <a:rPr sz="3600" b="1" i="0">
                <a:solidFill>
                  <a:srgbClr val="193F61"/>
                </a:solidFill>
                <a:latin typeface="Arial"/>
              </a:rPr>
              <a:t>6</a:t>
            </a:r>
          </a:p>
        </p:txBody>
      </p:sp>
      <p:sp>
        <p:nvSpPr>
          <p:cNvPr id="105" name="TextBox 104"/>
          <p:cNvSpPr txBox="1"/>
          <p:nvPr/>
        </p:nvSpPr>
        <p:spPr>
          <a:xfrm>
            <a:off x="2212848" y="4901184"/>
            <a:ext cx="1234440" cy="502920"/>
          </a:xfrm>
          <a:prstGeom prst="rect">
            <a:avLst/>
          </a:prstGeom>
          <a:noFill/>
        </p:spPr>
        <p:txBody>
          <a:bodyPr wrap="square" lIns="0" tIns="0" rIns="0" bIns="0" anchor="t">
            <a:noAutofit/>
          </a:bodyPr>
          <a:lstStyle/>
          <a:p>
            <a:pPr algn="ctr">
              <a:spcAft>
                <a:spcPts val="0"/>
              </a:spcAft>
            </a:pPr>
            <a:r>
              <a:rPr sz="1200" b="0" i="0">
                <a:solidFill>
                  <a:srgbClr val="566576"/>
                </a:solidFill>
                <a:latin typeface="Calibri"/>
              </a:rPr>
              <a:t>investment projects</a:t>
            </a:r>
          </a:p>
        </p:txBody>
      </p:sp>
      <p:sp>
        <p:nvSpPr>
          <p:cNvPr id="106" name="TextBox 105"/>
          <p:cNvSpPr txBox="1"/>
          <p:nvPr/>
        </p:nvSpPr>
        <p:spPr>
          <a:xfrm>
            <a:off x="3511296" y="4315968"/>
            <a:ext cx="1234440" cy="566928"/>
          </a:xfrm>
          <a:prstGeom prst="rect">
            <a:avLst/>
          </a:prstGeom>
          <a:noFill/>
        </p:spPr>
        <p:txBody>
          <a:bodyPr wrap="square" lIns="0" tIns="0" rIns="0" bIns="0" anchor="b">
            <a:noAutofit/>
          </a:bodyPr>
          <a:lstStyle/>
          <a:p>
            <a:pPr algn="ctr">
              <a:spcAft>
                <a:spcPts val="0"/>
              </a:spcAft>
            </a:pPr>
            <a:r>
              <a:rPr sz="3600" b="1" i="0">
                <a:solidFill>
                  <a:srgbClr val="193F61"/>
                </a:solidFill>
                <a:latin typeface="Arial"/>
              </a:rPr>
              <a:t>3</a:t>
            </a:r>
          </a:p>
        </p:txBody>
      </p:sp>
      <p:sp>
        <p:nvSpPr>
          <p:cNvPr id="107" name="TextBox 106"/>
          <p:cNvSpPr txBox="1"/>
          <p:nvPr/>
        </p:nvSpPr>
        <p:spPr>
          <a:xfrm>
            <a:off x="3511296" y="4901184"/>
            <a:ext cx="1234440" cy="502920"/>
          </a:xfrm>
          <a:prstGeom prst="rect">
            <a:avLst/>
          </a:prstGeom>
          <a:noFill/>
        </p:spPr>
        <p:txBody>
          <a:bodyPr wrap="square" lIns="0" tIns="0" rIns="0" bIns="0" anchor="t">
            <a:noAutofit/>
          </a:bodyPr>
          <a:lstStyle/>
          <a:p>
            <a:pPr algn="ctr">
              <a:spcAft>
                <a:spcPts val="0"/>
              </a:spcAft>
            </a:pPr>
            <a:r>
              <a:rPr sz="1200" b="0" i="0">
                <a:solidFill>
                  <a:srgbClr val="566576"/>
                </a:solidFill>
                <a:latin typeface="Calibri"/>
              </a:rPr>
              <a:t>languages read in original</a:t>
            </a:r>
          </a:p>
        </p:txBody>
      </p:sp>
      <p:sp>
        <p:nvSpPr>
          <p:cNvPr id="108" name="TextBox 107"/>
          <p:cNvSpPr txBox="1"/>
          <p:nvPr/>
        </p:nvSpPr>
        <p:spPr>
          <a:xfrm>
            <a:off x="4983480" y="4315968"/>
            <a:ext cx="6629400" cy="274320"/>
          </a:xfrm>
          <a:prstGeom prst="rect">
            <a:avLst/>
          </a:prstGeom>
          <a:noFill/>
        </p:spPr>
        <p:txBody>
          <a:bodyPr wrap="square" lIns="0" tIns="0" rIns="0" bIns="0" anchor="t">
            <a:noAutofit/>
          </a:bodyPr>
          <a:lstStyle/>
          <a:p>
            <a:pPr algn="l">
              <a:spcAft>
                <a:spcPts val="0"/>
              </a:spcAft>
            </a:pPr>
            <a:r>
              <a:rPr sz="1250" b="1" i="0">
                <a:solidFill>
                  <a:srgbClr val="193F61"/>
                </a:solidFill>
                <a:latin typeface="Calibri"/>
              </a:rPr>
              <a:t>For each decision episode</a:t>
            </a:r>
            <a:r>
              <a:rPr sz="1250" b="0" i="1">
                <a:solidFill>
                  <a:srgbClr val="566576"/>
                </a:solidFill>
                <a:latin typeface="Calibri"/>
              </a:rPr>
              <a:t>  (Bowen 2009; Seawright &amp; Gerring 2008)</a:t>
            </a:r>
          </a:p>
        </p:txBody>
      </p:sp>
      <p:sp>
        <p:nvSpPr>
          <p:cNvPr id="109" name="Step 1"/>
          <p:cNvSpPr/>
          <p:nvPr/>
        </p:nvSpPr>
        <p:spPr>
          <a:xfrm>
            <a:off x="4983480" y="4645152"/>
            <a:ext cx="1810512" cy="749808"/>
          </a:xfrm>
          <a:prstGeom prst="homePlat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Aft>
                <a:spcPts val="0"/>
              </a:spcAft>
            </a:pPr>
            <a:r>
              <a:rPr sz="1200" b="1" i="0">
                <a:solidFill>
                  <a:srgbClr val="FFFFFF"/>
                </a:solidFill>
                <a:latin typeface="Calibri"/>
              </a:rPr>
              <a:t>Purposes invoked</a:t>
            </a:r>
          </a:p>
        </p:txBody>
      </p:sp>
      <p:sp>
        <p:nvSpPr>
          <p:cNvPr id="110" name="Step 2"/>
          <p:cNvSpPr/>
          <p:nvPr/>
        </p:nvSpPr>
        <p:spPr>
          <a:xfrm>
            <a:off x="6665976" y="4645152"/>
            <a:ext cx="1810512" cy="749808"/>
          </a:xfrm>
          <a:prstGeom prst="chevron">
            <a:avLst/>
          </a:prstGeom>
          <a:solidFill>
            <a:srgbClr val="4C886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Aft>
                <a:spcPts val="0"/>
              </a:spcAft>
            </a:pPr>
            <a:r>
              <a:rPr sz="1200" b="1" i="0">
                <a:solidFill>
                  <a:srgbClr val="FFFFFF"/>
                </a:solidFill>
                <a:latin typeface="Calibri"/>
              </a:rPr>
              <a:t>Economic assessment</a:t>
            </a:r>
          </a:p>
        </p:txBody>
      </p:sp>
      <p:sp>
        <p:nvSpPr>
          <p:cNvPr id="111" name="Step 3"/>
          <p:cNvSpPr/>
          <p:nvPr/>
        </p:nvSpPr>
        <p:spPr>
          <a:xfrm>
            <a:off x="8348472" y="4645152"/>
            <a:ext cx="1810512" cy="749808"/>
          </a:xfrm>
          <a:prstGeom prst="chevron">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Aft>
                <a:spcPts val="0"/>
              </a:spcAft>
            </a:pPr>
            <a:r>
              <a:rPr sz="1200" b="1" i="0">
                <a:solidFill>
                  <a:srgbClr val="FFFFFF"/>
                </a:solidFill>
                <a:latin typeface="Calibri"/>
              </a:rPr>
              <a:t>Action, actor, authority</a:t>
            </a:r>
          </a:p>
        </p:txBody>
      </p:sp>
      <p:sp>
        <p:nvSpPr>
          <p:cNvPr id="112" name="Step 4"/>
          <p:cNvSpPr/>
          <p:nvPr/>
        </p:nvSpPr>
        <p:spPr>
          <a:xfrm>
            <a:off x="10030968" y="4645152"/>
            <a:ext cx="1810512" cy="749808"/>
          </a:xfrm>
          <a:prstGeom prst="chevron">
            <a:avLst/>
          </a:prstGeom>
          <a:solidFill>
            <a:srgbClr val="193F6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noAutofit/>
          </a:bodyPr>
          <a:lstStyle/>
          <a:p>
            <a:pPr algn="ctr">
              <a:spcAft>
                <a:spcPts val="0"/>
              </a:spcAft>
            </a:pPr>
            <a:r>
              <a:rPr sz="1200" b="1" i="0">
                <a:solidFill>
                  <a:srgbClr val="FFFFFF"/>
                </a:solidFill>
                <a:latin typeface="Calibri"/>
              </a:rPr>
              <a:t>Financing and recovery</a:t>
            </a:r>
          </a:p>
        </p:txBody>
      </p:sp>
    </p:spTree>
    <p:extLst>
      <p:ext uri="{BB962C8B-B14F-4D97-AF65-F5344CB8AC3E}">
        <p14:creationId xmlns:p14="http://schemas.microsoft.com/office/powerpoint/2010/main" val="382855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Helsinki: a staged pathway despite adverse appraisal</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6</a:t>
            </a:r>
          </a:p>
        </p:txBody>
      </p:sp>
      <p:sp>
        <p:nvSpPr>
          <p:cNvPr id="87" name="Timeline axis"/>
          <p:cNvSpPr/>
          <p:nvPr/>
        </p:nvSpPr>
        <p:spPr>
          <a:xfrm>
            <a:off x="1060704" y="2011680"/>
            <a:ext cx="32004" cy="2697480"/>
          </a:xfrm>
          <a:prstGeom prst="rect">
            <a:avLst/>
          </a:prstGeom>
          <a:solidFill>
            <a:srgbClr val="C5D0DC"/>
          </a:solidFill>
          <a:ln>
            <a:noFill/>
          </a:ln>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8" name="Timeline node 1"/>
          <p:cNvSpPr/>
          <p:nvPr/>
        </p:nvSpPr>
        <p:spPr>
          <a:xfrm>
            <a:off x="950976" y="1883664"/>
            <a:ext cx="246888" cy="246888"/>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
            </a:r>
          </a:p>
        </p:txBody>
      </p:sp>
      <p:sp>
        <p:nvSpPr>
          <p:cNvPr id="89" name="TextBox 88"/>
          <p:cNvSpPr txBox="1"/>
          <p:nvPr/>
        </p:nvSpPr>
        <p:spPr>
          <a:xfrm>
            <a:off x="1371600" y="1828800"/>
            <a:ext cx="4846320" cy="292608"/>
          </a:xfrm>
          <a:prstGeom prst="rect">
            <a:avLst/>
          </a:prstGeom>
          <a:noFill/>
        </p:spPr>
        <p:txBody>
          <a:bodyPr wrap="square" lIns="0" tIns="0" rIns="0" bIns="0" anchor="t">
            <a:noAutofit/>
          </a:bodyPr>
          <a:lstStyle/>
          <a:p>
            <a:pPr algn="l">
              <a:spcAft>
                <a:spcPts val="0"/>
              </a:spcAft>
            </a:pPr>
            <a:r>
              <a:rPr sz="1500" b="1" i="0">
                <a:solidFill>
                  <a:srgbClr val="104486"/>
                </a:solidFill>
                <a:latin typeface="Calibri"/>
              </a:rPr>
              <a:t>Jun 2014  </a:t>
            </a:r>
            <a:r>
              <a:rPr sz="1500" b="1" i="0">
                <a:solidFill>
                  <a:srgbClr val="193F61"/>
                </a:solidFill>
                <a:latin typeface="Calibri"/>
              </a:rPr>
              <a:t>Incorporation</a:t>
            </a:r>
          </a:p>
        </p:txBody>
      </p:sp>
      <p:sp>
        <p:nvSpPr>
          <p:cNvPr id="90" name="Timeline text 1"/>
          <p:cNvSpPr txBox="1"/>
          <p:nvPr/>
        </p:nvSpPr>
        <p:spPr>
          <a:xfrm>
            <a:off x="1371600" y="2130552"/>
            <a:ext cx="4846320" cy="54864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Council approves incorporation of Helen; capital plan targets ≥ 50% equity through the 2016–21 investment peak</a:t>
            </a:r>
          </a:p>
        </p:txBody>
      </p:sp>
      <p:sp>
        <p:nvSpPr>
          <p:cNvPr id="91" name="Timeline node 2"/>
          <p:cNvSpPr/>
          <p:nvPr/>
        </p:nvSpPr>
        <p:spPr>
          <a:xfrm>
            <a:off x="950976" y="2779776"/>
            <a:ext cx="246888" cy="246888"/>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
            </a:r>
          </a:p>
        </p:txBody>
      </p:sp>
      <p:sp>
        <p:nvSpPr>
          <p:cNvPr id="92" name="TextBox 91"/>
          <p:cNvSpPr txBox="1"/>
          <p:nvPr/>
        </p:nvSpPr>
        <p:spPr>
          <a:xfrm>
            <a:off x="1371600" y="2724912"/>
            <a:ext cx="4846320" cy="292608"/>
          </a:xfrm>
          <a:prstGeom prst="rect">
            <a:avLst/>
          </a:prstGeom>
          <a:noFill/>
        </p:spPr>
        <p:txBody>
          <a:bodyPr wrap="square" lIns="0" tIns="0" rIns="0" bIns="0" anchor="t">
            <a:noAutofit/>
          </a:bodyPr>
          <a:lstStyle/>
          <a:p>
            <a:pPr algn="l">
              <a:spcAft>
                <a:spcPts val="0"/>
              </a:spcAft>
            </a:pPr>
            <a:r>
              <a:rPr sz="1500" b="1" i="0">
                <a:solidFill>
                  <a:srgbClr val="104486"/>
                </a:solidFill>
                <a:latin typeface="Calibri"/>
              </a:rPr>
              <a:t>Dec 2015  </a:t>
            </a:r>
            <a:r>
              <a:rPr sz="1500" b="1" i="0">
                <a:solidFill>
                  <a:srgbClr val="193F61"/>
                </a:solidFill>
                <a:latin typeface="Calibri"/>
              </a:rPr>
              <a:t>Pathway chosen</a:t>
            </a:r>
          </a:p>
        </p:txBody>
      </p:sp>
      <p:sp>
        <p:nvSpPr>
          <p:cNvPr id="93" name="Timeline text 2"/>
          <p:cNvSpPr txBox="1"/>
          <p:nvPr/>
        </p:nvSpPr>
        <p:spPr>
          <a:xfrm>
            <a:off x="1371600" y="3026664"/>
            <a:ext cx="4846320" cy="54864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Council selects decentralised production and Hanasaari closure; the board judged every option commercially unattractive</a:t>
            </a:r>
          </a:p>
        </p:txBody>
      </p:sp>
      <p:sp>
        <p:nvSpPr>
          <p:cNvPr id="94" name="Timeline node 3"/>
          <p:cNvSpPr/>
          <p:nvPr/>
        </p:nvSpPr>
        <p:spPr>
          <a:xfrm>
            <a:off x="950976" y="3675888"/>
            <a:ext cx="246888" cy="246888"/>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
            </a:r>
          </a:p>
        </p:txBody>
      </p:sp>
      <p:sp>
        <p:nvSpPr>
          <p:cNvPr id="95" name="TextBox 94"/>
          <p:cNvSpPr txBox="1"/>
          <p:nvPr/>
        </p:nvSpPr>
        <p:spPr>
          <a:xfrm>
            <a:off x="1371600" y="3621024"/>
            <a:ext cx="4846320" cy="292608"/>
          </a:xfrm>
          <a:prstGeom prst="rect">
            <a:avLst/>
          </a:prstGeom>
          <a:noFill/>
        </p:spPr>
        <p:txBody>
          <a:bodyPr wrap="square" lIns="0" tIns="0" rIns="0" bIns="0" anchor="t">
            <a:noAutofit/>
          </a:bodyPr>
          <a:lstStyle/>
          <a:p>
            <a:pPr algn="l">
              <a:spcAft>
                <a:spcPts val="0"/>
              </a:spcAft>
            </a:pPr>
            <a:r>
              <a:rPr sz="1500" b="1" i="0">
                <a:solidFill>
                  <a:srgbClr val="104486"/>
                </a:solidFill>
                <a:latin typeface="Calibri"/>
              </a:rPr>
              <a:t>Apr 2023  </a:t>
            </a:r>
            <a:r>
              <a:rPr sz="1500" b="1" i="0">
                <a:solidFill>
                  <a:srgbClr val="193F61"/>
                </a:solidFill>
                <a:latin typeface="Calibri"/>
              </a:rPr>
              <a:t>Hanasaari B closed</a:t>
            </a:r>
          </a:p>
        </p:txBody>
      </p:sp>
      <p:sp>
        <p:nvSpPr>
          <p:cNvPr id="96" name="Timeline text 3"/>
          <p:cNvSpPr txBox="1"/>
          <p:nvPr/>
        </p:nvSpPr>
        <p:spPr>
          <a:xfrm>
            <a:off x="1371600" y="3922776"/>
            <a:ext cx="4846320" cy="54864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Retirement conditional on sufficient replacement heat capacity</a:t>
            </a:r>
          </a:p>
        </p:txBody>
      </p:sp>
      <p:sp>
        <p:nvSpPr>
          <p:cNvPr id="97" name="Timeline node 4"/>
          <p:cNvSpPr/>
          <p:nvPr/>
        </p:nvSpPr>
        <p:spPr>
          <a:xfrm>
            <a:off x="950976" y="4572000"/>
            <a:ext cx="246888" cy="246888"/>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
            </a:r>
          </a:p>
        </p:txBody>
      </p:sp>
      <p:sp>
        <p:nvSpPr>
          <p:cNvPr id="98" name="TextBox 97"/>
          <p:cNvSpPr txBox="1"/>
          <p:nvPr/>
        </p:nvSpPr>
        <p:spPr>
          <a:xfrm>
            <a:off x="1371600" y="4517136"/>
            <a:ext cx="4846320" cy="292608"/>
          </a:xfrm>
          <a:prstGeom prst="rect">
            <a:avLst/>
          </a:prstGeom>
          <a:noFill/>
        </p:spPr>
        <p:txBody>
          <a:bodyPr wrap="square" lIns="0" tIns="0" rIns="0" bIns="0" anchor="t">
            <a:noAutofit/>
          </a:bodyPr>
          <a:lstStyle/>
          <a:p>
            <a:pPr algn="l">
              <a:spcAft>
                <a:spcPts val="0"/>
              </a:spcAft>
            </a:pPr>
            <a:r>
              <a:rPr sz="1500" b="1" i="0">
                <a:solidFill>
                  <a:srgbClr val="104486"/>
                </a:solidFill>
                <a:latin typeface="Calibri"/>
              </a:rPr>
              <a:t>Apr 2025  </a:t>
            </a:r>
            <a:r>
              <a:rPr sz="1500" b="1" i="0">
                <a:solidFill>
                  <a:srgbClr val="193F61"/>
                </a:solidFill>
                <a:latin typeface="Calibri"/>
              </a:rPr>
              <a:t>Salmisaari closed</a:t>
            </a:r>
          </a:p>
        </p:txBody>
      </p:sp>
      <p:sp>
        <p:nvSpPr>
          <p:cNvPr id="99" name="Timeline text 4"/>
          <p:cNvSpPr txBox="1"/>
          <p:nvPr/>
        </p:nvSpPr>
        <p:spPr>
          <a:xfrm>
            <a:off x="1371600" y="4818888"/>
            <a:ext cx="4846320" cy="54864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Helen’s last coal plant (national coal ban by May 2029, enacted 2019)</a:t>
            </a:r>
          </a:p>
        </p:txBody>
      </p:sp>
      <p:sp>
        <p:nvSpPr>
          <p:cNvPr id="100" name="Appraisal card"/>
          <p:cNvSpPr/>
          <p:nvPr/>
        </p:nvSpPr>
        <p:spPr>
          <a:xfrm>
            <a:off x="6583680" y="1810512"/>
            <a:ext cx="5029200" cy="1572768"/>
          </a:xfrm>
          <a:prstGeom prst="roundRect">
            <a:avLst>
              <a:gd name="adj" fmla="val 4651"/>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101" name="TextBox 100"/>
          <p:cNvSpPr txBox="1"/>
          <p:nvPr/>
        </p:nvSpPr>
        <p:spPr>
          <a:xfrm>
            <a:off x="6812280" y="1901952"/>
            <a:ext cx="4572000" cy="274320"/>
          </a:xfrm>
          <a:prstGeom prst="rect">
            <a:avLst/>
          </a:prstGeom>
          <a:noFill/>
        </p:spPr>
        <p:txBody>
          <a:bodyPr wrap="square" lIns="0" tIns="0" rIns="0" bIns="0" anchor="t">
            <a:noAutofit/>
          </a:bodyPr>
          <a:lstStyle/>
          <a:p>
            <a:pPr algn="l">
              <a:spcAft>
                <a:spcPts val="0"/>
              </a:spcAft>
            </a:pPr>
            <a:r>
              <a:rPr sz="1300" b="1" i="0">
                <a:solidFill>
                  <a:srgbClr val="566576"/>
                </a:solidFill>
                <a:latin typeface="Calibri"/>
              </a:rPr>
              <a:t>2015 appraisal compared</a:t>
            </a:r>
          </a:p>
        </p:txBody>
      </p:sp>
      <p:sp>
        <p:nvSpPr>
          <p:cNvPr id="102" name="TextBox 101"/>
          <p:cNvSpPr txBox="1"/>
          <p:nvPr/>
        </p:nvSpPr>
        <p:spPr>
          <a:xfrm>
            <a:off x="6812280" y="2176272"/>
            <a:ext cx="2194560" cy="502920"/>
          </a:xfrm>
          <a:prstGeom prst="rect">
            <a:avLst/>
          </a:prstGeom>
          <a:noFill/>
        </p:spPr>
        <p:txBody>
          <a:bodyPr wrap="square" lIns="0" tIns="0" rIns="0" bIns="0" anchor="t">
            <a:noAutofit/>
          </a:bodyPr>
          <a:lstStyle/>
          <a:p>
            <a:pPr algn="l">
              <a:spcAft>
                <a:spcPts val="0"/>
              </a:spcAft>
            </a:pPr>
            <a:r>
              <a:rPr sz="2800" b="1" i="0">
                <a:solidFill>
                  <a:srgbClr val="566576"/>
                </a:solidFill>
                <a:latin typeface="Arial"/>
              </a:rPr>
              <a:t>EUR 960m</a:t>
            </a:r>
          </a:p>
        </p:txBody>
      </p:sp>
      <p:sp>
        <p:nvSpPr>
          <p:cNvPr id="103" name="TextBox 102"/>
          <p:cNvSpPr txBox="1"/>
          <p:nvPr/>
        </p:nvSpPr>
        <p:spPr>
          <a:xfrm>
            <a:off x="6812280" y="2670048"/>
            <a:ext cx="2194560" cy="256032"/>
          </a:xfrm>
          <a:prstGeom prst="rect">
            <a:avLst/>
          </a:prstGeom>
          <a:noFill/>
        </p:spPr>
        <p:txBody>
          <a:bodyPr wrap="square" lIns="0" tIns="0" rIns="0" bIns="0" anchor="t">
            <a:noAutofit/>
          </a:bodyPr>
          <a:lstStyle/>
          <a:p>
            <a:pPr algn="l">
              <a:spcAft>
                <a:spcPts val="0"/>
              </a:spcAft>
            </a:pPr>
            <a:r>
              <a:rPr sz="1250" b="0" i="0">
                <a:solidFill>
                  <a:srgbClr val="566576"/>
                </a:solidFill>
                <a:latin typeface="Calibri"/>
              </a:rPr>
              <a:t>new CHP plant</a:t>
            </a:r>
          </a:p>
        </p:txBody>
      </p:sp>
      <p:sp>
        <p:nvSpPr>
          <p:cNvPr id="104" name="TextBox 103"/>
          <p:cNvSpPr txBox="1"/>
          <p:nvPr/>
        </p:nvSpPr>
        <p:spPr>
          <a:xfrm>
            <a:off x="9144000" y="2176272"/>
            <a:ext cx="2194560" cy="502920"/>
          </a:xfrm>
          <a:prstGeom prst="rect">
            <a:avLst/>
          </a:prstGeom>
          <a:noFill/>
        </p:spPr>
        <p:txBody>
          <a:bodyPr wrap="square" lIns="0" tIns="0" rIns="0" bIns="0" anchor="t">
            <a:noAutofit/>
          </a:bodyPr>
          <a:lstStyle/>
          <a:p>
            <a:pPr algn="l">
              <a:spcAft>
                <a:spcPts val="0"/>
              </a:spcAft>
            </a:pPr>
            <a:r>
              <a:rPr sz="2800" b="1" i="0">
                <a:solidFill>
                  <a:srgbClr val="104486"/>
                </a:solidFill>
                <a:latin typeface="Arial"/>
              </a:rPr>
              <a:t>EUR 360m</a:t>
            </a:r>
          </a:p>
        </p:txBody>
      </p:sp>
      <p:sp>
        <p:nvSpPr>
          <p:cNvPr id="105" name="TextBox 104"/>
          <p:cNvSpPr txBox="1"/>
          <p:nvPr/>
        </p:nvSpPr>
        <p:spPr>
          <a:xfrm>
            <a:off x="9144000" y="2670048"/>
            <a:ext cx="2194560" cy="256032"/>
          </a:xfrm>
          <a:prstGeom prst="rect">
            <a:avLst/>
          </a:prstGeom>
          <a:noFill/>
        </p:spPr>
        <p:txBody>
          <a:bodyPr wrap="square" lIns="0" tIns="0" rIns="0" bIns="0" anchor="t">
            <a:noAutofit/>
          </a:bodyPr>
          <a:lstStyle/>
          <a:p>
            <a:pPr algn="l">
              <a:spcAft>
                <a:spcPts val="0"/>
              </a:spcAft>
            </a:pPr>
            <a:r>
              <a:rPr sz="1250" b="0" i="0">
                <a:solidFill>
                  <a:srgbClr val="566576"/>
                </a:solidFill>
                <a:latin typeface="Calibri"/>
              </a:rPr>
              <a:t>decentralised investment</a:t>
            </a:r>
          </a:p>
        </p:txBody>
      </p:sp>
      <p:sp>
        <p:nvSpPr>
          <p:cNvPr id="106" name="TextBox 105"/>
          <p:cNvSpPr txBox="1"/>
          <p:nvPr/>
        </p:nvSpPr>
        <p:spPr>
          <a:xfrm>
            <a:off x="6812280" y="2962656"/>
            <a:ext cx="4572000" cy="365760"/>
          </a:xfrm>
          <a:prstGeom prst="rect">
            <a:avLst/>
          </a:prstGeom>
          <a:noFill/>
        </p:spPr>
        <p:txBody>
          <a:bodyPr wrap="square" lIns="0" tIns="0" rIns="0" bIns="0" anchor="t">
            <a:noAutofit/>
          </a:bodyPr>
          <a:lstStyle/>
          <a:p>
            <a:pPr algn="l">
              <a:spcAft>
                <a:spcPts val="0"/>
              </a:spcAft>
            </a:pPr>
            <a:r>
              <a:rPr sz="1250" b="0" i="1">
                <a:solidFill>
                  <a:srgbClr val="1E2B3A"/>
                </a:solidFill>
                <a:latin typeface="Calibri"/>
              </a:rPr>
              <a:t>Limited scope to pass costs into heat prices; lower expected owner distributions</a:t>
            </a:r>
          </a:p>
        </p:txBody>
      </p:sp>
      <p:sp>
        <p:nvSpPr>
          <p:cNvPr id="107" name="Accounts card"/>
          <p:cNvSpPr/>
          <p:nvPr/>
        </p:nvSpPr>
        <p:spPr>
          <a:xfrm>
            <a:off x="6583680" y="3547872"/>
            <a:ext cx="5029200" cy="987552"/>
          </a:xfrm>
          <a:prstGeom prst="roundRect">
            <a:avLst>
              <a:gd name="adj" fmla="val 7407"/>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108" name="TextBox 107"/>
          <p:cNvSpPr txBox="1"/>
          <p:nvPr/>
        </p:nvSpPr>
        <p:spPr>
          <a:xfrm>
            <a:off x="6812280" y="3621024"/>
            <a:ext cx="4572000" cy="274320"/>
          </a:xfrm>
          <a:prstGeom prst="rect">
            <a:avLst/>
          </a:prstGeom>
          <a:noFill/>
        </p:spPr>
        <p:txBody>
          <a:bodyPr wrap="square" lIns="0" tIns="0" rIns="0" bIns="0" anchor="t">
            <a:noAutofit/>
          </a:bodyPr>
          <a:lstStyle/>
          <a:p>
            <a:pPr algn="l">
              <a:spcAft>
                <a:spcPts val="0"/>
              </a:spcAft>
            </a:pPr>
            <a:r>
              <a:rPr sz="1300" b="1" i="0">
                <a:solidFill>
                  <a:srgbClr val="566576"/>
                </a:solidFill>
                <a:latin typeface="Calibri"/>
              </a:rPr>
              <a:t>Reported in Helen’s 2025 accounts</a:t>
            </a:r>
          </a:p>
        </p:txBody>
      </p:sp>
      <p:sp>
        <p:nvSpPr>
          <p:cNvPr id="109" name="TextBox 108"/>
          <p:cNvSpPr txBox="1"/>
          <p:nvPr/>
        </p:nvSpPr>
        <p:spPr>
          <a:xfrm>
            <a:off x="6812280" y="3886200"/>
            <a:ext cx="4572000" cy="329184"/>
          </a:xfrm>
          <a:prstGeom prst="rect">
            <a:avLst/>
          </a:prstGeom>
          <a:noFill/>
        </p:spPr>
        <p:txBody>
          <a:bodyPr wrap="square" lIns="0" tIns="0" rIns="0" bIns="0" anchor="t">
            <a:noAutofit/>
          </a:bodyPr>
          <a:lstStyle/>
          <a:p>
            <a:pPr algn="l">
              <a:spcAft>
                <a:spcPts val="0"/>
              </a:spcAft>
            </a:pPr>
            <a:r>
              <a:rPr sz="1500" b="0" i="0">
                <a:solidFill>
                  <a:srgbClr val="566576"/>
                </a:solidFill>
                <a:latin typeface="Calibri"/>
              </a:rPr>
              <a:t>Fuel  </a:t>
            </a:r>
            <a:r>
              <a:rPr sz="1500" b="1" i="0">
                <a:solidFill>
                  <a:srgbClr val="193F61"/>
                </a:solidFill>
                <a:latin typeface="Calibri"/>
              </a:rPr>
              <a:t>EUR 336m → 216m</a:t>
            </a:r>
            <a:r>
              <a:rPr sz="1500" b="0" i="0">
                <a:solidFill>
                  <a:srgbClr val="566576"/>
                </a:solidFill>
                <a:latin typeface="Calibri"/>
              </a:rPr>
              <a:t>     Allowances  </a:t>
            </a:r>
            <a:r>
              <a:rPr sz="1500" b="1" i="0">
                <a:solidFill>
                  <a:srgbClr val="193F61"/>
                </a:solidFill>
                <a:latin typeface="Calibri"/>
              </a:rPr>
              <a:t>EUR 78m → 25m</a:t>
            </a:r>
          </a:p>
        </p:txBody>
      </p:sp>
      <p:sp>
        <p:nvSpPr>
          <p:cNvPr id="110" name="TextBox 109"/>
          <p:cNvSpPr txBox="1"/>
          <p:nvPr/>
        </p:nvSpPr>
        <p:spPr>
          <a:xfrm>
            <a:off x="6812280" y="4206240"/>
            <a:ext cx="4572000" cy="274320"/>
          </a:xfrm>
          <a:prstGeom prst="rect">
            <a:avLst/>
          </a:prstGeom>
          <a:noFill/>
        </p:spPr>
        <p:txBody>
          <a:bodyPr wrap="square" lIns="0" tIns="0" rIns="0" bIns="0" anchor="t">
            <a:noAutofit/>
          </a:bodyPr>
          <a:lstStyle/>
          <a:p>
            <a:pPr algn="l">
              <a:spcAft>
                <a:spcPts val="0"/>
              </a:spcAft>
            </a:pPr>
            <a:r>
              <a:rPr sz="1200" b="0" i="1">
                <a:solidFill>
                  <a:srgbClr val="566576"/>
                </a:solidFill>
                <a:latin typeface="Calibri"/>
              </a:rPr>
              <a:t>Price and production effects are not separated</a:t>
            </a:r>
          </a:p>
        </p:txBody>
      </p:sp>
      <p:sp>
        <p:nvSpPr>
          <p:cNvPr id="111" name="Helsinki takeaway"/>
          <p:cNvSpPr/>
          <p:nvPr/>
        </p:nvSpPr>
        <p:spPr>
          <a:xfrm>
            <a:off x="6583680" y="4700016"/>
            <a:ext cx="5029200" cy="731520"/>
          </a:xfrm>
          <a:prstGeom prst="roundRect">
            <a:avLst>
              <a:gd name="adj" fmla="val 12500"/>
            </a:avLst>
          </a:prstGeom>
          <a:solidFill>
            <a:srgbClr val="193F61"/>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36576" rIns="182880" bIns="36576">
            <a:noAutofit/>
          </a:bodyPr>
          <a:lstStyle/>
          <a:p>
            <a:pPr algn="l">
              <a:spcAft>
                <a:spcPts val="0"/>
              </a:spcAft>
            </a:pPr>
            <a:r>
              <a:rPr sz="1450" b="1" i="0">
                <a:solidFill>
                  <a:srgbClr val="EEBC37"/>
                </a:solidFill>
                <a:latin typeface="Calibri"/>
              </a:rPr>
              <a:t>Objective kept, means modified: </a:t>
            </a:r>
            <a:r>
              <a:rPr sz="1450" b="0" i="0">
                <a:solidFill>
                  <a:srgbClr val="FFFFFF"/>
                </a:solidFill>
                <a:latin typeface="Calibri"/>
              </a:rPr>
              <a:t>the council adopted the board’s less burdensome, staged course</a:t>
            </a:r>
          </a:p>
        </p:txBody>
      </p:sp>
    </p:spTree>
    <p:extLst>
      <p:ext uri="{BB962C8B-B14F-4D97-AF65-F5344CB8AC3E}">
        <p14:creationId xmlns:p14="http://schemas.microsoft.com/office/powerpoint/2010/main" val="38285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Aalborg: obligations at different group levels</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7</a:t>
            </a:r>
          </a:p>
        </p:txBody>
      </p:sp>
      <p:sp>
        <p:nvSpPr>
          <p:cNvPr id="87" name="Aalborg context"/>
          <p:cNvSpPr txBox="1"/>
          <p:nvPr/>
        </p:nvSpPr>
        <p:spPr>
          <a:xfrm>
            <a:off x="914400" y="1737360"/>
            <a:ext cx="10698480" cy="502920"/>
          </a:xfrm>
          <a:prstGeom prst="rect">
            <a:avLst/>
          </a:prstGeom>
          <a:noFill/>
        </p:spPr>
        <p:txBody>
          <a:bodyPr wrap="square" lIns="0" tIns="0" rIns="0" bIns="0" anchor="t">
            <a:noAutofit/>
          </a:bodyPr>
          <a:lstStyle/>
          <a:p>
            <a:pPr algn="l">
              <a:spcAft>
                <a:spcPts val="0"/>
              </a:spcAft>
            </a:pPr>
            <a:r>
              <a:rPr sz="1350" b="1" i="0">
                <a:solidFill>
                  <a:srgbClr val="193F61"/>
                </a:solidFill>
                <a:latin typeface="Calibri"/>
              </a:rPr>
              <a:t>Context: </a:t>
            </a:r>
            <a:r>
              <a:rPr sz="1350" b="0" i="0">
                <a:solidFill>
                  <a:srgbClr val="566576"/>
                </a:solidFill>
                <a:latin typeface="Calibri"/>
              </a:rPr>
              <a:t>the municipality acquired Nordjyllandsværket from Vattenfall (2015–16) and approved a fossil-free strategy in 2017. Danish heat tariffs may include necessary costs (hvile-i-sig-selv).</a:t>
            </a:r>
          </a:p>
        </p:txBody>
      </p:sp>
      <p:sp>
        <p:nvSpPr>
          <p:cNvPr id="88" name="Aalborg card 1"/>
          <p:cNvSpPr/>
          <p:nvPr/>
        </p:nvSpPr>
        <p:spPr>
          <a:xfrm>
            <a:off x="914400" y="2359152"/>
            <a:ext cx="3383280" cy="3081528"/>
          </a:xfrm>
          <a:prstGeom prst="roundRect">
            <a:avLst>
              <a:gd name="adj" fmla="val 237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9" name="TextBox 88"/>
          <p:cNvSpPr txBox="1"/>
          <p:nvPr/>
        </p:nvSpPr>
        <p:spPr>
          <a:xfrm>
            <a:off x="1143000" y="2468880"/>
            <a:ext cx="2926080" cy="548640"/>
          </a:xfrm>
          <a:prstGeom prst="rect">
            <a:avLst/>
          </a:prstGeom>
          <a:noFill/>
        </p:spPr>
        <p:txBody>
          <a:bodyPr wrap="square" lIns="0" tIns="0" rIns="0" bIns="0" anchor="ctr">
            <a:noAutofit/>
          </a:bodyPr>
          <a:lstStyle/>
          <a:p>
            <a:pPr algn="l">
              <a:spcAft>
                <a:spcPts val="0"/>
              </a:spcAft>
            </a:pPr>
            <a:r>
              <a:rPr sz="3000" b="1" i="0">
                <a:solidFill>
                  <a:srgbClr val="129152"/>
                </a:solidFill>
                <a:latin typeface="Arial"/>
              </a:rPr>
              <a:t>150 MW</a:t>
            </a:r>
          </a:p>
        </p:txBody>
      </p:sp>
      <p:sp>
        <p:nvSpPr>
          <p:cNvPr id="90" name="TextBox 89"/>
          <p:cNvSpPr txBox="1"/>
          <p:nvPr/>
        </p:nvSpPr>
        <p:spPr>
          <a:xfrm>
            <a:off x="1143000" y="3017520"/>
            <a:ext cx="2926080" cy="310896"/>
          </a:xfrm>
          <a:prstGeom prst="rect">
            <a:avLst/>
          </a:prstGeom>
          <a:noFill/>
        </p:spPr>
        <p:txBody>
          <a:bodyPr wrap="square" lIns="0" tIns="0" rIns="0" bIns="0" anchor="t">
            <a:noAutofit/>
          </a:bodyPr>
          <a:lstStyle/>
          <a:p>
            <a:pPr algn="l">
              <a:spcAft>
                <a:spcPts val="0"/>
              </a:spcAft>
            </a:pPr>
            <a:r>
              <a:rPr sz="1600" b="1" i="0">
                <a:solidFill>
                  <a:srgbClr val="193F61"/>
                </a:solidFill>
                <a:latin typeface="Calibri"/>
              </a:rPr>
              <a:t>Electric boiler (A3)</a:t>
            </a:r>
          </a:p>
        </p:txBody>
      </p:sp>
      <p:sp>
        <p:nvSpPr>
          <p:cNvPr id="91" name="Aalborg body 1"/>
          <p:cNvSpPr txBox="1"/>
          <p:nvPr/>
        </p:nvSpPr>
        <p:spPr>
          <a:xfrm>
            <a:off x="1143000" y="3383280"/>
            <a:ext cx="2926080" cy="141732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Varme covers Nordjyllandsværket’s fixed capacity and variable operating costs at self-cost. Assembly and cold testing done; commissioning expected summer 2026.</a:t>
            </a:r>
          </a:p>
        </p:txBody>
      </p:sp>
      <p:sp>
        <p:nvSpPr>
          <p:cNvPr id="92" name="Aalborg tag 1"/>
          <p:cNvSpPr/>
          <p:nvPr/>
        </p:nvSpPr>
        <p:spPr>
          <a:xfrm>
            <a:off x="1143000" y="4892040"/>
            <a:ext cx="2926080" cy="365760"/>
          </a:xfrm>
          <a:prstGeom prst="roundRect">
            <a:avLst>
              <a:gd name="adj" fmla="val 50000"/>
            </a:avLst>
          </a:prstGeom>
          <a:solidFill>
            <a:srgbClr val="DDEFE4"/>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36576" rIns="36576" bIns="36576">
            <a:noAutofit/>
          </a:bodyPr>
          <a:lstStyle/>
          <a:p>
            <a:pPr algn="ctr">
              <a:spcAft>
                <a:spcPts val="0"/>
              </a:spcAft>
            </a:pPr>
            <a:r>
              <a:rPr sz="1200" b="1" i="0">
                <a:solidFill>
                  <a:srgbClr val="193F61"/>
                </a:solidFill>
                <a:latin typeface="Calibri"/>
              </a:rPr>
              <a:t>Cost allocated by contract</a:t>
            </a:r>
          </a:p>
        </p:txBody>
      </p:sp>
      <p:sp>
        <p:nvSpPr>
          <p:cNvPr id="93" name="Aalborg card 2"/>
          <p:cNvSpPr/>
          <p:nvPr/>
        </p:nvSpPr>
        <p:spPr>
          <a:xfrm>
            <a:off x="4572000" y="2359152"/>
            <a:ext cx="3383280" cy="3081528"/>
          </a:xfrm>
          <a:prstGeom prst="roundRect">
            <a:avLst>
              <a:gd name="adj" fmla="val 237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4" name="TextBox 93"/>
          <p:cNvSpPr txBox="1"/>
          <p:nvPr/>
        </p:nvSpPr>
        <p:spPr>
          <a:xfrm>
            <a:off x="4800600" y="2468880"/>
            <a:ext cx="2926080" cy="548640"/>
          </a:xfrm>
          <a:prstGeom prst="rect">
            <a:avLst/>
          </a:prstGeom>
          <a:noFill/>
        </p:spPr>
        <p:txBody>
          <a:bodyPr wrap="square" lIns="0" tIns="0" rIns="0" bIns="0" anchor="ctr">
            <a:noAutofit/>
          </a:bodyPr>
          <a:lstStyle/>
          <a:p>
            <a:pPr algn="l">
              <a:spcAft>
                <a:spcPts val="0"/>
              </a:spcAft>
            </a:pPr>
            <a:r>
              <a:rPr sz="3000" b="1" i="0">
                <a:solidFill>
                  <a:srgbClr val="129152"/>
                </a:solidFill>
                <a:latin typeface="Arial"/>
              </a:rPr>
              <a:t>DKK 385m</a:t>
            </a:r>
          </a:p>
        </p:txBody>
      </p:sp>
      <p:sp>
        <p:nvSpPr>
          <p:cNvPr id="95" name="TextBox 94"/>
          <p:cNvSpPr txBox="1"/>
          <p:nvPr/>
        </p:nvSpPr>
        <p:spPr>
          <a:xfrm>
            <a:off x="4800600" y="3017520"/>
            <a:ext cx="2926080" cy="310896"/>
          </a:xfrm>
          <a:prstGeom prst="rect">
            <a:avLst/>
          </a:prstGeom>
          <a:noFill/>
        </p:spPr>
        <p:txBody>
          <a:bodyPr wrap="square" lIns="0" tIns="0" rIns="0" bIns="0" anchor="t">
            <a:noAutofit/>
          </a:bodyPr>
          <a:lstStyle/>
          <a:p>
            <a:pPr algn="l">
              <a:spcAft>
                <a:spcPts val="0"/>
              </a:spcAft>
            </a:pPr>
            <a:r>
              <a:rPr sz="1600" b="1" i="0">
                <a:solidFill>
                  <a:srgbClr val="193F61"/>
                </a:solidFill>
                <a:latin typeface="Calibri"/>
              </a:rPr>
              <a:t>Network guarantee (A4)</a:t>
            </a:r>
          </a:p>
        </p:txBody>
      </p:sp>
      <p:sp>
        <p:nvSpPr>
          <p:cNvPr id="96" name="Aalborg body 2"/>
          <p:cNvSpPr txBox="1"/>
          <p:nvPr/>
        </p:nvSpPr>
        <p:spPr>
          <a:xfrm>
            <a:off x="4800600" y="3383280"/>
            <a:ext cx="2926080" cy="141732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Council approved 26 Jun 2025 for Varme’s network expansion and renewal: 17.3% of Varme’s assets (DKK 2,230m). Final risk assessment not reported.</a:t>
            </a:r>
          </a:p>
        </p:txBody>
      </p:sp>
      <p:sp>
        <p:nvSpPr>
          <p:cNvPr id="97" name="Aalborg tag 2"/>
          <p:cNvSpPr/>
          <p:nvPr/>
        </p:nvSpPr>
        <p:spPr>
          <a:xfrm>
            <a:off x="4800600" y="4892040"/>
            <a:ext cx="2926080" cy="365760"/>
          </a:xfrm>
          <a:prstGeom prst="roundRect">
            <a:avLst>
              <a:gd name="adj" fmla="val 50000"/>
            </a:avLst>
          </a:prstGeom>
          <a:solidFill>
            <a:srgbClr val="E3EBF5"/>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36576" rIns="36576" bIns="36576">
            <a:noAutofit/>
          </a:bodyPr>
          <a:lstStyle/>
          <a:p>
            <a:pPr algn="ctr">
              <a:spcAft>
                <a:spcPts val="0"/>
              </a:spcAft>
            </a:pPr>
            <a:r>
              <a:rPr sz="1200" b="1" i="0">
                <a:solidFill>
                  <a:srgbClr val="193F61"/>
                </a:solidFill>
                <a:latin typeface="Calibri"/>
              </a:rPr>
              <a:t>Municipal credit support</a:t>
            </a:r>
          </a:p>
        </p:txBody>
      </p:sp>
      <p:sp>
        <p:nvSpPr>
          <p:cNvPr id="98" name="Aalborg card 3"/>
          <p:cNvSpPr/>
          <p:nvPr/>
        </p:nvSpPr>
        <p:spPr>
          <a:xfrm>
            <a:off x="8229600" y="2359152"/>
            <a:ext cx="3383280" cy="3081528"/>
          </a:xfrm>
          <a:prstGeom prst="roundRect">
            <a:avLst>
              <a:gd name="adj" fmla="val 237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9" name="TextBox 98"/>
          <p:cNvSpPr txBox="1"/>
          <p:nvPr/>
        </p:nvSpPr>
        <p:spPr>
          <a:xfrm>
            <a:off x="8458200" y="2468880"/>
            <a:ext cx="2926080" cy="548640"/>
          </a:xfrm>
          <a:prstGeom prst="rect">
            <a:avLst/>
          </a:prstGeom>
          <a:noFill/>
        </p:spPr>
        <p:txBody>
          <a:bodyPr wrap="square" lIns="0" tIns="0" rIns="0" bIns="0" anchor="ctr">
            <a:noAutofit/>
          </a:bodyPr>
          <a:lstStyle/>
          <a:p>
            <a:pPr algn="l">
              <a:spcAft>
                <a:spcPts val="0"/>
              </a:spcAft>
            </a:pPr>
            <a:r>
              <a:rPr sz="3000" b="1" i="0">
                <a:solidFill>
                  <a:srgbClr val="129152"/>
                </a:solidFill>
                <a:latin typeface="Arial"/>
              </a:rPr>
              <a:t>20 MW</a:t>
            </a:r>
          </a:p>
        </p:txBody>
      </p:sp>
      <p:sp>
        <p:nvSpPr>
          <p:cNvPr id="100" name="TextBox 99"/>
          <p:cNvSpPr txBox="1"/>
          <p:nvPr/>
        </p:nvSpPr>
        <p:spPr>
          <a:xfrm>
            <a:off x="8458200" y="3017520"/>
            <a:ext cx="2926080" cy="310896"/>
          </a:xfrm>
          <a:prstGeom prst="rect">
            <a:avLst/>
          </a:prstGeom>
          <a:noFill/>
        </p:spPr>
        <p:txBody>
          <a:bodyPr wrap="square" lIns="0" tIns="0" rIns="0" bIns="0" anchor="t">
            <a:noAutofit/>
          </a:bodyPr>
          <a:lstStyle/>
          <a:p>
            <a:pPr algn="l">
              <a:spcAft>
                <a:spcPts val="0"/>
              </a:spcAft>
            </a:pPr>
            <a:r>
              <a:rPr sz="1600" b="1" i="0">
                <a:solidFill>
                  <a:srgbClr val="193F61"/>
                </a:solidFill>
                <a:latin typeface="Calibri"/>
              </a:rPr>
              <a:t>Vest heat pump (A5–A6)</a:t>
            </a:r>
          </a:p>
        </p:txBody>
      </p:sp>
      <p:sp>
        <p:nvSpPr>
          <p:cNvPr id="101" name="Aalborg body 3"/>
          <p:cNvSpPr txBox="1"/>
          <p:nvPr/>
        </p:nvSpPr>
        <p:spPr>
          <a:xfrm>
            <a:off x="8458200" y="3383280"/>
            <a:ext cx="2926080" cy="1417320"/>
          </a:xfrm>
          <a:prstGeom prst="rect">
            <a:avLst/>
          </a:prstGeom>
          <a:noFill/>
        </p:spPr>
        <p:txBody>
          <a:bodyPr wrap="square" lIns="0" tIns="0" rIns="0" bIns="0" anchor="t">
            <a:noAutofit/>
          </a:bodyPr>
          <a:lstStyle/>
          <a:p>
            <a:pPr algn="l">
              <a:spcAft>
                <a:spcPts val="0"/>
              </a:spcAft>
            </a:pPr>
            <a:r>
              <a:rPr sz="1350" b="0" i="0">
                <a:solidFill>
                  <a:srgbClr val="1E2B3A"/>
                </a:solidFill>
                <a:latin typeface="Calibri"/>
              </a:rPr>
              <a:t>Abandonment announced Nov 2023, attributed to the excess-heat price cap. The regulator placed wastewater heat outside the cap on 4 Dec 2023; cap abolished Jul 2025.</a:t>
            </a:r>
          </a:p>
        </p:txBody>
      </p:sp>
      <p:sp>
        <p:nvSpPr>
          <p:cNvPr id="102" name="Aalborg tag 3"/>
          <p:cNvSpPr/>
          <p:nvPr/>
        </p:nvSpPr>
        <p:spPr>
          <a:xfrm>
            <a:off x="8458200" y="4892040"/>
            <a:ext cx="2926080" cy="365760"/>
          </a:xfrm>
          <a:prstGeom prst="roundRect">
            <a:avLst>
              <a:gd name="adj" fmla="val 50000"/>
            </a:avLst>
          </a:prstGeom>
          <a:solidFill>
            <a:srgbClr val="FBF0C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36576" rIns="36576" bIns="36576">
            <a:noAutofit/>
          </a:bodyPr>
          <a:lstStyle/>
          <a:p>
            <a:pPr algn="ctr">
              <a:spcAft>
                <a:spcPts val="0"/>
              </a:spcAft>
            </a:pPr>
            <a:r>
              <a:rPr sz="1200" b="1" i="0">
                <a:solidFill>
                  <a:srgbClr val="193F61"/>
                </a:solidFill>
                <a:latin typeface="Calibri"/>
              </a:rPr>
              <a:t>Recovery blocked by a rule as then read</a:t>
            </a:r>
          </a:p>
        </p:txBody>
      </p:sp>
    </p:spTree>
    <p:extLst>
      <p:ext uri="{BB962C8B-B14F-4D97-AF65-F5344CB8AC3E}">
        <p14:creationId xmlns:p14="http://schemas.microsoft.com/office/powerpoint/2010/main" val="382855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Skåne: support with outstanding revenue conditions</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8</a:t>
            </a:r>
          </a:p>
        </p:txBody>
      </p:sp>
      <p:sp>
        <p:nvSpPr>
          <p:cNvPr id="87" name="TextBox 86"/>
          <p:cNvSpPr txBox="1"/>
          <p:nvPr/>
        </p:nvSpPr>
        <p:spPr>
          <a:xfrm>
            <a:off x="914400" y="1783080"/>
            <a:ext cx="5394960" cy="329184"/>
          </a:xfrm>
          <a:prstGeom prst="rect">
            <a:avLst/>
          </a:prstGeom>
          <a:noFill/>
        </p:spPr>
        <p:txBody>
          <a:bodyPr wrap="square" lIns="0" tIns="0" rIns="0" bIns="0" anchor="t">
            <a:noAutofit/>
          </a:bodyPr>
          <a:lstStyle/>
          <a:p>
            <a:pPr algn="l">
              <a:spcAft>
                <a:spcPts val="0"/>
              </a:spcAft>
            </a:pPr>
            <a:r>
              <a:rPr sz="1700" b="1" i="0">
                <a:solidFill>
                  <a:srgbClr val="193F61"/>
                </a:solidFill>
                <a:latin typeface="Arial"/>
              </a:rPr>
              <a:t>SkyZero carbon capture (S2)</a:t>
            </a:r>
          </a:p>
        </p:txBody>
      </p:sp>
      <p:sp>
        <p:nvSpPr>
          <p:cNvPr id="88" name="Rounded Rectangle 87"/>
          <p:cNvSpPr/>
          <p:nvPr/>
        </p:nvSpPr>
        <p:spPr>
          <a:xfrm>
            <a:off x="914400" y="2231136"/>
            <a:ext cx="1280160" cy="292608"/>
          </a:xfrm>
          <a:prstGeom prst="roundRect">
            <a:avLst>
              <a:gd name="adj" fmla="val 50000"/>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193F61"/>
                </a:solidFill>
                <a:latin typeface="Calibri"/>
              </a:rPr>
              <a:t>Apr 2024</a:t>
            </a:r>
          </a:p>
        </p:txBody>
      </p:sp>
      <p:sp>
        <p:nvSpPr>
          <p:cNvPr id="89" name="SkyZero step Apr 2024"/>
          <p:cNvSpPr txBox="1"/>
          <p:nvPr/>
        </p:nvSpPr>
        <p:spPr>
          <a:xfrm>
            <a:off x="2377440" y="2212848"/>
            <a:ext cx="4023360" cy="82296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Sysav board conditions: positive NPV backed by contracted revenues, sustainable financing, acceptable group risk, owner involvement</a:t>
            </a:r>
          </a:p>
        </p:txBody>
      </p:sp>
      <p:sp>
        <p:nvSpPr>
          <p:cNvPr id="90" name="Rounded Rectangle 89"/>
          <p:cNvSpPr/>
          <p:nvPr/>
        </p:nvSpPr>
        <p:spPr>
          <a:xfrm>
            <a:off x="914400" y="3108960"/>
            <a:ext cx="1280160" cy="292608"/>
          </a:xfrm>
          <a:prstGeom prst="roundRect">
            <a:avLst>
              <a:gd name="adj" fmla="val 50000"/>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193F61"/>
                </a:solidFill>
                <a:latin typeface="Calibri"/>
              </a:rPr>
              <a:t>Autumn 2024</a:t>
            </a:r>
          </a:p>
        </p:txBody>
      </p:sp>
      <p:sp>
        <p:nvSpPr>
          <p:cNvPr id="91" name="SkyZero step Autumn 2024"/>
          <p:cNvSpPr txBox="1"/>
          <p:nvPr/>
        </p:nvSpPr>
        <p:spPr>
          <a:xfrm>
            <a:off x="2377440" y="3090672"/>
            <a:ext cx="4023360" cy="82296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13 of 14 owner municipalities support the direction</a:t>
            </a:r>
          </a:p>
        </p:txBody>
      </p:sp>
      <p:sp>
        <p:nvSpPr>
          <p:cNvPr id="92" name="Rounded Rectangle 91"/>
          <p:cNvSpPr/>
          <p:nvPr/>
        </p:nvSpPr>
        <p:spPr>
          <a:xfrm>
            <a:off x="914400" y="3630168"/>
            <a:ext cx="1280160" cy="292608"/>
          </a:xfrm>
          <a:prstGeom prst="roundRect">
            <a:avLst>
              <a:gd name="adj" fmla="val 50000"/>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193F61"/>
                </a:solidFill>
                <a:latin typeface="Calibri"/>
              </a:rPr>
              <a:t>26 Mar 2026</a:t>
            </a:r>
          </a:p>
        </p:txBody>
      </p:sp>
      <p:sp>
        <p:nvSpPr>
          <p:cNvPr id="93" name="SkyZero step 26 Mar 2026"/>
          <p:cNvSpPr txBox="1"/>
          <p:nvPr/>
        </p:nvSpPr>
        <p:spPr>
          <a:xfrm>
            <a:off x="2377440" y="3611880"/>
            <a:ext cx="4023360" cy="82296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Malmö authorises further development with conditions; guarantee ceiling ≈ SEK 1.2bn (45.98% of SEK 2.6bn)</a:t>
            </a:r>
          </a:p>
        </p:txBody>
      </p:sp>
      <p:sp>
        <p:nvSpPr>
          <p:cNvPr id="94" name="Rounded Rectangle 93"/>
          <p:cNvSpPr/>
          <p:nvPr/>
        </p:nvSpPr>
        <p:spPr>
          <a:xfrm>
            <a:off x="914400" y="4480560"/>
            <a:ext cx="1280160" cy="292608"/>
          </a:xfrm>
          <a:prstGeom prst="roundRect">
            <a:avLst>
              <a:gd name="adj" fmla="val 50000"/>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193F61"/>
                </a:solidFill>
                <a:latin typeface="Calibri"/>
              </a:rPr>
              <a:t>2027</a:t>
            </a:r>
          </a:p>
        </p:txBody>
      </p:sp>
      <p:sp>
        <p:nvSpPr>
          <p:cNvPr id="95" name="SkyZero step 2027"/>
          <p:cNvSpPr txBox="1"/>
          <p:nvPr/>
        </p:nvSpPr>
        <p:spPr>
          <a:xfrm>
            <a:off x="2377440" y="4462272"/>
            <a:ext cx="4023360" cy="82296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Final investment approval envisaged</a:t>
            </a:r>
          </a:p>
        </p:txBody>
      </p:sp>
      <p:sp>
        <p:nvSpPr>
          <p:cNvPr id="96" name="Business case card"/>
          <p:cNvSpPr/>
          <p:nvPr/>
        </p:nvSpPr>
        <p:spPr>
          <a:xfrm>
            <a:off x="6629400" y="1810512"/>
            <a:ext cx="4983480" cy="2487168"/>
          </a:xfrm>
          <a:prstGeom prst="roundRect">
            <a:avLst>
              <a:gd name="adj" fmla="val 2941"/>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7" name="TextBox 96"/>
          <p:cNvSpPr txBox="1"/>
          <p:nvPr/>
        </p:nvSpPr>
        <p:spPr>
          <a:xfrm>
            <a:off x="6858000" y="1920240"/>
            <a:ext cx="4572000" cy="292608"/>
          </a:xfrm>
          <a:prstGeom prst="rect">
            <a:avLst/>
          </a:prstGeom>
          <a:noFill/>
        </p:spPr>
        <p:txBody>
          <a:bodyPr wrap="square" lIns="0" tIns="0" rIns="0" bIns="0" anchor="t">
            <a:noAutofit/>
          </a:bodyPr>
          <a:lstStyle/>
          <a:p>
            <a:pPr algn="l">
              <a:spcAft>
                <a:spcPts val="0"/>
              </a:spcAft>
            </a:pPr>
            <a:r>
              <a:rPr sz="1500" b="1" i="0">
                <a:solidFill>
                  <a:srgbClr val="193F61"/>
                </a:solidFill>
                <a:latin typeface="Calibri"/>
              </a:rPr>
              <a:t>Projected business case</a:t>
            </a:r>
          </a:p>
        </p:txBody>
      </p:sp>
      <p:sp>
        <p:nvSpPr>
          <p:cNvPr id="98" name="Oval 97"/>
          <p:cNvSpPr/>
          <p:nvPr/>
        </p:nvSpPr>
        <p:spPr>
          <a:xfrm>
            <a:off x="6858000" y="2331720"/>
            <a:ext cx="384048" cy="384048"/>
          </a:xfrm>
          <a:prstGeom prst="ellipse">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700" b="1" i="0">
                <a:solidFill>
                  <a:srgbClr val="FFFFFF"/>
                </a:solidFill>
                <a:latin typeface="Arial"/>
              </a:rPr>
              <a:t>+</a:t>
            </a:r>
          </a:p>
        </p:txBody>
      </p:sp>
      <p:sp>
        <p:nvSpPr>
          <p:cNvPr id="99" name="TextBox 98"/>
          <p:cNvSpPr txBox="1"/>
          <p:nvPr/>
        </p:nvSpPr>
        <p:spPr>
          <a:xfrm>
            <a:off x="7388352" y="2295144"/>
            <a:ext cx="4114800" cy="457200"/>
          </a:xfrm>
          <a:prstGeom prst="rect">
            <a:avLst/>
          </a:prstGeom>
          <a:noFill/>
        </p:spPr>
        <p:txBody>
          <a:bodyPr wrap="square" lIns="0" tIns="0" rIns="0" bIns="0" anchor="ctr">
            <a:noAutofit/>
          </a:bodyPr>
          <a:lstStyle/>
          <a:p>
            <a:pPr algn="l">
              <a:spcAft>
                <a:spcPts val="0"/>
              </a:spcAft>
            </a:pPr>
            <a:r>
              <a:rPr sz="1350" b="1" i="0">
                <a:solidFill>
                  <a:srgbClr val="1E2B3A"/>
                </a:solidFill>
                <a:latin typeface="Calibri"/>
              </a:rPr>
              <a:t>Carbon-removal credit sales</a:t>
            </a:r>
            <a:r>
              <a:rPr sz="1350" b="0" i="0">
                <a:solidFill>
                  <a:srgbClr val="566576"/>
                </a:solidFill>
                <a:latin typeface="Calibri"/>
              </a:rPr>
              <a:t>  →  income</a:t>
            </a:r>
          </a:p>
        </p:txBody>
      </p:sp>
      <p:sp>
        <p:nvSpPr>
          <p:cNvPr id="100" name="Oval 99"/>
          <p:cNvSpPr/>
          <p:nvPr/>
        </p:nvSpPr>
        <p:spPr>
          <a:xfrm>
            <a:off x="6858000" y="2862072"/>
            <a:ext cx="384048" cy="384048"/>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700" b="1" i="0">
                <a:solidFill>
                  <a:srgbClr val="FFFFFF"/>
                </a:solidFill>
                <a:latin typeface="Arial"/>
              </a:rPr>
              <a:t>−</a:t>
            </a:r>
          </a:p>
        </p:txBody>
      </p:sp>
      <p:sp>
        <p:nvSpPr>
          <p:cNvPr id="101" name="TextBox 100"/>
          <p:cNvSpPr txBox="1"/>
          <p:nvPr/>
        </p:nvSpPr>
        <p:spPr>
          <a:xfrm>
            <a:off x="7388352" y="2825496"/>
            <a:ext cx="4114800" cy="457200"/>
          </a:xfrm>
          <a:prstGeom prst="rect">
            <a:avLst/>
          </a:prstGeom>
          <a:noFill/>
        </p:spPr>
        <p:txBody>
          <a:bodyPr wrap="square" lIns="0" tIns="0" rIns="0" bIns="0" anchor="ctr">
            <a:noAutofit/>
          </a:bodyPr>
          <a:lstStyle/>
          <a:p>
            <a:pPr algn="l">
              <a:spcAft>
                <a:spcPts val="0"/>
              </a:spcAft>
            </a:pPr>
            <a:r>
              <a:rPr sz="1350" b="1" i="0">
                <a:solidFill>
                  <a:srgbClr val="1E2B3A"/>
                </a:solidFill>
                <a:latin typeface="Calibri"/>
              </a:rPr>
              <a:t>Avoided emission-allowance costs</a:t>
            </a:r>
            <a:r>
              <a:rPr sz="1350" b="0" i="0">
                <a:solidFill>
                  <a:srgbClr val="566576"/>
                </a:solidFill>
                <a:latin typeface="Calibri"/>
              </a:rPr>
              <a:t>  →  lower expenditure</a:t>
            </a:r>
          </a:p>
        </p:txBody>
      </p:sp>
      <p:sp>
        <p:nvSpPr>
          <p:cNvPr id="102" name="Oval 101"/>
          <p:cNvSpPr/>
          <p:nvPr/>
        </p:nvSpPr>
        <p:spPr>
          <a:xfrm>
            <a:off x="6858000" y="3392424"/>
            <a:ext cx="384048" cy="384048"/>
          </a:xfrm>
          <a:prstGeom prst="ellipse">
            <a:avLst/>
          </a:prstGeom>
          <a:solidFill>
            <a:srgbClr val="4C886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700" b="1" i="0">
                <a:solidFill>
                  <a:srgbClr val="FFFFFF"/>
                </a:solidFill>
                <a:latin typeface="Arial"/>
              </a:rPr>
              <a:t>€</a:t>
            </a:r>
          </a:p>
        </p:txBody>
      </p:sp>
      <p:sp>
        <p:nvSpPr>
          <p:cNvPr id="103" name="TextBox 102"/>
          <p:cNvSpPr txBox="1"/>
          <p:nvPr/>
        </p:nvSpPr>
        <p:spPr>
          <a:xfrm>
            <a:off x="7388352" y="3355848"/>
            <a:ext cx="4114800" cy="457200"/>
          </a:xfrm>
          <a:prstGeom prst="rect">
            <a:avLst/>
          </a:prstGeom>
          <a:noFill/>
        </p:spPr>
        <p:txBody>
          <a:bodyPr wrap="square" lIns="0" tIns="0" rIns="0" bIns="0" anchor="ctr">
            <a:noAutofit/>
          </a:bodyPr>
          <a:lstStyle/>
          <a:p>
            <a:pPr algn="l">
              <a:spcAft>
                <a:spcPts val="0"/>
              </a:spcAft>
            </a:pPr>
            <a:r>
              <a:rPr sz="1350" b="1" i="0">
                <a:solidFill>
                  <a:srgbClr val="1E2B3A"/>
                </a:solidFill>
                <a:latin typeface="Calibri"/>
              </a:rPr>
              <a:t>Anticipated EU and Swedish grants</a:t>
            </a:r>
            <a:r>
              <a:rPr sz="1350" b="0" i="0">
                <a:solidFill>
                  <a:srgbClr val="566576"/>
                </a:solidFill>
                <a:latin typeface="Calibri"/>
              </a:rPr>
              <a:t>  →  cost support</a:t>
            </a:r>
          </a:p>
        </p:txBody>
      </p:sp>
      <p:sp>
        <p:nvSpPr>
          <p:cNvPr id="104" name="TextBox 103"/>
          <p:cNvSpPr txBox="1"/>
          <p:nvPr/>
        </p:nvSpPr>
        <p:spPr>
          <a:xfrm>
            <a:off x="6858000" y="3904488"/>
            <a:ext cx="4572000" cy="329184"/>
          </a:xfrm>
          <a:prstGeom prst="rect">
            <a:avLst/>
          </a:prstGeom>
          <a:noFill/>
        </p:spPr>
        <p:txBody>
          <a:bodyPr wrap="square" lIns="0" tIns="0" rIns="0" bIns="0" anchor="t">
            <a:noAutofit/>
          </a:bodyPr>
          <a:lstStyle/>
          <a:p>
            <a:pPr algn="l">
              <a:spcAft>
                <a:spcPts val="0"/>
              </a:spcAft>
            </a:pPr>
            <a:r>
              <a:rPr sz="1250" b="0" i="1">
                <a:solidFill>
                  <a:srgbClr val="566576"/>
                </a:solidFill>
                <a:latin typeface="Calibri"/>
              </a:rPr>
              <a:t>Malmö’s assessment: profitability depends on support</a:t>
            </a:r>
          </a:p>
        </p:txBody>
      </p:sp>
      <p:sp>
        <p:nvSpPr>
          <p:cNvPr id="105" name="Siptex card"/>
          <p:cNvSpPr/>
          <p:nvPr/>
        </p:nvSpPr>
        <p:spPr>
          <a:xfrm>
            <a:off x="6629400" y="4462272"/>
            <a:ext cx="4983480" cy="978408"/>
          </a:xfrm>
          <a:prstGeom prst="roundRect">
            <a:avLst>
              <a:gd name="adj" fmla="val 9345"/>
            </a:avLst>
          </a:prstGeom>
          <a:solidFill>
            <a:srgbClr val="EDF0F3"/>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bIns="54864">
            <a:noAutofit/>
          </a:bodyPr>
          <a:lstStyle/>
          <a:p>
            <a:pPr algn="l">
              <a:spcAft>
                <a:spcPts val="200"/>
              </a:spcAft>
            </a:pPr>
            <a:r>
              <a:rPr sz="1350" b="1" i="0">
                <a:solidFill>
                  <a:srgbClr val="193F61"/>
                </a:solidFill>
                <a:latin typeface="Calibri"/>
              </a:rPr>
              <a:t>Siptex textile sorting (S3)</a:t>
            </a:r>
          </a:p>
          <a:p>
            <a:pPr algn="l">
              <a:spcAft>
                <a:spcPts val="0"/>
              </a:spcAft>
            </a:pPr>
            <a:r>
              <a:rPr sz="1350" b="0" i="0">
                <a:solidFill>
                  <a:srgbClr val="1E2B3A"/>
                </a:solidFill>
                <a:latin typeface="Calibri"/>
              </a:rPr>
              <a:t>Divestment decided Dec 2025 after weak demand for sorted outputs; sale reported Jul 2026</a:t>
            </a:r>
          </a:p>
        </p:txBody>
      </p:sp>
    </p:spTree>
    <p:extLst>
      <p:ext uri="{BB962C8B-B14F-4D97-AF65-F5344CB8AC3E}">
        <p14:creationId xmlns:p14="http://schemas.microsoft.com/office/powerpoint/2010/main" val="38285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Comparing the components of investability</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9</a:t>
            </a:r>
          </a:p>
        </p:txBody>
      </p:sp>
      <p:sp>
        <p:nvSpPr>
          <p:cNvPr id="87" name="Legend commitment documented"/>
          <p:cNvSpPr/>
          <p:nvPr/>
        </p:nvSpPr>
        <p:spPr>
          <a:xfrm>
            <a:off x="914400" y="1810512"/>
            <a:ext cx="219456" cy="219456"/>
          </a:xfrm>
          <a:prstGeom prst="roundRect">
            <a:avLst>
              <a:gd name="adj" fmla="val 16666"/>
            </a:avLst>
          </a:prstGeom>
          <a:solidFill>
            <a:srgbClr val="DDEFE4"/>
          </a:solidFill>
          <a:ln w="9525">
            <a:solidFill>
              <a:srgbClr val="C5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8" name="TextBox 87"/>
          <p:cNvSpPr txBox="1"/>
          <p:nvPr/>
        </p:nvSpPr>
        <p:spPr>
          <a:xfrm>
            <a:off x="1207008" y="1773936"/>
            <a:ext cx="2377440" cy="292608"/>
          </a:xfrm>
          <a:prstGeom prst="rect">
            <a:avLst/>
          </a:prstGeom>
          <a:noFill/>
        </p:spPr>
        <p:txBody>
          <a:bodyPr wrap="square" lIns="0" tIns="0" rIns="0" bIns="0" anchor="ctr">
            <a:noAutofit/>
          </a:bodyPr>
          <a:lstStyle/>
          <a:p>
            <a:pPr algn="l">
              <a:spcAft>
                <a:spcPts val="0"/>
              </a:spcAft>
            </a:pPr>
            <a:r>
              <a:rPr sz="1200" b="0" i="0">
                <a:solidFill>
                  <a:srgbClr val="566576"/>
                </a:solidFill>
                <a:latin typeface="Calibri"/>
              </a:rPr>
              <a:t>commitment documented</a:t>
            </a:r>
          </a:p>
        </p:txBody>
      </p:sp>
      <p:sp>
        <p:nvSpPr>
          <p:cNvPr id="89" name="Legend adverse or outstanding"/>
          <p:cNvSpPr/>
          <p:nvPr/>
        </p:nvSpPr>
        <p:spPr>
          <a:xfrm>
            <a:off x="3429000" y="1810512"/>
            <a:ext cx="219456" cy="219456"/>
          </a:xfrm>
          <a:prstGeom prst="roundRect">
            <a:avLst>
              <a:gd name="adj" fmla="val 16666"/>
            </a:avLst>
          </a:prstGeom>
          <a:solidFill>
            <a:srgbClr val="FBF0CC"/>
          </a:solidFill>
          <a:ln w="9525">
            <a:solidFill>
              <a:srgbClr val="C5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0" name="TextBox 89"/>
          <p:cNvSpPr txBox="1"/>
          <p:nvPr/>
        </p:nvSpPr>
        <p:spPr>
          <a:xfrm>
            <a:off x="3721608" y="1773936"/>
            <a:ext cx="2377440" cy="292608"/>
          </a:xfrm>
          <a:prstGeom prst="rect">
            <a:avLst/>
          </a:prstGeom>
          <a:noFill/>
        </p:spPr>
        <p:txBody>
          <a:bodyPr wrap="square" lIns="0" tIns="0" rIns="0" bIns="0" anchor="ctr">
            <a:noAutofit/>
          </a:bodyPr>
          <a:lstStyle/>
          <a:p>
            <a:pPr algn="l">
              <a:spcAft>
                <a:spcPts val="0"/>
              </a:spcAft>
            </a:pPr>
            <a:r>
              <a:rPr sz="1200" b="0" i="0">
                <a:solidFill>
                  <a:srgbClr val="566576"/>
                </a:solidFill>
                <a:latin typeface="Calibri"/>
              </a:rPr>
              <a:t>adverse or outstanding</a:t>
            </a:r>
          </a:p>
        </p:txBody>
      </p:sp>
      <p:sp>
        <p:nvSpPr>
          <p:cNvPr id="91" name="Legend not documented in records"/>
          <p:cNvSpPr/>
          <p:nvPr/>
        </p:nvSpPr>
        <p:spPr>
          <a:xfrm>
            <a:off x="5943600" y="1810512"/>
            <a:ext cx="219456" cy="219456"/>
          </a:xfrm>
          <a:prstGeom prst="roundRect">
            <a:avLst>
              <a:gd name="adj" fmla="val 16666"/>
            </a:avLst>
          </a:prstGeom>
          <a:solidFill>
            <a:srgbClr val="EDF0F3"/>
          </a:solidFill>
          <a:ln w="9525">
            <a:solidFill>
              <a:srgbClr val="C5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2" name="TextBox 91"/>
          <p:cNvSpPr txBox="1"/>
          <p:nvPr/>
        </p:nvSpPr>
        <p:spPr>
          <a:xfrm>
            <a:off x="6236208" y="1773936"/>
            <a:ext cx="2377440" cy="292608"/>
          </a:xfrm>
          <a:prstGeom prst="rect">
            <a:avLst/>
          </a:prstGeom>
          <a:noFill/>
        </p:spPr>
        <p:txBody>
          <a:bodyPr wrap="square" lIns="0" tIns="0" rIns="0" bIns="0" anchor="ctr">
            <a:noAutofit/>
          </a:bodyPr>
          <a:lstStyle/>
          <a:p>
            <a:pPr algn="l">
              <a:spcAft>
                <a:spcPts val="0"/>
              </a:spcAft>
            </a:pPr>
            <a:r>
              <a:rPr sz="1200" b="0" i="0">
                <a:solidFill>
                  <a:srgbClr val="566576"/>
                </a:solidFill>
                <a:latin typeface="Calibri"/>
              </a:rPr>
              <a:t>not documented in records</a:t>
            </a:r>
          </a:p>
        </p:txBody>
      </p:sp>
      <p:graphicFrame>
        <p:nvGraphicFramePr>
          <p:cNvPr id="93" name="Investability table"/>
          <p:cNvGraphicFramePr>
            <a:graphicFrameLocks noGrp="1"/>
          </p:cNvGraphicFramePr>
          <p:nvPr/>
        </p:nvGraphicFramePr>
        <p:xfrm>
          <a:off x="914400" y="2194560"/>
          <a:ext cx="10698480" cy="3246120"/>
        </p:xfrm>
        <a:graphic>
          <a:graphicData uri="http://schemas.openxmlformats.org/drawingml/2006/table">
            <a:tbl>
              <a:tblPr firstRow="1">
                <a:tableStyleId>{2D5ABB26-0587-4C30-8999-92F81FD0307C}</a:tableStyleId>
              </a:tblPr>
              <a:tblGrid>
                <a:gridCol w="2240280"/>
                <a:gridCol w="2423160"/>
                <a:gridCol w="2057400"/>
                <a:gridCol w="2377440"/>
                <a:gridCol w="1600200"/>
              </a:tblGrid>
              <a:tr h="393192">
                <a:tc>
                  <a:txBody>
                    <a:bodyPr wrap="square"/>
                    <a:lstStyle/>
                    <a:p>
                      <a:pPr algn="l">
                        <a:spcAft>
                          <a:spcPts val="0"/>
                        </a:spcAft>
                      </a:pPr>
                      <a:r>
                        <a:rPr sz="1250" b="1" i="0">
                          <a:solidFill>
                            <a:srgbClr val="FFFFFF"/>
                          </a:solidFill>
                          <a:latin typeface="Calibri"/>
                        </a:rPr>
                        <a:t>Project</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193F61"/>
                    </a:solidFill>
                  </a:tcPr>
                </a:tc>
                <a:tc>
                  <a:txBody>
                    <a:bodyPr wrap="square"/>
                    <a:lstStyle/>
                    <a:p>
                      <a:pPr algn="l">
                        <a:spcAft>
                          <a:spcPts val="0"/>
                        </a:spcAft>
                      </a:pPr>
                      <a:r>
                        <a:rPr sz="1250" b="1" i="0">
                          <a:solidFill>
                            <a:srgbClr val="FFFFFF"/>
                          </a:solidFill>
                          <a:latin typeface="Calibri"/>
                        </a:rPr>
                        <a:t>Owner action</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193F61"/>
                    </a:solidFill>
                  </a:tcPr>
                </a:tc>
                <a:tc>
                  <a:txBody>
                    <a:bodyPr wrap="square"/>
                    <a:lstStyle/>
                    <a:p>
                      <a:pPr algn="l">
                        <a:spcAft>
                          <a:spcPts val="0"/>
                        </a:spcAft>
                      </a:pPr>
                      <a:r>
                        <a:rPr sz="1250" b="1" i="0">
                          <a:solidFill>
                            <a:srgbClr val="FFFFFF"/>
                          </a:solidFill>
                          <a:latin typeface="Calibri"/>
                        </a:rPr>
                        <a:t>Financing basis</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193F61"/>
                    </a:solidFill>
                  </a:tcPr>
                </a:tc>
                <a:tc>
                  <a:txBody>
                    <a:bodyPr wrap="square"/>
                    <a:lstStyle/>
                    <a:p>
                      <a:pPr algn="l">
                        <a:spcAft>
                          <a:spcPts val="0"/>
                        </a:spcAft>
                      </a:pPr>
                      <a:r>
                        <a:rPr sz="1250" b="1" i="0">
                          <a:solidFill>
                            <a:srgbClr val="FFFFFF"/>
                          </a:solidFill>
                          <a:latin typeface="Calibri"/>
                        </a:rPr>
                        <a:t>Cost-recovery basis</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193F61"/>
                    </a:solidFill>
                  </a:tcPr>
                </a:tc>
                <a:tc>
                  <a:txBody>
                    <a:bodyPr wrap="square"/>
                    <a:lstStyle/>
                    <a:p>
                      <a:pPr algn="l">
                        <a:spcAft>
                          <a:spcPts val="0"/>
                        </a:spcAft>
                      </a:pPr>
                      <a:r>
                        <a:rPr sz="1250" b="1" i="0">
                          <a:solidFill>
                            <a:srgbClr val="FFFFFF"/>
                          </a:solidFill>
                          <a:latin typeface="Calibri"/>
                        </a:rPr>
                        <a:t>Stage at last record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193F61"/>
                    </a:solidFill>
                  </a:tcPr>
                </a:tc>
              </a:tr>
              <a:tr h="475488">
                <a:tc>
                  <a:txBody>
                    <a:bodyPr wrap="square"/>
                    <a:lstStyle/>
                    <a:p>
                      <a:pPr algn="l">
                        <a:spcAft>
                          <a:spcPts val="0"/>
                        </a:spcAft>
                      </a:pPr>
                      <a:r>
                        <a:rPr sz="1200" b="1" i="0">
                          <a:solidFill>
                            <a:srgbClr val="193F61"/>
                          </a:solidFill>
                          <a:latin typeface="Calibri"/>
                        </a:rPr>
                        <a:t>Helsinki — decentralised pathway, coal exit</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 50% equity target; council chose staged option (2015)</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Prepared capacity; EUR 360m vs 960m CHP</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DDEFE4"/>
                    </a:solidFill>
                  </a:tcPr>
                </a:tc>
                <a:tc>
                  <a:txBody>
                    <a:bodyPr wrap="square"/>
                    <a:lstStyle/>
                    <a:p>
                      <a:pPr algn="l">
                        <a:spcAft>
                          <a:spcPts val="0"/>
                        </a:spcAft>
                      </a:pPr>
                      <a:r>
                        <a:rPr sz="1200" b="0" i="0">
                          <a:solidFill>
                            <a:srgbClr val="1E2B3A"/>
                          </a:solidFill>
                          <a:latin typeface="Calibri"/>
                        </a:rPr>
                        <a:t>Options unattractive; limited tariff pass-through</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BF0CC"/>
                    </a:solidFill>
                  </a:tcPr>
                </a:tc>
                <a:tc>
                  <a:txBody>
                    <a:bodyPr wrap="square"/>
                    <a:lstStyle/>
                    <a:p>
                      <a:pPr algn="l">
                        <a:spcAft>
                          <a:spcPts val="0"/>
                        </a:spcAft>
                      </a:pPr>
                      <a:r>
                        <a:rPr sz="1200" b="0" i="0">
                          <a:solidFill>
                            <a:srgbClr val="1E2B3A"/>
                          </a:solidFill>
                          <a:latin typeface="Calibri"/>
                        </a:rPr>
                        <a:t>Coal plants closed 2023 and 2025</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r>
              <a:tr h="475488">
                <a:tc>
                  <a:txBody>
                    <a:bodyPr wrap="square"/>
                    <a:lstStyle/>
                    <a:p>
                      <a:pPr algn="l">
                        <a:spcAft>
                          <a:spcPts val="0"/>
                        </a:spcAft>
                      </a:pPr>
                      <a:r>
                        <a:rPr sz="1200" b="1" i="0">
                          <a:solidFill>
                            <a:srgbClr val="193F61"/>
                          </a:solidFill>
                          <a:latin typeface="Calibri"/>
                        </a:rPr>
                        <a:t>Aalborg — network guarantee</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Council guarantee DKK 385m (Jun 2025)</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17.3% of Varme’s assets</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DDEFE4"/>
                    </a:solidFill>
                  </a:tcPr>
                </a:tc>
                <a:tc>
                  <a:txBody>
                    <a:bodyPr wrap="square"/>
                    <a:lstStyle/>
                    <a:p>
                      <a:pPr algn="l">
                        <a:spcAft>
                          <a:spcPts val="0"/>
                        </a:spcAft>
                      </a:pPr>
                      <a:r>
                        <a:rPr sz="1200" b="0" i="0">
                          <a:solidFill>
                            <a:srgbClr val="1E2B3A"/>
                          </a:solidFill>
                          <a:latin typeface="Calibri"/>
                        </a:rPr>
                        <a:t>Necessary-cost tariffs; project treatment unspecified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BF0CC"/>
                    </a:solidFill>
                  </a:tcPr>
                </a:tc>
                <a:tc>
                  <a:txBody>
                    <a:bodyPr wrap="square"/>
                    <a:lstStyle/>
                    <a:p>
                      <a:pPr algn="l">
                        <a:spcAft>
                          <a:spcPts val="0"/>
                        </a:spcAft>
                      </a:pPr>
                      <a:r>
                        <a:rPr sz="1200" b="0" i="0">
                          <a:solidFill>
                            <a:srgbClr val="1E2B3A"/>
                          </a:solidFill>
                          <a:latin typeface="Calibri"/>
                        </a:rPr>
                        <a:t>Approved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r>
              <a:tr h="475488">
                <a:tc>
                  <a:txBody>
                    <a:bodyPr wrap="square"/>
                    <a:lstStyle/>
                    <a:p>
                      <a:pPr algn="l">
                        <a:spcAft>
                          <a:spcPts val="0"/>
                        </a:spcAft>
                      </a:pPr>
                      <a:r>
                        <a:rPr sz="1200" b="1" i="0">
                          <a:solidFill>
                            <a:srgbClr val="193F61"/>
                          </a:solidFill>
                          <a:latin typeface="Calibri"/>
                        </a:rPr>
                        <a:t>Aalborg — 150 MW electric boiler</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Intra-group agreement; direct owner action not documented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1">
                          <a:solidFill>
                            <a:srgbClr val="566576"/>
                          </a:solidFill>
                          <a:latin typeface="Calibri"/>
                        </a:rPr>
                        <a:t>Not documented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EDF0F3"/>
                    </a:solidFill>
                  </a:tcPr>
                </a:tc>
                <a:tc>
                  <a:txBody>
                    <a:bodyPr wrap="square"/>
                    <a:lstStyle/>
                    <a:p>
                      <a:pPr algn="l">
                        <a:spcAft>
                          <a:spcPts val="0"/>
                        </a:spcAft>
                      </a:pPr>
                      <a:r>
                        <a:rPr sz="1200" b="0" i="0">
                          <a:solidFill>
                            <a:srgbClr val="1E2B3A"/>
                          </a:solidFill>
                          <a:latin typeface="Calibri"/>
                        </a:rPr>
                        <a:t>Varme pays fixed and variable costs at self-cost</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DDEFE4"/>
                    </a:solidFill>
                  </a:tcPr>
                </a:tc>
                <a:tc>
                  <a:txBody>
                    <a:bodyPr wrap="square"/>
                    <a:lstStyle/>
                    <a:p>
                      <a:pPr algn="l">
                        <a:spcAft>
                          <a:spcPts val="0"/>
                        </a:spcAft>
                      </a:pPr>
                      <a:r>
                        <a:rPr sz="1200" b="0" i="0">
                          <a:solidFill>
                            <a:srgbClr val="1E2B3A"/>
                          </a:solidFill>
                          <a:latin typeface="Calibri"/>
                        </a:rPr>
                        <a:t>Commissioning summer 2026</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r>
              <a:tr h="475488">
                <a:tc>
                  <a:txBody>
                    <a:bodyPr wrap="square"/>
                    <a:lstStyle/>
                    <a:p>
                      <a:pPr algn="l">
                        <a:spcAft>
                          <a:spcPts val="0"/>
                        </a:spcAft>
                      </a:pPr>
                      <a:r>
                        <a:rPr sz="1200" b="1" i="0">
                          <a:solidFill>
                            <a:srgbClr val="193F61"/>
                          </a:solidFill>
                          <a:latin typeface="Calibri"/>
                        </a:rPr>
                        <a:t>Aalborg — Vest heat pump</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1">
                          <a:solidFill>
                            <a:srgbClr val="566576"/>
                          </a:solidFill>
                          <a:latin typeface="Calibri"/>
                        </a:rPr>
                        <a:t>Not documented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1">
                          <a:solidFill>
                            <a:srgbClr val="566576"/>
                          </a:solidFill>
                          <a:latin typeface="Calibri"/>
                        </a:rPr>
                        <a:t>Not documented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EDF0F3"/>
                    </a:solidFill>
                  </a:tcPr>
                </a:tc>
                <a:tc>
                  <a:txBody>
                    <a:bodyPr wrap="square"/>
                    <a:lstStyle/>
                    <a:p>
                      <a:pPr algn="l">
                        <a:spcAft>
                          <a:spcPts val="0"/>
                        </a:spcAft>
                      </a:pPr>
                      <a:r>
                        <a:rPr sz="1200" b="0" i="0">
                          <a:solidFill>
                            <a:srgbClr val="1E2B3A"/>
                          </a:solidFill>
                          <a:latin typeface="Calibri"/>
                        </a:rPr>
                        <a:t>Abandonment attributed to excess-heat cap</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BF0CC"/>
                    </a:solidFill>
                  </a:tcPr>
                </a:tc>
                <a:tc>
                  <a:txBody>
                    <a:bodyPr wrap="square"/>
                    <a:lstStyle/>
                    <a:p>
                      <a:pPr algn="l">
                        <a:spcAft>
                          <a:spcPts val="0"/>
                        </a:spcAft>
                      </a:pPr>
                      <a:r>
                        <a:rPr sz="1200" b="0" i="0">
                          <a:solidFill>
                            <a:srgbClr val="1E2B3A"/>
                          </a:solidFill>
                          <a:latin typeface="Calibri"/>
                        </a:rPr>
                        <a:t>Abandoned Nov 2023</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r>
              <a:tr h="475488">
                <a:tc>
                  <a:txBody>
                    <a:bodyPr wrap="square"/>
                    <a:lstStyle/>
                    <a:p>
                      <a:pPr algn="l">
                        <a:spcAft>
                          <a:spcPts val="0"/>
                        </a:spcAft>
                      </a:pPr>
                      <a:r>
                        <a:rPr sz="1200" b="1" i="0">
                          <a:solidFill>
                            <a:srgbClr val="193F61"/>
                          </a:solidFill>
                          <a:latin typeface="Calibri"/>
                        </a:rPr>
                        <a:t>Sysav — SkyZero carbon capture</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13/14 owners endorse; Malmö conditional approval</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0">
                          <a:solidFill>
                            <a:srgbClr val="1E2B3A"/>
                          </a:solidFill>
                          <a:latin typeface="Calibri"/>
                        </a:rPr>
                        <a:t>SEK 1.2bn guarantee ceiling; grants pending</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DDEFE4"/>
                    </a:solidFill>
                  </a:tcPr>
                </a:tc>
                <a:tc>
                  <a:txBody>
                    <a:bodyPr wrap="square"/>
                    <a:lstStyle/>
                    <a:p>
                      <a:pPr algn="l">
                        <a:spcAft>
                          <a:spcPts val="0"/>
                        </a:spcAft>
                      </a:pPr>
                      <a:r>
                        <a:rPr sz="1200" b="0" i="0">
                          <a:solidFill>
                            <a:srgbClr val="1E2B3A"/>
                          </a:solidFill>
                          <a:latin typeface="Calibri"/>
                        </a:rPr>
                        <a:t>Contracted revenues required; purchases conditional</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BF0CC"/>
                    </a:solidFill>
                  </a:tcPr>
                </a:tc>
                <a:tc>
                  <a:txBody>
                    <a:bodyPr wrap="square"/>
                    <a:lstStyle/>
                    <a:p>
                      <a:pPr algn="l">
                        <a:spcAft>
                          <a:spcPts val="0"/>
                        </a:spcAft>
                      </a:pPr>
                      <a:r>
                        <a:rPr sz="1200" b="0" i="0">
                          <a:solidFill>
                            <a:srgbClr val="1E2B3A"/>
                          </a:solidFill>
                          <a:latin typeface="Calibri"/>
                        </a:rPr>
                        <a:t>Development; final approval 2027</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r>
              <a:tr h="475488">
                <a:tc>
                  <a:txBody>
                    <a:bodyPr wrap="square"/>
                    <a:lstStyle/>
                    <a:p>
                      <a:pPr algn="l">
                        <a:spcAft>
                          <a:spcPts val="0"/>
                        </a:spcAft>
                      </a:pPr>
                      <a:r>
                        <a:rPr sz="1200" b="1" i="0">
                          <a:solidFill>
                            <a:srgbClr val="193F61"/>
                          </a:solidFill>
                          <a:latin typeface="Calibri"/>
                        </a:rPr>
                        <a:t>Sysav — Siptex textile sorting</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1">
                          <a:solidFill>
                            <a:srgbClr val="566576"/>
                          </a:solidFill>
                          <a:latin typeface="Calibri"/>
                        </a:rPr>
                        <a:t>Not documented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c>
                  <a:txBody>
                    <a:bodyPr wrap="square"/>
                    <a:lstStyle/>
                    <a:p>
                      <a:pPr algn="l">
                        <a:spcAft>
                          <a:spcPts val="0"/>
                        </a:spcAft>
                      </a:pPr>
                      <a:r>
                        <a:rPr sz="1200" b="0" i="1">
                          <a:solidFill>
                            <a:srgbClr val="566576"/>
                          </a:solidFill>
                          <a:latin typeface="Calibri"/>
                        </a:rPr>
                        <a:t>Not documented</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EDF0F3"/>
                    </a:solidFill>
                  </a:tcPr>
                </a:tc>
                <a:tc>
                  <a:txBody>
                    <a:bodyPr wrap="square"/>
                    <a:lstStyle/>
                    <a:p>
                      <a:pPr algn="l">
                        <a:spcAft>
                          <a:spcPts val="0"/>
                        </a:spcAft>
                      </a:pPr>
                      <a:r>
                        <a:rPr sz="1200" b="0" i="0">
                          <a:solidFill>
                            <a:srgbClr val="1E2B3A"/>
                          </a:solidFill>
                          <a:latin typeface="Calibri"/>
                        </a:rPr>
                        <a:t>Weak demand for sorted outputs</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BF0CC"/>
                    </a:solidFill>
                  </a:tcPr>
                </a:tc>
                <a:tc>
                  <a:txBody>
                    <a:bodyPr wrap="square"/>
                    <a:lstStyle/>
                    <a:p>
                      <a:pPr algn="l">
                        <a:spcAft>
                          <a:spcPts val="0"/>
                        </a:spcAft>
                      </a:pPr>
                      <a:r>
                        <a:rPr sz="1200" b="0" i="0">
                          <a:solidFill>
                            <a:srgbClr val="1E2B3A"/>
                          </a:solidFill>
                          <a:latin typeface="Calibri"/>
                        </a:rPr>
                        <a:t>Sold Jul 2026</a:t>
                      </a:r>
                    </a:p>
                  </a:txBody>
                  <a:tcPr marL="73152" marR="73152" marT="27432" marB="27432" anchor="ctr">
                    <a:lnL w="19050">
                      <a:solidFill>
                        <a:srgbClr val="FFFFFF"/>
                      </a:solidFill>
                    </a:lnL>
                    <a:lnR w="19050">
                      <a:solidFill>
                        <a:srgbClr val="FFFFFF"/>
                      </a:solidFill>
                    </a:lnR>
                    <a:lnT w="19050">
                      <a:solidFill>
                        <a:srgbClr val="FFFFFF"/>
                      </a:solidFill>
                    </a:lnT>
                    <a:lnB w="19050">
                      <a:solidFill>
                        <a:srgbClr val="FFFFFF"/>
                      </a:solidFill>
                    </a:lnB>
                    <a:solidFill>
                      <a:srgbClr val="F7F9FB"/>
                    </a:solidFill>
                  </a:tcPr>
                </a:tc>
              </a:tr>
            </a:tbl>
          </a:graphicData>
        </a:graphic>
      </p:graphicFrame>
    </p:spTree>
    <p:extLst>
      <p:ext uri="{BB962C8B-B14F-4D97-AF65-F5344CB8AC3E}">
        <p14:creationId xmlns:p14="http://schemas.microsoft.com/office/powerpoint/2010/main" val="382855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Owner support did not settle cost recovery</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10</a:t>
            </a:r>
          </a:p>
        </p:txBody>
      </p:sp>
      <p:sp>
        <p:nvSpPr>
          <p:cNvPr id="87" name="Responses lead"/>
          <p:cNvSpPr txBox="1"/>
          <p:nvPr/>
        </p:nvSpPr>
        <p:spPr>
          <a:xfrm>
            <a:off x="914400" y="1755648"/>
            <a:ext cx="10698480" cy="457200"/>
          </a:xfrm>
          <a:prstGeom prst="rect">
            <a:avLst/>
          </a:prstGeom>
          <a:noFill/>
        </p:spPr>
        <p:txBody>
          <a:bodyPr wrap="square" lIns="0" tIns="0" rIns="0" bIns="0" anchor="t">
            <a:noAutofit/>
          </a:bodyPr>
          <a:lstStyle/>
          <a:p>
            <a:pPr algn="l">
              <a:spcAft>
                <a:spcPts val="0"/>
              </a:spcAft>
            </a:pPr>
            <a:r>
              <a:rPr sz="1600" b="0" i="0">
                <a:solidFill>
                  <a:srgbClr val="193F61"/>
                </a:solidFill>
                <a:latin typeface="Calibri"/>
              </a:rPr>
              <a:t>Political support coexisted with adverse appraisals and outstanding recovery conditions. Three responses appear in the records:</a:t>
            </a:r>
          </a:p>
        </p:txBody>
      </p:sp>
      <p:sp>
        <p:nvSpPr>
          <p:cNvPr id="88" name="Response row 1"/>
          <p:cNvSpPr/>
          <p:nvPr/>
        </p:nvSpPr>
        <p:spPr>
          <a:xfrm>
            <a:off x="914400" y="2377440"/>
            <a:ext cx="10698480" cy="896112"/>
          </a:xfrm>
          <a:prstGeom prst="roundRect">
            <a:avLst>
              <a:gd name="adj" fmla="val 816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9" name="Rounded Rectangle 88"/>
          <p:cNvSpPr/>
          <p:nvPr/>
        </p:nvSpPr>
        <p:spPr>
          <a:xfrm>
            <a:off x="1143000" y="2670048"/>
            <a:ext cx="1600200" cy="310896"/>
          </a:xfrm>
          <a:prstGeom prst="roundRect">
            <a:avLst>
              <a:gd name="adj" fmla="val 50000"/>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FFFFFF"/>
                </a:solidFill>
                <a:latin typeface="Calibri"/>
              </a:rPr>
              <a:t>HELSINKI</a:t>
            </a:r>
          </a:p>
        </p:txBody>
      </p:sp>
      <p:sp>
        <p:nvSpPr>
          <p:cNvPr id="90" name="TextBox 89"/>
          <p:cNvSpPr txBox="1"/>
          <p:nvPr/>
        </p:nvSpPr>
        <p:spPr>
          <a:xfrm>
            <a:off x="2971800" y="2468880"/>
            <a:ext cx="3017520" cy="71323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Adapting the production pathway</a:t>
            </a:r>
          </a:p>
        </p:txBody>
      </p:sp>
      <p:sp>
        <p:nvSpPr>
          <p:cNvPr id="91" name="Response text 1"/>
          <p:cNvSpPr txBox="1"/>
          <p:nvPr/>
        </p:nvSpPr>
        <p:spPr>
          <a:xfrm>
            <a:off x="6126480" y="2450592"/>
            <a:ext cx="5303520" cy="749808"/>
          </a:xfrm>
          <a:prstGeom prst="rect">
            <a:avLst/>
          </a:prstGeom>
          <a:noFill/>
        </p:spPr>
        <p:txBody>
          <a:bodyPr wrap="square" lIns="0" tIns="0" rIns="0" bIns="0" anchor="ctr">
            <a:noAutofit/>
          </a:bodyPr>
          <a:lstStyle/>
          <a:p>
            <a:pPr algn="l">
              <a:spcAft>
                <a:spcPts val="0"/>
              </a:spcAft>
            </a:pPr>
            <a:r>
              <a:rPr sz="1400" b="0" i="0">
                <a:solidFill>
                  <a:srgbClr val="1E2B3A"/>
                </a:solidFill>
                <a:latin typeface="Calibri"/>
              </a:rPr>
              <a:t>The objective survived an adverse appraisal, but the chosen means took up the board’s preference for a less burdensome, staged course.</a:t>
            </a:r>
          </a:p>
        </p:txBody>
      </p:sp>
      <p:sp>
        <p:nvSpPr>
          <p:cNvPr id="92" name="Response row 2"/>
          <p:cNvSpPr/>
          <p:nvPr/>
        </p:nvSpPr>
        <p:spPr>
          <a:xfrm>
            <a:off x="914400" y="3410712"/>
            <a:ext cx="10698480" cy="896112"/>
          </a:xfrm>
          <a:prstGeom prst="roundRect">
            <a:avLst>
              <a:gd name="adj" fmla="val 816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3" name="Rounded Rectangle 92"/>
          <p:cNvSpPr/>
          <p:nvPr/>
        </p:nvSpPr>
        <p:spPr>
          <a:xfrm>
            <a:off x="1143000" y="3703320"/>
            <a:ext cx="1600200" cy="310896"/>
          </a:xfrm>
          <a:prstGeom prst="roundRect">
            <a:avLst>
              <a:gd name="adj" fmla="val 50000"/>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FFFFFF"/>
                </a:solidFill>
                <a:latin typeface="Calibri"/>
              </a:rPr>
              <a:t>AALBORG</a:t>
            </a:r>
          </a:p>
        </p:txBody>
      </p:sp>
      <p:sp>
        <p:nvSpPr>
          <p:cNvPr id="94" name="TextBox 93"/>
          <p:cNvSpPr txBox="1"/>
          <p:nvPr/>
        </p:nvSpPr>
        <p:spPr>
          <a:xfrm>
            <a:off x="2971800" y="3502152"/>
            <a:ext cx="3017520" cy="71323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Allocating costs by contract</a:t>
            </a:r>
          </a:p>
        </p:txBody>
      </p:sp>
      <p:sp>
        <p:nvSpPr>
          <p:cNvPr id="95" name="Response text 2"/>
          <p:cNvSpPr txBox="1"/>
          <p:nvPr/>
        </p:nvSpPr>
        <p:spPr>
          <a:xfrm>
            <a:off x="6126480" y="3483864"/>
            <a:ext cx="5303520" cy="749808"/>
          </a:xfrm>
          <a:prstGeom prst="rect">
            <a:avLst/>
          </a:prstGeom>
          <a:noFill/>
        </p:spPr>
        <p:txBody>
          <a:bodyPr wrap="square" lIns="0" tIns="0" rIns="0" bIns="0" anchor="ctr">
            <a:noAutofit/>
          </a:bodyPr>
          <a:lstStyle/>
          <a:p>
            <a:pPr algn="l">
              <a:spcAft>
                <a:spcPts val="0"/>
              </a:spcAft>
            </a:pPr>
            <a:r>
              <a:rPr sz="1400" b="0" i="0">
                <a:solidFill>
                  <a:srgbClr val="1E2B3A"/>
                </a:solidFill>
                <a:latin typeface="Calibri"/>
              </a:rPr>
              <a:t>A group company accepted the boiler producer’s fixed and variable costs; Vest shows how a pricing rule can stop a recovery route.</a:t>
            </a:r>
          </a:p>
        </p:txBody>
      </p:sp>
      <p:sp>
        <p:nvSpPr>
          <p:cNvPr id="96" name="Response row 3"/>
          <p:cNvSpPr/>
          <p:nvPr/>
        </p:nvSpPr>
        <p:spPr>
          <a:xfrm>
            <a:off x="914400" y="4443984"/>
            <a:ext cx="10698480" cy="896112"/>
          </a:xfrm>
          <a:prstGeom prst="roundRect">
            <a:avLst>
              <a:gd name="adj" fmla="val 8163"/>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7" name="Rounded Rectangle 96"/>
          <p:cNvSpPr/>
          <p:nvPr/>
        </p:nvSpPr>
        <p:spPr>
          <a:xfrm>
            <a:off x="1143000" y="4736592"/>
            <a:ext cx="1600200" cy="310896"/>
          </a:xfrm>
          <a:prstGeom prst="roundRect">
            <a:avLst>
              <a:gd name="adj" fmla="val 50000"/>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spcAft>
                <a:spcPts val="0"/>
              </a:spcAft>
            </a:pPr>
            <a:r>
              <a:rPr sz="1200" b="1" i="0">
                <a:solidFill>
                  <a:srgbClr val="193F61"/>
                </a:solidFill>
                <a:latin typeface="Calibri"/>
              </a:rPr>
              <a:t>MALMÖ / SYSAV</a:t>
            </a:r>
          </a:p>
        </p:txBody>
      </p:sp>
      <p:sp>
        <p:nvSpPr>
          <p:cNvPr id="98" name="TextBox 97"/>
          <p:cNvSpPr txBox="1"/>
          <p:nvPr/>
        </p:nvSpPr>
        <p:spPr>
          <a:xfrm>
            <a:off x="2971800" y="4535424"/>
            <a:ext cx="3017520" cy="71323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Qualifying support with conditions</a:t>
            </a:r>
          </a:p>
        </p:txBody>
      </p:sp>
      <p:sp>
        <p:nvSpPr>
          <p:cNvPr id="99" name="Response text 3"/>
          <p:cNvSpPr txBox="1"/>
          <p:nvPr/>
        </p:nvSpPr>
        <p:spPr>
          <a:xfrm>
            <a:off x="6126480" y="4517136"/>
            <a:ext cx="5303520" cy="749808"/>
          </a:xfrm>
          <a:prstGeom prst="rect">
            <a:avLst/>
          </a:prstGeom>
          <a:noFill/>
        </p:spPr>
        <p:txBody>
          <a:bodyPr wrap="square" lIns="0" tIns="0" rIns="0" bIns="0" anchor="ctr">
            <a:noAutofit/>
          </a:bodyPr>
          <a:lstStyle/>
          <a:p>
            <a:pPr algn="l">
              <a:spcAft>
                <a:spcPts val="0"/>
              </a:spcAft>
            </a:pPr>
            <a:r>
              <a:rPr sz="1400" b="0" i="0">
                <a:solidFill>
                  <a:srgbClr val="1E2B3A"/>
                </a:solidFill>
                <a:latin typeface="Calibri"/>
              </a:rPr>
              <a:t>A guarantee ceiling was accepted while SkyZero still needed contracted revenues, procurement compliance and final approval.</a:t>
            </a:r>
          </a:p>
        </p:txBody>
      </p:sp>
    </p:spTree>
    <p:extLst>
      <p:ext uri="{BB962C8B-B14F-4D97-AF65-F5344CB8AC3E}">
        <p14:creationId xmlns:p14="http://schemas.microsoft.com/office/powerpoint/2010/main" val="382855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Institutions enter through specific rules</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11</a:t>
            </a:r>
          </a:p>
        </p:txBody>
      </p:sp>
      <p:sp>
        <p:nvSpPr>
          <p:cNvPr id="87" name="Channel marker 1"/>
          <p:cNvSpPr/>
          <p:nvPr/>
        </p:nvSpPr>
        <p:spPr>
          <a:xfrm>
            <a:off x="914400" y="1810512"/>
            <a:ext cx="457200" cy="457200"/>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700" b="1" i="0">
                <a:solidFill>
                  <a:srgbClr val="FFFFFF"/>
                </a:solidFill>
                <a:latin typeface="Arial"/>
              </a:rPr>
              <a:t>€</a:t>
            </a:r>
          </a:p>
        </p:txBody>
      </p:sp>
      <p:sp>
        <p:nvSpPr>
          <p:cNvPr id="88" name="TextBox 87"/>
          <p:cNvSpPr txBox="1"/>
          <p:nvPr/>
        </p:nvSpPr>
        <p:spPr>
          <a:xfrm>
            <a:off x="1554480" y="1828800"/>
            <a:ext cx="4389120" cy="310896"/>
          </a:xfrm>
          <a:prstGeom prst="rect">
            <a:avLst/>
          </a:prstGeom>
          <a:noFill/>
        </p:spPr>
        <p:txBody>
          <a:bodyPr wrap="square" lIns="0" tIns="0" rIns="0" bIns="0" anchor="t">
            <a:noAutofit/>
          </a:bodyPr>
          <a:lstStyle/>
          <a:p>
            <a:pPr algn="l">
              <a:spcAft>
                <a:spcPts val="0"/>
              </a:spcAft>
            </a:pPr>
            <a:r>
              <a:rPr sz="1650" b="1" i="0">
                <a:solidFill>
                  <a:srgbClr val="193F61"/>
                </a:solidFill>
                <a:latin typeface="Calibri"/>
              </a:rPr>
              <a:t>Appraised tariff capacity</a:t>
            </a:r>
          </a:p>
        </p:txBody>
      </p:sp>
      <p:sp>
        <p:nvSpPr>
          <p:cNvPr id="89" name="Channel text 1"/>
          <p:cNvSpPr txBox="1"/>
          <p:nvPr/>
        </p:nvSpPr>
        <p:spPr>
          <a:xfrm>
            <a:off x="1554480" y="2157984"/>
            <a:ext cx="4389120" cy="7772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Limited heat-price increases entered Helen’s appraisal; consumer protection constrains pricing (KKV 2022).</a:t>
            </a:r>
          </a:p>
        </p:txBody>
      </p:sp>
      <p:sp>
        <p:nvSpPr>
          <p:cNvPr id="90" name="Channel marker 2"/>
          <p:cNvSpPr/>
          <p:nvPr/>
        </p:nvSpPr>
        <p:spPr>
          <a:xfrm>
            <a:off x="914400" y="3026664"/>
            <a:ext cx="457200" cy="457200"/>
          </a:xfrm>
          <a:prstGeom prst="ellipse">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700" b="1" i="0">
                <a:solidFill>
                  <a:srgbClr val="FFFFFF"/>
                </a:solidFill>
                <a:latin typeface="Arial"/>
              </a:rPr>
              <a:t>↔</a:t>
            </a:r>
          </a:p>
        </p:txBody>
      </p:sp>
      <p:sp>
        <p:nvSpPr>
          <p:cNvPr id="91" name="TextBox 90"/>
          <p:cNvSpPr txBox="1"/>
          <p:nvPr/>
        </p:nvSpPr>
        <p:spPr>
          <a:xfrm>
            <a:off x="1554480" y="3044952"/>
            <a:ext cx="4389120" cy="310896"/>
          </a:xfrm>
          <a:prstGeom prst="rect">
            <a:avLst/>
          </a:prstGeom>
          <a:noFill/>
        </p:spPr>
        <p:txBody>
          <a:bodyPr wrap="square" lIns="0" tIns="0" rIns="0" bIns="0" anchor="t">
            <a:noAutofit/>
          </a:bodyPr>
          <a:lstStyle/>
          <a:p>
            <a:pPr algn="l">
              <a:spcAft>
                <a:spcPts val="0"/>
              </a:spcAft>
            </a:pPr>
            <a:r>
              <a:rPr sz="1650" b="1" i="0">
                <a:solidFill>
                  <a:srgbClr val="193F61"/>
                </a:solidFill>
                <a:latin typeface="Calibri"/>
              </a:rPr>
              <a:t>Contractual cost allocation</a:t>
            </a:r>
          </a:p>
        </p:txBody>
      </p:sp>
      <p:sp>
        <p:nvSpPr>
          <p:cNvPr id="92" name="Channel text 2"/>
          <p:cNvSpPr txBox="1"/>
          <p:nvPr/>
        </p:nvSpPr>
        <p:spPr>
          <a:xfrm>
            <a:off x="1554480" y="3374136"/>
            <a:ext cx="4389120" cy="7772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Necessary-cost tariffs frame Danish heat pricing (§§20–21); a supply agreement fixes a purchaser’s obligations.</a:t>
            </a:r>
          </a:p>
        </p:txBody>
      </p:sp>
      <p:sp>
        <p:nvSpPr>
          <p:cNvPr id="93" name="Channel marker 3"/>
          <p:cNvSpPr/>
          <p:nvPr/>
        </p:nvSpPr>
        <p:spPr>
          <a:xfrm>
            <a:off x="914400" y="4242816"/>
            <a:ext cx="457200" cy="457200"/>
          </a:xfrm>
          <a:prstGeom prst="ellipse">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700" b="1" i="0">
                <a:solidFill>
                  <a:srgbClr val="193F61"/>
                </a:solidFill>
                <a:latin typeface="Arial"/>
              </a:rPr>
              <a:t>§</a:t>
            </a:r>
          </a:p>
        </p:txBody>
      </p:sp>
      <p:sp>
        <p:nvSpPr>
          <p:cNvPr id="94" name="TextBox 93"/>
          <p:cNvSpPr txBox="1"/>
          <p:nvPr/>
        </p:nvSpPr>
        <p:spPr>
          <a:xfrm>
            <a:off x="1554480" y="4261104"/>
            <a:ext cx="4389120" cy="310896"/>
          </a:xfrm>
          <a:prstGeom prst="rect">
            <a:avLst/>
          </a:prstGeom>
          <a:noFill/>
        </p:spPr>
        <p:txBody>
          <a:bodyPr wrap="square" lIns="0" tIns="0" rIns="0" bIns="0" anchor="t">
            <a:noAutofit/>
          </a:bodyPr>
          <a:lstStyle/>
          <a:p>
            <a:pPr algn="l">
              <a:spcAft>
                <a:spcPts val="0"/>
              </a:spcAft>
            </a:pPr>
            <a:r>
              <a:rPr sz="1650" b="1" i="0">
                <a:solidFill>
                  <a:srgbClr val="193F61"/>
                </a:solidFill>
                <a:latin typeface="Calibri"/>
              </a:rPr>
              <a:t>Conditional purchasing</a:t>
            </a:r>
          </a:p>
        </p:txBody>
      </p:sp>
      <p:sp>
        <p:nvSpPr>
          <p:cNvPr id="95" name="Channel text 3"/>
          <p:cNvSpPr txBox="1"/>
          <p:nvPr/>
        </p:nvSpPr>
        <p:spPr>
          <a:xfrm>
            <a:off x="1554480" y="4590288"/>
            <a:ext cx="4389120" cy="7772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In-house awards require control and &gt; 80% entrusted activity (Teckal); the CJEU’s Jan 2026 judgment raised uncertainty.</a:t>
            </a:r>
          </a:p>
        </p:txBody>
      </p:sp>
      <p:sp>
        <p:nvSpPr>
          <p:cNvPr id="96" name="TextBox 95"/>
          <p:cNvSpPr txBox="1"/>
          <p:nvPr/>
        </p:nvSpPr>
        <p:spPr>
          <a:xfrm>
            <a:off x="6263640" y="1783080"/>
            <a:ext cx="5349240" cy="292608"/>
          </a:xfrm>
          <a:prstGeom prst="rect">
            <a:avLst/>
          </a:prstGeom>
          <a:noFill/>
        </p:spPr>
        <p:txBody>
          <a:bodyPr wrap="square" lIns="0" tIns="0" rIns="0" bIns="0" anchor="t">
            <a:noAutofit/>
          </a:bodyPr>
          <a:lstStyle/>
          <a:p>
            <a:pPr algn="ctr">
              <a:spcAft>
                <a:spcPts val="0"/>
              </a:spcAft>
            </a:pPr>
            <a:r>
              <a:rPr sz="1500" b="1" i="0">
                <a:solidFill>
                  <a:srgbClr val="193F61"/>
                </a:solidFill>
                <a:latin typeface="Calibri"/>
              </a:rPr>
              <a:t>Malmö’s dual role in SkyZero</a:t>
            </a:r>
          </a:p>
        </p:txBody>
      </p:sp>
      <p:sp>
        <p:nvSpPr>
          <p:cNvPr id="97" name="Malmo box"/>
          <p:cNvSpPr/>
          <p:nvPr/>
        </p:nvSpPr>
        <p:spPr>
          <a:xfrm>
            <a:off x="7863840" y="2148840"/>
            <a:ext cx="2148840" cy="502920"/>
          </a:xfrm>
          <a:prstGeom prst="roundRect">
            <a:avLst>
              <a:gd name="adj" fmla="val 14545"/>
            </a:avLst>
          </a:prstGeom>
          <a:solidFill>
            <a:srgbClr val="193F6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36576" rIns="36576" bIns="36576">
            <a:noAutofit/>
          </a:bodyPr>
          <a:lstStyle/>
          <a:p>
            <a:pPr algn="ctr">
              <a:spcAft>
                <a:spcPts val="0"/>
              </a:spcAft>
            </a:pPr>
            <a:r>
              <a:rPr sz="1400" b="1" i="0">
                <a:solidFill>
                  <a:srgbClr val="FFFFFF"/>
                </a:solidFill>
                <a:latin typeface="Calibri"/>
              </a:rPr>
              <a:t>Malmö (owner)</a:t>
            </a:r>
          </a:p>
        </p:txBody>
      </p:sp>
      <p:sp>
        <p:nvSpPr>
          <p:cNvPr id="98" name="SkyZero box"/>
          <p:cNvSpPr/>
          <p:nvPr/>
        </p:nvSpPr>
        <p:spPr>
          <a:xfrm>
            <a:off x="7863840" y="4224528"/>
            <a:ext cx="2148840" cy="502920"/>
          </a:xfrm>
          <a:prstGeom prst="roundRect">
            <a:avLst>
              <a:gd name="adj" fmla="val 14545"/>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tIns="36576" rIns="36576" bIns="36576">
            <a:noAutofit/>
          </a:bodyPr>
          <a:lstStyle/>
          <a:p>
            <a:pPr algn="ctr">
              <a:spcAft>
                <a:spcPts val="0"/>
              </a:spcAft>
            </a:pPr>
            <a:r>
              <a:rPr sz="1400" b="1" i="0">
                <a:solidFill>
                  <a:srgbClr val="193F61"/>
                </a:solidFill>
                <a:latin typeface="Calibri"/>
              </a:rPr>
              <a:t>Sysav · SkyZero</a:t>
            </a:r>
          </a:p>
        </p:txBody>
      </p:sp>
      <p:cxnSp>
        <p:nvCxnSpPr>
          <p:cNvPr id="99" name="Connector 98"/>
          <p:cNvCxnSpPr/>
          <p:nvPr/>
        </p:nvCxnSpPr>
        <p:spPr>
          <a:xfrm>
            <a:off x="8366760" y="2651760"/>
            <a:ext cx="0" cy="1572768"/>
          </a:xfrm>
          <a:prstGeom prst="line">
            <a:avLst/>
          </a:prstGeom>
          <a:ln w="25400">
            <a:solidFill>
              <a:srgbClr val="1044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9509760" y="2651760"/>
            <a:ext cx="0" cy="1572768"/>
          </a:xfrm>
          <a:prstGeom prst="line">
            <a:avLst/>
          </a:prstGeom>
          <a:ln w="25400">
            <a:solidFill>
              <a:srgbClr val="12915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1" name="Guarantor label"/>
          <p:cNvSpPr/>
          <p:nvPr/>
        </p:nvSpPr>
        <p:spPr>
          <a:xfrm>
            <a:off x="6263640" y="2816352"/>
            <a:ext cx="1920240" cy="1261872"/>
          </a:xfrm>
          <a:prstGeom prst="roundRect">
            <a:avLst>
              <a:gd name="adj" fmla="val 5797"/>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73152" bIns="73152">
            <a:noAutofit/>
          </a:bodyPr>
          <a:lstStyle/>
          <a:p>
            <a:pPr algn="l">
              <a:spcAft>
                <a:spcPts val="300"/>
              </a:spcAft>
            </a:pPr>
            <a:r>
              <a:rPr sz="1300" b="1" i="0">
                <a:solidFill>
                  <a:srgbClr val="104486"/>
                </a:solidFill>
                <a:latin typeface="Calibri"/>
              </a:rPr>
              <a:t>As guarantor</a:t>
            </a:r>
          </a:p>
          <a:p>
            <a:pPr algn="l">
              <a:spcAft>
                <a:spcPts val="0"/>
              </a:spcAft>
            </a:pPr>
            <a:r>
              <a:rPr sz="1300" b="0" i="0">
                <a:solidFill>
                  <a:srgbClr val="1E2B3A"/>
                </a:solidFill>
                <a:latin typeface="Calibri"/>
              </a:rPr>
              <a:t>SEK 1.2bn ceiling → borrowing exposure</a:t>
            </a:r>
          </a:p>
        </p:txBody>
      </p:sp>
      <p:sp>
        <p:nvSpPr>
          <p:cNvPr id="102" name="Customer label"/>
          <p:cNvSpPr/>
          <p:nvPr/>
        </p:nvSpPr>
        <p:spPr>
          <a:xfrm>
            <a:off x="9692640" y="2816352"/>
            <a:ext cx="1920240" cy="1261872"/>
          </a:xfrm>
          <a:prstGeom prst="roundRect">
            <a:avLst>
              <a:gd name="adj" fmla="val 5797"/>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73152" bIns="73152">
            <a:noAutofit/>
          </a:bodyPr>
          <a:lstStyle/>
          <a:p>
            <a:pPr algn="l">
              <a:spcAft>
                <a:spcPts val="300"/>
              </a:spcAft>
            </a:pPr>
            <a:r>
              <a:rPr sz="1300" b="1" i="0">
                <a:solidFill>
                  <a:srgbClr val="129152"/>
                </a:solidFill>
                <a:latin typeface="Calibri"/>
              </a:rPr>
              <a:t>As customer</a:t>
            </a:r>
          </a:p>
          <a:p>
            <a:pPr algn="l">
              <a:spcAft>
                <a:spcPts val="0"/>
              </a:spcAft>
            </a:pPr>
            <a:r>
              <a:rPr sz="1300" b="0" i="0">
                <a:solidFill>
                  <a:srgbClr val="1E2B3A"/>
                </a:solidFill>
                <a:latin typeface="Calibri"/>
              </a:rPr>
              <a:t>Carbon-removal purchases → subject to procurement law</a:t>
            </a:r>
          </a:p>
        </p:txBody>
      </p:sp>
      <p:sp>
        <p:nvSpPr>
          <p:cNvPr id="103" name="Dual role takeaway"/>
          <p:cNvSpPr/>
          <p:nvPr/>
        </p:nvSpPr>
        <p:spPr>
          <a:xfrm>
            <a:off x="6263640" y="4892040"/>
            <a:ext cx="5349240" cy="548640"/>
          </a:xfrm>
          <a:prstGeom prst="roundRect">
            <a:avLst>
              <a:gd name="adj" fmla="val 16666"/>
            </a:avLst>
          </a:prstGeom>
          <a:solidFill>
            <a:srgbClr val="D6E0EA"/>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36576" rIns="182880" bIns="36576">
            <a:noAutofit/>
          </a:bodyPr>
          <a:lstStyle/>
          <a:p>
            <a:pPr algn="ctr">
              <a:spcAft>
                <a:spcPts val="0"/>
              </a:spcAft>
            </a:pPr>
            <a:r>
              <a:rPr sz="1300" b="0" i="1">
                <a:solidFill>
                  <a:srgbClr val="193F61"/>
                </a:solidFill>
                <a:latin typeface="Calibri"/>
              </a:rPr>
              <a:t>Ownership did not remove the procurement condition when the owner considered becoming a customer</a:t>
            </a:r>
          </a:p>
        </p:txBody>
      </p:sp>
    </p:spTree>
    <p:extLst>
      <p:ext uri="{BB962C8B-B14F-4D97-AF65-F5344CB8AC3E}">
        <p14:creationId xmlns:p14="http://schemas.microsoft.com/office/powerpoint/2010/main" val="382855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Contributions and implications</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12</a:t>
            </a:r>
          </a:p>
        </p:txBody>
      </p:sp>
      <p:sp>
        <p:nvSpPr>
          <p:cNvPr id="87" name="Contribution card 1"/>
          <p:cNvSpPr/>
          <p:nvPr/>
        </p:nvSpPr>
        <p:spPr>
          <a:xfrm>
            <a:off x="914400" y="1810512"/>
            <a:ext cx="5212080" cy="1691640"/>
          </a:xfrm>
          <a:prstGeom prst="roundRect">
            <a:avLst>
              <a:gd name="adj" fmla="val 4324"/>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88" name="Oval 87"/>
          <p:cNvSpPr/>
          <p:nvPr/>
        </p:nvSpPr>
        <p:spPr>
          <a:xfrm>
            <a:off x="1143000" y="2039112"/>
            <a:ext cx="420624" cy="420624"/>
          </a:xfrm>
          <a:prstGeom prst="ellipse">
            <a:avLst/>
          </a:prstGeom>
          <a:solidFill>
            <a:srgbClr val="10448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1</a:t>
            </a:r>
          </a:p>
        </p:txBody>
      </p:sp>
      <p:sp>
        <p:nvSpPr>
          <p:cNvPr id="89" name="TextBox 88"/>
          <p:cNvSpPr txBox="1"/>
          <p:nvPr/>
        </p:nvSpPr>
        <p:spPr>
          <a:xfrm>
            <a:off x="1737360" y="2011680"/>
            <a:ext cx="4206240" cy="34747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Coordination among owners</a:t>
            </a:r>
          </a:p>
        </p:txBody>
      </p:sp>
      <p:sp>
        <p:nvSpPr>
          <p:cNvPr id="90" name="Contribution text 1"/>
          <p:cNvSpPr txBox="1"/>
          <p:nvPr/>
        </p:nvSpPr>
        <p:spPr>
          <a:xfrm>
            <a:off x="1737360" y="2414016"/>
            <a:ext cx="4206240" cy="10058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Agreement on direction can coexist with different positions on the obligations needed to act: examine agreement at the level of expenditure and income (Voorn et al. 2019, 2022).</a:t>
            </a:r>
          </a:p>
        </p:txBody>
      </p:sp>
      <p:sp>
        <p:nvSpPr>
          <p:cNvPr id="91" name="Contribution card 2"/>
          <p:cNvSpPr/>
          <p:nvPr/>
        </p:nvSpPr>
        <p:spPr>
          <a:xfrm>
            <a:off x="6400800" y="1810512"/>
            <a:ext cx="5212080" cy="1691640"/>
          </a:xfrm>
          <a:prstGeom prst="roundRect">
            <a:avLst>
              <a:gd name="adj" fmla="val 4324"/>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2" name="Oval 91"/>
          <p:cNvSpPr/>
          <p:nvPr/>
        </p:nvSpPr>
        <p:spPr>
          <a:xfrm>
            <a:off x="6629400" y="2039112"/>
            <a:ext cx="420624" cy="420624"/>
          </a:xfrm>
          <a:prstGeom prst="ellipse">
            <a:avLst/>
          </a:prstGeom>
          <a:solidFill>
            <a:srgbClr val="129152"/>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2</a:t>
            </a:r>
          </a:p>
        </p:txBody>
      </p:sp>
      <p:sp>
        <p:nvSpPr>
          <p:cNvPr id="93" name="TextBox 92"/>
          <p:cNvSpPr txBox="1"/>
          <p:nvPr/>
        </p:nvSpPr>
        <p:spPr>
          <a:xfrm>
            <a:off x="7223760" y="2011680"/>
            <a:ext cx="4206240" cy="34747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Public service ecosystems</a:t>
            </a:r>
          </a:p>
        </p:txBody>
      </p:sp>
      <p:sp>
        <p:nvSpPr>
          <p:cNvPr id="94" name="Contribution text 2"/>
          <p:cNvSpPr txBox="1"/>
          <p:nvPr/>
        </p:nvSpPr>
        <p:spPr>
          <a:xfrm>
            <a:off x="7223760" y="2414016"/>
            <a:ext cx="4206240" cy="10058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Mediation of public values takes material and financial form: which option a council accepts, which company pays for heat, on what terms a city buys carbon removals.</a:t>
            </a:r>
          </a:p>
        </p:txBody>
      </p:sp>
      <p:sp>
        <p:nvSpPr>
          <p:cNvPr id="95" name="Contribution card 3"/>
          <p:cNvSpPr/>
          <p:nvPr/>
        </p:nvSpPr>
        <p:spPr>
          <a:xfrm>
            <a:off x="914400" y="3685032"/>
            <a:ext cx="5212080" cy="1691640"/>
          </a:xfrm>
          <a:prstGeom prst="roundRect">
            <a:avLst>
              <a:gd name="adj" fmla="val 4324"/>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96" name="Oval 95"/>
          <p:cNvSpPr/>
          <p:nvPr/>
        </p:nvSpPr>
        <p:spPr>
          <a:xfrm>
            <a:off x="1143000" y="3913632"/>
            <a:ext cx="420624" cy="420624"/>
          </a:xfrm>
          <a:prstGeom prst="ellipse">
            <a:avLst/>
          </a:prstGeom>
          <a:solidFill>
            <a:srgbClr val="4C886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FFFFFF"/>
                </a:solidFill>
                <a:latin typeface="Arial"/>
              </a:rPr>
              <a:t>3</a:t>
            </a:r>
          </a:p>
        </p:txBody>
      </p:sp>
      <p:sp>
        <p:nvSpPr>
          <p:cNvPr id="97" name="TextBox 96"/>
          <p:cNvSpPr txBox="1"/>
          <p:nvPr/>
        </p:nvSpPr>
        <p:spPr>
          <a:xfrm>
            <a:off x="1737360" y="3886200"/>
            <a:ext cx="4206240" cy="34747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Service continuity</a:t>
            </a:r>
          </a:p>
        </p:txBody>
      </p:sp>
      <p:sp>
        <p:nvSpPr>
          <p:cNvPr id="98" name="Contribution text 3"/>
          <p:cNvSpPr txBox="1"/>
          <p:nvPr/>
        </p:nvSpPr>
        <p:spPr>
          <a:xfrm>
            <a:off x="1737360" y="4288536"/>
            <a:ext cx="4206240" cy="10058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Transition conditions include when existing production can cease (replacement heat before Hanasaari B) and how costs may reach consumers.</a:t>
            </a:r>
          </a:p>
        </p:txBody>
      </p:sp>
      <p:sp>
        <p:nvSpPr>
          <p:cNvPr id="99" name="Contribution card 4"/>
          <p:cNvSpPr/>
          <p:nvPr/>
        </p:nvSpPr>
        <p:spPr>
          <a:xfrm>
            <a:off x="6400800" y="3685032"/>
            <a:ext cx="5212080" cy="1691640"/>
          </a:xfrm>
          <a:prstGeom prst="roundRect">
            <a:avLst>
              <a:gd name="adj" fmla="val 4324"/>
            </a:avLst>
          </a:prstGeom>
          <a:solidFill>
            <a:srgbClr val="FFFFFF"/>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09728" tIns="109728" rIns="109728" bIns="109728">
            <a:noAutofit/>
          </a:bodyPr>
          <a:lstStyle/>
          <a:p>
            <a:pPr algn="ctr"/>
          </a:p>
        </p:txBody>
      </p:sp>
      <p:sp>
        <p:nvSpPr>
          <p:cNvPr id="100" name="Oval 99"/>
          <p:cNvSpPr/>
          <p:nvPr/>
        </p:nvSpPr>
        <p:spPr>
          <a:xfrm>
            <a:off x="6629400" y="3913632"/>
            <a:ext cx="420624" cy="420624"/>
          </a:xfrm>
          <a:prstGeom prst="ellipse">
            <a:avLst/>
          </a:prstGeom>
          <a:solidFill>
            <a:srgbClr val="EEBC37"/>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spcAft>
                <a:spcPts val="0"/>
              </a:spcAft>
            </a:pPr>
            <a:r>
              <a:rPr sz="1600" b="1" i="0">
                <a:solidFill>
                  <a:srgbClr val="193F61"/>
                </a:solidFill>
                <a:latin typeface="Arial"/>
              </a:rPr>
              <a:t>4</a:t>
            </a:r>
          </a:p>
        </p:txBody>
      </p:sp>
      <p:sp>
        <p:nvSpPr>
          <p:cNvPr id="101" name="TextBox 100"/>
          <p:cNvSpPr txBox="1"/>
          <p:nvPr/>
        </p:nvSpPr>
        <p:spPr>
          <a:xfrm>
            <a:off x="7223760" y="3886200"/>
            <a:ext cx="4206240" cy="347472"/>
          </a:xfrm>
          <a:prstGeom prst="rect">
            <a:avLst/>
          </a:prstGeom>
          <a:noFill/>
        </p:spPr>
        <p:txBody>
          <a:bodyPr wrap="square" lIns="0" tIns="0" rIns="0" bIns="0" anchor="ctr">
            <a:noAutofit/>
          </a:bodyPr>
          <a:lstStyle/>
          <a:p>
            <a:pPr algn="l">
              <a:spcAft>
                <a:spcPts val="0"/>
              </a:spcAft>
            </a:pPr>
            <a:r>
              <a:rPr sz="1700" b="1" i="0">
                <a:solidFill>
                  <a:srgbClr val="193F61"/>
                </a:solidFill>
                <a:latin typeface="Arial"/>
              </a:rPr>
              <a:t>For owners and managers</a:t>
            </a:r>
          </a:p>
        </p:txBody>
      </p:sp>
      <p:sp>
        <p:nvSpPr>
          <p:cNvPr id="102" name="Contribution text 4"/>
          <p:cNvSpPr txBox="1"/>
          <p:nvPr/>
        </p:nvSpPr>
        <p:spPr>
          <a:xfrm>
            <a:off x="7223760" y="4288536"/>
            <a:ext cx="4206240" cy="1005840"/>
          </a:xfrm>
          <a:prstGeom prst="rect">
            <a:avLst/>
          </a:prstGeom>
          <a:noFill/>
        </p:spPr>
        <p:txBody>
          <a:bodyPr wrap="square" lIns="0" tIns="0" rIns="0" bIns="0" anchor="t">
            <a:noAutofit/>
          </a:bodyPr>
          <a:lstStyle/>
          <a:p>
            <a:pPr algn="l">
              <a:spcAft>
                <a:spcPts val="0"/>
              </a:spcAft>
            </a:pPr>
            <a:r>
              <a:rPr sz="1400" b="0" i="0">
                <a:solidFill>
                  <a:srgbClr val="1E2B3A"/>
                </a:solidFill>
                <a:latin typeface="Calibri"/>
              </a:rPr>
              <a:t>Make each commitment’s scope explicit: alternatives, who accepts each cost, revenue conditions and decisions outstanding. Rule interpretation belongs in the appraisal.</a:t>
            </a:r>
          </a:p>
        </p:txBody>
      </p:sp>
    </p:spTree>
    <p:extLst>
      <p:ext uri="{BB962C8B-B14F-4D97-AF65-F5344CB8AC3E}">
        <p14:creationId xmlns:p14="http://schemas.microsoft.com/office/powerpoint/2010/main" val="382855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270C-F905-C819-6B17-F9223C35C1B3}"/>
            </a:ext>
          </a:extLst>
        </p:cNvPr>
        <p:cNvGrpSpPr/>
        <p:nvPr/>
      </p:nvGrpSpPr>
      <p:grpSpPr>
        <a:xfrm>
          <a:off x="0" y="0"/>
          <a:ext cx="0" cy="0"/>
          <a:chOff x="0" y="0"/>
          <a:chExt cx="0" cy="0"/>
        </a:xfrm>
      </p:grpSpPr>
      <p:pic>
        <p:nvPicPr>
          <p:cNvPr id="4" name="Gráfico 3">
            <a:extLst>
              <a:ext uri="{FF2B5EF4-FFF2-40B4-BE49-F238E27FC236}">
                <a16:creationId xmlns:a16="http://schemas.microsoft.com/office/drawing/2014/main" id="{538A25C1-94AE-14F9-AE63-C3BAFEC3A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6411" y="6552554"/>
            <a:ext cx="3726972" cy="268342"/>
          </a:xfrm>
          <a:prstGeom prst="rect">
            <a:avLst/>
          </a:prstGeom>
        </p:spPr>
      </p:pic>
      <p:pic>
        <p:nvPicPr>
          <p:cNvPr id="6" name="Gráfico 5">
            <a:extLst>
              <a:ext uri="{FF2B5EF4-FFF2-40B4-BE49-F238E27FC236}">
                <a16:creationId xmlns:a16="http://schemas.microsoft.com/office/drawing/2014/main" id="{4769C6E9-10D5-CA81-1CF4-721F2A149D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6411" y="6470650"/>
            <a:ext cx="257175" cy="57150"/>
          </a:xfrm>
          <a:prstGeom prst="rect">
            <a:avLst/>
          </a:prstGeom>
        </p:spPr>
      </p:pic>
      <p:grpSp>
        <p:nvGrpSpPr>
          <p:cNvPr id="8" name="Agrupar 7">
            <a:extLst>
              <a:ext uri="{FF2B5EF4-FFF2-40B4-BE49-F238E27FC236}">
                <a16:creationId xmlns:a16="http://schemas.microsoft.com/office/drawing/2014/main" id="{165D665A-5A5F-F6E5-F5B8-3C5459326FAB}"/>
              </a:ext>
            </a:extLst>
          </p:cNvPr>
          <p:cNvGrpSpPr/>
          <p:nvPr/>
        </p:nvGrpSpPr>
        <p:grpSpPr>
          <a:xfrm>
            <a:off x="0" y="6490384"/>
            <a:ext cx="6972870" cy="367616"/>
            <a:chOff x="30153" y="6499225"/>
            <a:chExt cx="6430865" cy="339041"/>
          </a:xfrm>
        </p:grpSpPr>
        <p:pic>
          <p:nvPicPr>
            <p:cNvPr id="9" name="Gráfico 8">
              <a:extLst>
                <a:ext uri="{FF2B5EF4-FFF2-40B4-BE49-F238E27FC236}">
                  <a16:creationId xmlns:a16="http://schemas.microsoft.com/office/drawing/2014/main" id="{2D4CF6CF-8DDF-8EEB-D60F-9C35F1CAD5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04727" y="6613124"/>
              <a:ext cx="2856291" cy="198064"/>
            </a:xfrm>
            <a:prstGeom prst="rect">
              <a:avLst/>
            </a:prstGeom>
          </p:spPr>
        </p:pic>
        <p:pic>
          <p:nvPicPr>
            <p:cNvPr id="10" name="Imagem 9">
              <a:extLst>
                <a:ext uri="{FF2B5EF4-FFF2-40B4-BE49-F238E27FC236}">
                  <a16:creationId xmlns:a16="http://schemas.microsoft.com/office/drawing/2014/main" id="{8BB17BA6-E79D-D82D-1B23-3F77AAE7B7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11" name="Imagem 10">
              <a:extLst>
                <a:ext uri="{FF2B5EF4-FFF2-40B4-BE49-F238E27FC236}">
                  <a16:creationId xmlns:a16="http://schemas.microsoft.com/office/drawing/2014/main" id="{6BC56B71-FC9B-412E-73E7-FAB7A62C6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12" name="Imagem 11">
              <a:extLst>
                <a:ext uri="{FF2B5EF4-FFF2-40B4-BE49-F238E27FC236}">
                  <a16:creationId xmlns:a16="http://schemas.microsoft.com/office/drawing/2014/main" id="{7FE9740E-0E77-EAEB-D9E7-B00538FF1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13" name="Imagem 12">
              <a:extLst>
                <a:ext uri="{FF2B5EF4-FFF2-40B4-BE49-F238E27FC236}">
                  <a16:creationId xmlns:a16="http://schemas.microsoft.com/office/drawing/2014/main" id="{B0214DB2-ADF6-33A1-D7EA-052969F703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4" name="Imagem 13">
              <a:extLst>
                <a:ext uri="{FF2B5EF4-FFF2-40B4-BE49-F238E27FC236}">
                  <a16:creationId xmlns:a16="http://schemas.microsoft.com/office/drawing/2014/main" id="{4EE7D548-A970-552C-241E-DD70E9AF89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5" name="Imagem 14">
              <a:extLst>
                <a:ext uri="{FF2B5EF4-FFF2-40B4-BE49-F238E27FC236}">
                  <a16:creationId xmlns:a16="http://schemas.microsoft.com/office/drawing/2014/main" id="{F934C5FB-8BD3-6359-E755-B304F6AF4A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6" name="Imagem 15">
              <a:extLst>
                <a:ext uri="{FF2B5EF4-FFF2-40B4-BE49-F238E27FC236}">
                  <a16:creationId xmlns:a16="http://schemas.microsoft.com/office/drawing/2014/main" id="{6F1734B1-99D0-A07F-7A23-0FB04CF2FA9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7" name="Imagem 16">
              <a:extLst>
                <a:ext uri="{FF2B5EF4-FFF2-40B4-BE49-F238E27FC236}">
                  <a16:creationId xmlns:a16="http://schemas.microsoft.com/office/drawing/2014/main" id="{0D3AB78A-88E0-104E-254C-17320ABE075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32" name="Gráfico 31">
            <a:extLst>
              <a:ext uri="{FF2B5EF4-FFF2-40B4-BE49-F238E27FC236}">
                <a16:creationId xmlns:a16="http://schemas.microsoft.com/office/drawing/2014/main" id="{5AA2CD8C-AB9A-6C4C-6075-86D94285232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5373" y="6475220"/>
            <a:ext cx="114300" cy="47625"/>
          </a:xfrm>
          <a:prstGeom prst="rect">
            <a:avLst/>
          </a:prstGeom>
        </p:spPr>
      </p:pic>
      <p:pic>
        <p:nvPicPr>
          <p:cNvPr id="33" name="Gráfico 32">
            <a:extLst>
              <a:ext uri="{FF2B5EF4-FFF2-40B4-BE49-F238E27FC236}">
                <a16:creationId xmlns:a16="http://schemas.microsoft.com/office/drawing/2014/main" id="{541EF446-6282-7BE5-C540-DDED1B43DCE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9867" y="6575424"/>
            <a:ext cx="891863" cy="236901"/>
          </a:xfrm>
          <a:prstGeom prst="rect">
            <a:avLst/>
          </a:prstGeom>
        </p:spPr>
      </p:pic>
      <p:pic>
        <p:nvPicPr>
          <p:cNvPr id="34" name="Gráfico 33">
            <a:extLst>
              <a:ext uri="{FF2B5EF4-FFF2-40B4-BE49-F238E27FC236}">
                <a16:creationId xmlns:a16="http://schemas.microsoft.com/office/drawing/2014/main" id="{94702DEB-73A9-FE81-61BE-3E25FEDD2A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29038" y="6473444"/>
            <a:ext cx="381000" cy="47625"/>
          </a:xfrm>
          <a:prstGeom prst="rect">
            <a:avLst/>
          </a:prstGeom>
        </p:spPr>
      </p:pic>
      <p:pic>
        <p:nvPicPr>
          <p:cNvPr id="38" name="Gráfico 37">
            <a:extLst>
              <a:ext uri="{FF2B5EF4-FFF2-40B4-BE49-F238E27FC236}">
                <a16:creationId xmlns:a16="http://schemas.microsoft.com/office/drawing/2014/main" id="{4A0DB4BF-F1EE-3DC7-6333-06A71536D71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92647" y="163229"/>
            <a:ext cx="2019523" cy="907583"/>
          </a:xfrm>
          <a:prstGeom prst="rect">
            <a:avLst/>
          </a:prstGeom>
        </p:spPr>
      </p:pic>
      <p:sp>
        <p:nvSpPr>
          <p:cNvPr id="42" name="Retângulo 41">
            <a:extLst>
              <a:ext uri="{FF2B5EF4-FFF2-40B4-BE49-F238E27FC236}">
                <a16:creationId xmlns:a16="http://schemas.microsoft.com/office/drawing/2014/main" id="{5FC567D0-1C5F-D81C-D632-11DF16658C7F}"/>
              </a:ext>
            </a:extLst>
          </p:cNvPr>
          <p:cNvSpPr/>
          <p:nvPr/>
        </p:nvSpPr>
        <p:spPr>
          <a:xfrm>
            <a:off x="2268652" y="1005408"/>
            <a:ext cx="9605652" cy="4762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7" name="Agrupar 56">
            <a:extLst>
              <a:ext uri="{FF2B5EF4-FFF2-40B4-BE49-F238E27FC236}">
                <a16:creationId xmlns:a16="http://schemas.microsoft.com/office/drawing/2014/main" id="{026F6E66-2E98-47B2-73FB-4822383D8440}"/>
              </a:ext>
            </a:extLst>
          </p:cNvPr>
          <p:cNvGrpSpPr/>
          <p:nvPr/>
        </p:nvGrpSpPr>
        <p:grpSpPr>
          <a:xfrm>
            <a:off x="9740704" y="534113"/>
            <a:ext cx="2133600" cy="471295"/>
            <a:chOff x="9855958" y="1275171"/>
            <a:chExt cx="2133600" cy="471295"/>
          </a:xfrm>
        </p:grpSpPr>
        <p:pic>
          <p:nvPicPr>
            <p:cNvPr id="46" name="Gráfico 45">
              <a:extLst>
                <a:ext uri="{FF2B5EF4-FFF2-40B4-BE49-F238E27FC236}">
                  <a16:creationId xmlns:a16="http://schemas.microsoft.com/office/drawing/2014/main" id="{2C557981-63E6-F82D-D98A-D47F1220FBF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560808" y="1275171"/>
              <a:ext cx="1428750" cy="171450"/>
            </a:xfrm>
            <a:prstGeom prst="rect">
              <a:avLst/>
            </a:prstGeom>
          </p:spPr>
        </p:pic>
        <p:pic>
          <p:nvPicPr>
            <p:cNvPr id="55" name="Gráfico 54">
              <a:extLst>
                <a:ext uri="{FF2B5EF4-FFF2-40B4-BE49-F238E27FC236}">
                  <a16:creationId xmlns:a16="http://schemas.microsoft.com/office/drawing/2014/main" id="{454E4139-B1CF-DE03-288F-FB89BBF7955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855958" y="1460716"/>
              <a:ext cx="2133600" cy="285750"/>
            </a:xfrm>
            <a:prstGeom prst="rect">
              <a:avLst/>
            </a:prstGeom>
          </p:spPr>
        </p:pic>
      </p:grpSp>
      <p:pic>
        <p:nvPicPr>
          <p:cNvPr id="82" name="Gráfico 81">
            <a:extLst>
              <a:ext uri="{FF2B5EF4-FFF2-40B4-BE49-F238E27FC236}">
                <a16:creationId xmlns:a16="http://schemas.microsoft.com/office/drawing/2014/main" id="{6B7DE8BA-CFD6-AA9D-86E8-BC79CF74EA4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0" y="2021793"/>
            <a:ext cx="12192000" cy="4347044"/>
          </a:xfrm>
          <a:prstGeom prst="rect">
            <a:avLst/>
          </a:prstGeom>
        </p:spPr>
      </p:pic>
      <p:pic>
        <p:nvPicPr>
          <p:cNvPr id="84" name="Gráfico 83">
            <a:extLst>
              <a:ext uri="{FF2B5EF4-FFF2-40B4-BE49-F238E27FC236}">
                <a16:creationId xmlns:a16="http://schemas.microsoft.com/office/drawing/2014/main" id="{4B7BAE42-3D55-A319-2AF1-8F73A81AFFF4}"/>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68728" y="1277398"/>
            <a:ext cx="11205575" cy="4575193"/>
          </a:xfrm>
          <a:prstGeom prst="rect">
            <a:avLst/>
          </a:prstGeom>
        </p:spPr>
      </p:pic>
      <p:sp>
        <p:nvSpPr>
          <p:cNvPr id="85" name="Title"/>
          <p:cNvSpPr txBox="1"/>
          <p:nvPr/>
        </p:nvSpPr>
        <p:spPr>
          <a:xfrm>
            <a:off x="914400" y="1097280"/>
            <a:ext cx="10698480" cy="566928"/>
          </a:xfrm>
          <a:prstGeom prst="rect">
            <a:avLst/>
          </a:prstGeom>
          <a:noFill/>
        </p:spPr>
        <p:txBody>
          <a:bodyPr wrap="square" lIns="0" tIns="0" rIns="0" bIns="0" anchor="ctr">
            <a:noAutofit/>
          </a:bodyPr>
          <a:lstStyle/>
          <a:p>
            <a:pPr algn="l">
              <a:spcAft>
                <a:spcPts val="0"/>
              </a:spcAft>
            </a:pPr>
            <a:r>
              <a:rPr sz="2800" b="1" i="0">
                <a:solidFill>
                  <a:srgbClr val="193F61"/>
                </a:solidFill>
                <a:latin typeface="Arial"/>
              </a:rPr>
              <a:t>Conclusion and limitations</a:t>
            </a:r>
          </a:p>
        </p:txBody>
      </p:sp>
      <p:sp>
        <p:nvSpPr>
          <p:cNvPr id="86" name="Slide number"/>
          <p:cNvSpPr txBox="1"/>
          <p:nvPr/>
        </p:nvSpPr>
        <p:spPr>
          <a:xfrm>
            <a:off x="11155680" y="5522976"/>
            <a:ext cx="457200" cy="237744"/>
          </a:xfrm>
          <a:prstGeom prst="rect">
            <a:avLst/>
          </a:prstGeom>
          <a:noFill/>
        </p:spPr>
        <p:txBody>
          <a:bodyPr wrap="square" lIns="0" tIns="0" rIns="0" bIns="0" anchor="ctr">
            <a:noAutofit/>
          </a:bodyPr>
          <a:lstStyle/>
          <a:p>
            <a:pPr algn="r">
              <a:spcAft>
                <a:spcPts val="0"/>
              </a:spcAft>
            </a:pPr>
            <a:r>
              <a:rPr sz="1000" b="0" i="0">
                <a:solidFill>
                  <a:srgbClr val="566576"/>
                </a:solidFill>
                <a:latin typeface="Calibri"/>
              </a:rPr>
              <a:t>13</a:t>
            </a:r>
          </a:p>
        </p:txBody>
      </p:sp>
      <p:sp>
        <p:nvSpPr>
          <p:cNvPr id="87" name="Central finding"/>
          <p:cNvSpPr/>
          <p:nvPr/>
        </p:nvSpPr>
        <p:spPr>
          <a:xfrm>
            <a:off x="914400" y="1810512"/>
            <a:ext cx="5760720" cy="3630168"/>
          </a:xfrm>
          <a:prstGeom prst="roundRect">
            <a:avLst>
              <a:gd name="adj" fmla="val 3022"/>
            </a:avLst>
          </a:prstGeom>
          <a:solidFill>
            <a:srgbClr val="193F61"/>
          </a:solidFill>
          <a:ln>
            <a:noFill/>
          </a:ln>
          <a:effectLst>
            <a:outerShdw blurRad="63500" dist="19050" dir="5400000" algn="t" rotWithShape="0">
              <a:srgbClr val="1E2B3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0" tIns="274320" rIns="365760" bIns="274320">
            <a:noAutofit/>
          </a:bodyPr>
          <a:lstStyle/>
          <a:p>
            <a:pPr algn="l">
              <a:spcAft>
                <a:spcPts val="800"/>
              </a:spcAft>
            </a:pPr>
            <a:r>
              <a:rPr sz="1300" b="1" i="0">
                <a:solidFill>
                  <a:srgbClr val="EEBC37"/>
                </a:solidFill>
                <a:latin typeface="Arial"/>
              </a:rPr>
              <a:t>CENTRAL FINDING</a:t>
            </a:r>
          </a:p>
          <a:p>
            <a:pPr algn="l">
              <a:spcAft>
                <a:spcPts val="1200"/>
              </a:spcAft>
            </a:pPr>
            <a:r>
              <a:rPr sz="2100" b="1" i="0">
                <a:solidFill>
                  <a:srgbClr val="FFFFFF"/>
                </a:solidFill>
                <a:latin typeface="Calibri"/>
              </a:rPr>
              <a:t>Owner support can advance a politically endorsed proposal while commercial appraisal or revenue conditions remain adverse or unsettled.</a:t>
            </a:r>
          </a:p>
          <a:p>
            <a:pPr algn="l">
              <a:spcAft>
                <a:spcPts val="0"/>
              </a:spcAft>
            </a:pPr>
            <a:r>
              <a:rPr sz="1450" b="0" i="0">
                <a:solidFill>
                  <a:srgbClr val="D6E0EA"/>
                </a:solidFill>
                <a:latin typeface="Calibri"/>
              </a:rPr>
              <a:t>Public ownership matters through the authority and relationships used to negotiate expenditure, financing and recovery. Financing intervention alone is not a settled business case.</a:t>
            </a:r>
          </a:p>
        </p:txBody>
      </p:sp>
      <p:sp>
        <p:nvSpPr>
          <p:cNvPr id="88" name="TextBox 87"/>
          <p:cNvSpPr txBox="1"/>
          <p:nvPr/>
        </p:nvSpPr>
        <p:spPr>
          <a:xfrm>
            <a:off x="7086600" y="1810512"/>
            <a:ext cx="4526280" cy="329184"/>
          </a:xfrm>
          <a:prstGeom prst="rect">
            <a:avLst/>
          </a:prstGeom>
          <a:noFill/>
        </p:spPr>
        <p:txBody>
          <a:bodyPr wrap="square" lIns="0" tIns="0" rIns="0" bIns="0" anchor="t">
            <a:noAutofit/>
          </a:bodyPr>
          <a:lstStyle/>
          <a:p>
            <a:pPr algn="l">
              <a:spcAft>
                <a:spcPts val="0"/>
              </a:spcAft>
            </a:pPr>
            <a:r>
              <a:rPr sz="1700" b="1" i="0">
                <a:solidFill>
                  <a:srgbClr val="193F61"/>
                </a:solidFill>
                <a:latin typeface="Arial"/>
              </a:rPr>
              <a:t>Limitations</a:t>
            </a:r>
          </a:p>
        </p:txBody>
      </p:sp>
      <p:sp>
        <p:nvSpPr>
          <p:cNvPr id="89" name="Limitations list"/>
          <p:cNvSpPr txBox="1"/>
          <p:nvPr/>
        </p:nvSpPr>
        <p:spPr>
          <a:xfrm>
            <a:off x="7086600" y="2194560"/>
            <a:ext cx="4526280" cy="2011680"/>
          </a:xfrm>
          <a:prstGeom prst="rect">
            <a:avLst/>
          </a:prstGeom>
          <a:noFill/>
        </p:spPr>
        <p:txBody>
          <a:bodyPr wrap="square" lIns="0" tIns="0" rIns="0" bIns="0" anchor="t">
            <a:noAutofit/>
          </a:bodyPr>
          <a:lstStyle/>
          <a:p>
            <a:pPr algn="l" marL="201168" indent="-201168">
              <a:spcAft>
                <a:spcPts val="500"/>
              </a:spcAft>
              <a:buClr>
                <a:srgbClr val="129152"/>
              </a:buClr>
              <a:buFont typeface="Arial"/>
              <a:buChar char="•"/>
            </a:pPr>
            <a:r>
              <a:rPr sz="1400" b="0" i="0">
                <a:solidFill>
                  <a:srgbClr val="1E2B3A"/>
                </a:solidFill>
                <a:latin typeface="Calibri"/>
              </a:rPr>
              <a:t>Evidence is uneven across projects and stages</a:t>
            </a:r>
          </a:p>
          <a:p>
            <a:pPr algn="l" marL="201168" indent="-201168">
              <a:spcAft>
                <a:spcPts val="500"/>
              </a:spcAft>
              <a:buClr>
                <a:srgbClr val="129152"/>
              </a:buClr>
              <a:buFont typeface="Arial"/>
              <a:buChar char="•"/>
            </a:pPr>
            <a:r>
              <a:rPr sz="1400" b="0" i="0">
                <a:solidFill>
                  <a:srgbClr val="1E2B3A"/>
                </a:solidFill>
                <a:latin typeface="Calibri"/>
              </a:rPr>
              <a:t>Documents show formal decisions more readily than informal negotiation</a:t>
            </a:r>
          </a:p>
          <a:p>
            <a:pPr algn="l" marL="201168" indent="-201168">
              <a:spcAft>
                <a:spcPts val="500"/>
              </a:spcAft>
              <a:buClr>
                <a:srgbClr val="129152"/>
              </a:buClr>
              <a:buFont typeface="Arial"/>
              <a:buChar char="•"/>
            </a:pPr>
            <a:r>
              <a:rPr sz="1400" b="0" i="0">
                <a:solidFill>
                  <a:srgbClr val="1E2B3A"/>
                </a:solidFill>
                <a:latin typeface="Calibri"/>
              </a:rPr>
              <a:t>No national effects isolated; not every financing and recovery condition observed</a:t>
            </a:r>
          </a:p>
          <a:p>
            <a:pPr algn="l" marL="201168" indent="-201168">
              <a:spcAft>
                <a:spcPts val="500"/>
              </a:spcAft>
              <a:buClr>
                <a:srgbClr val="129152"/>
              </a:buClr>
              <a:buFont typeface="Arial"/>
              <a:buChar char="•"/>
            </a:pPr>
            <a:r>
              <a:rPr sz="1400" b="0" i="0">
                <a:solidFill>
                  <a:srgbClr val="1E2B3A"/>
                </a:solidFill>
                <a:latin typeface="Calibri"/>
              </a:rPr>
              <a:t>Reported operating costs are not returns on an earlier choice</a:t>
            </a:r>
          </a:p>
        </p:txBody>
      </p:sp>
      <p:sp>
        <p:nvSpPr>
          <p:cNvPr id="90" name="Next step"/>
          <p:cNvSpPr/>
          <p:nvPr/>
        </p:nvSpPr>
        <p:spPr>
          <a:xfrm>
            <a:off x="7086600" y="4315968"/>
            <a:ext cx="4526280" cy="1124712"/>
          </a:xfrm>
          <a:prstGeom prst="roundRect">
            <a:avLst>
              <a:gd name="adj" fmla="val 8130"/>
            </a:avLst>
          </a:prstGeom>
          <a:solidFill>
            <a:srgbClr val="FBF0CC"/>
          </a:solidFill>
          <a:ln>
            <a:noFill/>
          </a:ln>
        </p:spPr>
        <p:style>
          <a:lnRef idx="1">
            <a:schemeClr val="accent1"/>
          </a:lnRef>
          <a:fillRef idx="3">
            <a:schemeClr val="accent1"/>
          </a:fillRef>
          <a:effectRef idx="2">
            <a:schemeClr val="accent1"/>
          </a:effectRef>
          <a:fontRef idx="minor">
            <a:schemeClr val="lt1"/>
          </a:fontRef>
        </p:style>
        <p:txBody>
          <a:bodyPr rtlCol="0" anchor="ctr" wrap="square" lIns="201168" tIns="91440" rIns="182880" bIns="73152">
            <a:noAutofit/>
          </a:bodyPr>
          <a:lstStyle/>
          <a:p>
            <a:pPr algn="l">
              <a:spcAft>
                <a:spcPts val="200"/>
              </a:spcAft>
            </a:pPr>
            <a:r>
              <a:rPr sz="1400" b="1" i="0">
                <a:solidFill>
                  <a:srgbClr val="193F61"/>
                </a:solidFill>
                <a:latin typeface="Calibri"/>
              </a:rPr>
              <a:t>Next step</a:t>
            </a:r>
          </a:p>
          <a:p>
            <a:pPr algn="l">
              <a:spcAft>
                <a:spcPts val="0"/>
              </a:spcAft>
            </a:pPr>
            <a:r>
              <a:rPr sz="1400" b="0" i="0">
                <a:solidFill>
                  <a:srgbClr val="1E2B3A"/>
                </a:solidFill>
                <a:latin typeface="Calibri"/>
              </a:rPr>
              <a:t>Follow the same projects through implementation and operation: do revisions preserve investability?</a:t>
            </a:r>
          </a:p>
        </p:txBody>
      </p:sp>
    </p:spTree>
    <p:extLst>
      <p:ext uri="{BB962C8B-B14F-4D97-AF65-F5344CB8AC3E}">
        <p14:creationId xmlns:p14="http://schemas.microsoft.com/office/powerpoint/2010/main" val="382855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85EC90F3-0B55-DE10-9CE4-D32BFCD08F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2067823"/>
            <a:ext cx="12192000" cy="4347044"/>
          </a:xfrm>
          <a:prstGeom prst="rect">
            <a:avLst/>
          </a:prstGeom>
        </p:spPr>
      </p:pic>
      <p:pic>
        <p:nvPicPr>
          <p:cNvPr id="9" name="Gráfico 8">
            <a:extLst>
              <a:ext uri="{FF2B5EF4-FFF2-40B4-BE49-F238E27FC236}">
                <a16:creationId xmlns:a16="http://schemas.microsoft.com/office/drawing/2014/main" id="{952245CF-F256-4864-53D4-CCB96AE849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696" y="332422"/>
            <a:ext cx="3486202" cy="1566716"/>
          </a:xfrm>
          <a:prstGeom prst="rect">
            <a:avLst/>
          </a:prstGeom>
        </p:spPr>
      </p:pic>
      <p:pic>
        <p:nvPicPr>
          <p:cNvPr id="11" name="Gráfico 10">
            <a:extLst>
              <a:ext uri="{FF2B5EF4-FFF2-40B4-BE49-F238E27FC236}">
                <a16:creationId xmlns:a16="http://schemas.microsoft.com/office/drawing/2014/main" id="{70994BE6-7773-B795-CCB4-751550EC48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9087" y="2363373"/>
            <a:ext cx="10233826" cy="1660940"/>
          </a:xfrm>
          <a:prstGeom prst="rect">
            <a:avLst/>
          </a:prstGeom>
        </p:spPr>
      </p:pic>
      <p:sp>
        <p:nvSpPr>
          <p:cNvPr id="14" name="Retângulo 13">
            <a:extLst>
              <a:ext uri="{FF2B5EF4-FFF2-40B4-BE49-F238E27FC236}">
                <a16:creationId xmlns:a16="http://schemas.microsoft.com/office/drawing/2014/main" id="{261E66AB-B40E-B874-1D2F-8395BEE965A7}"/>
              </a:ext>
            </a:extLst>
          </p:cNvPr>
          <p:cNvSpPr/>
          <p:nvPr/>
        </p:nvSpPr>
        <p:spPr>
          <a:xfrm>
            <a:off x="3869139" y="1760561"/>
            <a:ext cx="8120419" cy="61415"/>
          </a:xfrm>
          <a:prstGeom prst="rect">
            <a:avLst/>
          </a:prstGeom>
          <a:solidFill>
            <a:srgbClr val="193F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6" name="Gráfico 15">
            <a:extLst>
              <a:ext uri="{FF2B5EF4-FFF2-40B4-BE49-F238E27FC236}">
                <a16:creationId xmlns:a16="http://schemas.microsoft.com/office/drawing/2014/main" id="{4E51E30B-272E-E38E-9058-65C4BC1D62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60808" y="1275171"/>
            <a:ext cx="1428750" cy="171450"/>
          </a:xfrm>
          <a:prstGeom prst="rect">
            <a:avLst/>
          </a:prstGeom>
        </p:spPr>
      </p:pic>
      <p:pic>
        <p:nvPicPr>
          <p:cNvPr id="28" name="Gráfico 27">
            <a:extLst>
              <a:ext uri="{FF2B5EF4-FFF2-40B4-BE49-F238E27FC236}">
                <a16:creationId xmlns:a16="http://schemas.microsoft.com/office/drawing/2014/main" id="{2259AFDF-A74C-FB37-0857-65B8468E823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55958" y="1471472"/>
            <a:ext cx="2133600" cy="285750"/>
          </a:xfrm>
          <a:prstGeom prst="rect">
            <a:avLst/>
          </a:prstGeom>
        </p:spPr>
      </p:pic>
      <p:pic>
        <p:nvPicPr>
          <p:cNvPr id="40" name="Gráfico 39">
            <a:extLst>
              <a:ext uri="{FF2B5EF4-FFF2-40B4-BE49-F238E27FC236}">
                <a16:creationId xmlns:a16="http://schemas.microsoft.com/office/drawing/2014/main" id="{E69258B4-5B1F-54A5-1B6D-3F0F81D9AFE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86411" y="6552554"/>
            <a:ext cx="3726972" cy="268342"/>
          </a:xfrm>
          <a:prstGeom prst="rect">
            <a:avLst/>
          </a:prstGeom>
        </p:spPr>
      </p:pic>
      <p:pic>
        <p:nvPicPr>
          <p:cNvPr id="44" name="Gráfico 43">
            <a:extLst>
              <a:ext uri="{FF2B5EF4-FFF2-40B4-BE49-F238E27FC236}">
                <a16:creationId xmlns:a16="http://schemas.microsoft.com/office/drawing/2014/main" id="{3667D6E6-8665-9E11-6A32-9FEAFBB4F7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86411" y="6470650"/>
            <a:ext cx="257175" cy="57150"/>
          </a:xfrm>
          <a:prstGeom prst="rect">
            <a:avLst/>
          </a:prstGeom>
        </p:spPr>
      </p:pic>
      <p:grpSp>
        <p:nvGrpSpPr>
          <p:cNvPr id="110" name="Agrupar 109">
            <a:extLst>
              <a:ext uri="{FF2B5EF4-FFF2-40B4-BE49-F238E27FC236}">
                <a16:creationId xmlns:a16="http://schemas.microsoft.com/office/drawing/2014/main" id="{5D912160-7944-FECF-6195-70CAEB3C0D85}"/>
              </a:ext>
            </a:extLst>
          </p:cNvPr>
          <p:cNvGrpSpPr/>
          <p:nvPr/>
        </p:nvGrpSpPr>
        <p:grpSpPr>
          <a:xfrm>
            <a:off x="0" y="6490384"/>
            <a:ext cx="6972870" cy="367616"/>
            <a:chOff x="30153" y="6499225"/>
            <a:chExt cx="6430865" cy="339041"/>
          </a:xfrm>
        </p:grpSpPr>
        <p:pic>
          <p:nvPicPr>
            <p:cNvPr id="48" name="Gráfico 47">
              <a:extLst>
                <a:ext uri="{FF2B5EF4-FFF2-40B4-BE49-F238E27FC236}">
                  <a16:creationId xmlns:a16="http://schemas.microsoft.com/office/drawing/2014/main" id="{CF7A3F27-BC87-E8E6-4F7C-01CF0081C71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04727" y="6613124"/>
              <a:ext cx="2856291" cy="198064"/>
            </a:xfrm>
            <a:prstGeom prst="rect">
              <a:avLst/>
            </a:prstGeom>
          </p:spPr>
        </p:pic>
        <p:pic>
          <p:nvPicPr>
            <p:cNvPr id="93" name="Imagem 92">
              <a:extLst>
                <a:ext uri="{FF2B5EF4-FFF2-40B4-BE49-F238E27FC236}">
                  <a16:creationId xmlns:a16="http://schemas.microsoft.com/office/drawing/2014/main" id="{BE7ED9E3-B0A6-9215-3B66-4C715506E40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6901" y="6622120"/>
              <a:ext cx="446995" cy="137626"/>
            </a:xfrm>
            <a:prstGeom prst="rect">
              <a:avLst/>
            </a:prstGeom>
          </p:spPr>
        </p:pic>
        <p:pic>
          <p:nvPicPr>
            <p:cNvPr id="95" name="Imagem 94">
              <a:extLst>
                <a:ext uri="{FF2B5EF4-FFF2-40B4-BE49-F238E27FC236}">
                  <a16:creationId xmlns:a16="http://schemas.microsoft.com/office/drawing/2014/main" id="{A3B989B6-0B7B-C203-E7AC-9F367AFA33C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153" y="6499225"/>
              <a:ext cx="339041" cy="339041"/>
            </a:xfrm>
            <a:prstGeom prst="rect">
              <a:avLst/>
            </a:prstGeom>
          </p:spPr>
        </p:pic>
        <p:pic>
          <p:nvPicPr>
            <p:cNvPr id="97" name="Imagem 96">
              <a:extLst>
                <a:ext uri="{FF2B5EF4-FFF2-40B4-BE49-F238E27FC236}">
                  <a16:creationId xmlns:a16="http://schemas.microsoft.com/office/drawing/2014/main" id="{A0B96C0C-6F33-0FF0-4423-F4D6F5836BF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9748" y="6547717"/>
              <a:ext cx="267977" cy="248425"/>
            </a:xfrm>
            <a:prstGeom prst="rect">
              <a:avLst/>
            </a:prstGeom>
          </p:spPr>
        </p:pic>
        <p:pic>
          <p:nvPicPr>
            <p:cNvPr id="99" name="Imagem 98">
              <a:extLst>
                <a:ext uri="{FF2B5EF4-FFF2-40B4-BE49-F238E27FC236}">
                  <a16:creationId xmlns:a16="http://schemas.microsoft.com/office/drawing/2014/main" id="{B025E56F-431C-411B-09B6-F2085FA1A3A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25574" y="6613124"/>
              <a:ext cx="481920" cy="225142"/>
            </a:xfrm>
            <a:prstGeom prst="rect">
              <a:avLst/>
            </a:prstGeom>
          </p:spPr>
        </p:pic>
        <p:pic>
          <p:nvPicPr>
            <p:cNvPr id="101" name="Imagem 100">
              <a:extLst>
                <a:ext uri="{FF2B5EF4-FFF2-40B4-BE49-F238E27FC236}">
                  <a16:creationId xmlns:a16="http://schemas.microsoft.com/office/drawing/2014/main" id="{C02C3B4A-91D4-2375-D53C-DF6DCE6FE96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80372" y="6622121"/>
              <a:ext cx="635469" cy="122245"/>
            </a:xfrm>
            <a:prstGeom prst="rect">
              <a:avLst/>
            </a:prstGeom>
          </p:spPr>
        </p:pic>
        <p:pic>
          <p:nvPicPr>
            <p:cNvPr id="103" name="Imagem 102">
              <a:extLst>
                <a:ext uri="{FF2B5EF4-FFF2-40B4-BE49-F238E27FC236}">
                  <a16:creationId xmlns:a16="http://schemas.microsoft.com/office/drawing/2014/main" id="{6F982FD0-2AAB-5F52-4DB4-0D33E1599D2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50297" y="6598186"/>
              <a:ext cx="319974" cy="198064"/>
            </a:xfrm>
            <a:prstGeom prst="rect">
              <a:avLst/>
            </a:prstGeom>
          </p:spPr>
        </p:pic>
        <p:pic>
          <p:nvPicPr>
            <p:cNvPr id="105" name="Imagem 104">
              <a:extLst>
                <a:ext uri="{FF2B5EF4-FFF2-40B4-BE49-F238E27FC236}">
                  <a16:creationId xmlns:a16="http://schemas.microsoft.com/office/drawing/2014/main" id="{F3241E10-BDDD-61EB-CE29-E96F21432C0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257705" y="6622120"/>
              <a:ext cx="434249" cy="137626"/>
            </a:xfrm>
            <a:prstGeom prst="rect">
              <a:avLst/>
            </a:prstGeom>
          </p:spPr>
        </p:pic>
        <p:pic>
          <p:nvPicPr>
            <p:cNvPr id="107" name="Imagem 106">
              <a:extLst>
                <a:ext uri="{FF2B5EF4-FFF2-40B4-BE49-F238E27FC236}">
                  <a16:creationId xmlns:a16="http://schemas.microsoft.com/office/drawing/2014/main" id="{2CB7A85D-DA13-61D9-811B-D6760A6004E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110268" y="6630825"/>
              <a:ext cx="531168" cy="165317"/>
            </a:xfrm>
            <a:prstGeom prst="rect">
              <a:avLst/>
            </a:prstGeom>
          </p:spPr>
        </p:pic>
      </p:grpSp>
      <p:pic>
        <p:nvPicPr>
          <p:cNvPr id="109" name="Gráfico 108">
            <a:extLst>
              <a:ext uri="{FF2B5EF4-FFF2-40B4-BE49-F238E27FC236}">
                <a16:creationId xmlns:a16="http://schemas.microsoft.com/office/drawing/2014/main" id="{EF6B59CC-8786-333B-51B9-79C5AACE2E7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5373" y="6475220"/>
            <a:ext cx="114300" cy="47625"/>
          </a:xfrm>
          <a:prstGeom prst="rect">
            <a:avLst/>
          </a:prstGeom>
        </p:spPr>
      </p:pic>
      <p:pic>
        <p:nvPicPr>
          <p:cNvPr id="112" name="Gráfico 111">
            <a:extLst>
              <a:ext uri="{FF2B5EF4-FFF2-40B4-BE49-F238E27FC236}">
                <a16:creationId xmlns:a16="http://schemas.microsoft.com/office/drawing/2014/main" id="{E006CA19-1187-492A-F6CA-F85253363DE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79867" y="6575424"/>
            <a:ext cx="891863" cy="236901"/>
          </a:xfrm>
          <a:prstGeom prst="rect">
            <a:avLst/>
          </a:prstGeom>
        </p:spPr>
      </p:pic>
      <p:pic>
        <p:nvPicPr>
          <p:cNvPr id="114" name="Gráfico 113">
            <a:extLst>
              <a:ext uri="{FF2B5EF4-FFF2-40B4-BE49-F238E27FC236}">
                <a16:creationId xmlns:a16="http://schemas.microsoft.com/office/drawing/2014/main" id="{DD471C64-C06D-C931-B863-18BE6E58ACDF}"/>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129038" y="6473444"/>
            <a:ext cx="381000" cy="47625"/>
          </a:xfrm>
          <a:prstGeom prst="rect">
            <a:avLst/>
          </a:prstGeom>
        </p:spPr>
      </p:pic>
      <p:sp>
        <p:nvSpPr>
          <p:cNvPr id="115" name="Closing title"/>
          <p:cNvSpPr txBox="1"/>
          <p:nvPr/>
        </p:nvSpPr>
        <p:spPr>
          <a:xfrm>
            <a:off x="978408" y="2450592"/>
            <a:ext cx="10149840" cy="685800"/>
          </a:xfrm>
          <a:prstGeom prst="rect">
            <a:avLst/>
          </a:prstGeom>
          <a:noFill/>
        </p:spPr>
        <p:txBody>
          <a:bodyPr wrap="square" lIns="0" tIns="0" rIns="0" bIns="0" anchor="t">
            <a:noAutofit/>
          </a:bodyPr>
          <a:lstStyle/>
          <a:p>
            <a:pPr algn="l">
              <a:spcAft>
                <a:spcPts val="0"/>
              </a:spcAft>
            </a:pPr>
            <a:r>
              <a:rPr sz="4000" b="1" i="0">
                <a:solidFill>
                  <a:srgbClr val="193F61"/>
                </a:solidFill>
                <a:latin typeface="Arial"/>
              </a:rPr>
              <a:t>Thank you!</a:t>
            </a:r>
          </a:p>
        </p:txBody>
      </p:sp>
      <p:sp>
        <p:nvSpPr>
          <p:cNvPr id="116" name="Closing subtitle"/>
          <p:cNvSpPr txBox="1"/>
          <p:nvPr/>
        </p:nvSpPr>
        <p:spPr>
          <a:xfrm>
            <a:off x="978408" y="3154680"/>
            <a:ext cx="10149840" cy="365760"/>
          </a:xfrm>
          <a:prstGeom prst="rect">
            <a:avLst/>
          </a:prstGeom>
          <a:noFill/>
        </p:spPr>
        <p:txBody>
          <a:bodyPr wrap="square" lIns="0" tIns="0" rIns="0" bIns="0" anchor="t">
            <a:noAutofit/>
          </a:bodyPr>
          <a:lstStyle/>
          <a:p>
            <a:pPr algn="l">
              <a:spcAft>
                <a:spcPts val="0"/>
              </a:spcAft>
            </a:pPr>
            <a:r>
              <a:rPr sz="2000" b="0" i="0">
                <a:solidFill>
                  <a:srgbClr val="129152"/>
                </a:solidFill>
                <a:latin typeface="Arial"/>
              </a:rPr>
              <a:t>Questions and comments are very welcome</a:t>
            </a:r>
          </a:p>
        </p:txBody>
      </p:sp>
      <p:sp>
        <p:nvSpPr>
          <p:cNvPr id="117" name="Contact"/>
          <p:cNvSpPr txBox="1"/>
          <p:nvPr/>
        </p:nvSpPr>
        <p:spPr>
          <a:xfrm>
            <a:off x="978408" y="3611880"/>
            <a:ext cx="9000000" cy="292608"/>
          </a:xfrm>
          <a:prstGeom prst="rect">
            <a:avLst/>
          </a:prstGeom>
          <a:noFill/>
        </p:spPr>
        <p:txBody>
          <a:bodyPr wrap="square" lIns="0" tIns="0" rIns="0" bIns="0" anchor="t">
            <a:noAutofit/>
          </a:bodyPr>
          <a:lstStyle/>
          <a:p>
            <a:pPr algn="l">
              <a:spcAft>
                <a:spcPts val="0"/>
              </a:spcAft>
            </a:pPr>
            <a:r>
              <a:rPr sz="1500" b="1" i="0">
                <a:solidFill>
                  <a:srgbClr val="193F61"/>
                </a:solidFill>
                <a:latin typeface="Calibri"/>
              </a:rPr>
              <a:t>Shin Suzuki</a:t>
            </a:r>
            <a:r>
              <a:rPr sz="1500" b="0" i="0">
                <a:solidFill>
                  <a:srgbClr val="566576"/>
                </a:solidFill>
                <a:latin typeface="Calibri"/>
              </a:rPr>
              <a:t xml:space="preserve">  ·  Faculty of Economics, Fukuyama University  ·  s.suzuki@fukuyama-u.ac.jp</a:t>
            </a:r>
          </a:p>
        </p:txBody>
      </p:sp>
    </p:spTree>
    <p:extLst>
      <p:ext uri="{BB962C8B-B14F-4D97-AF65-F5344CB8AC3E}">
        <p14:creationId xmlns:p14="http://schemas.microsoft.com/office/powerpoint/2010/main" val="246115782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2</Words>
  <Application>Microsoft Office PowerPoint</Application>
  <PresentationFormat>Widescreen</PresentationFormat>
  <Paragraphs>2</Paragraphs>
  <Slides>2</Slides>
  <Notes>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vt:i4>
      </vt:variant>
    </vt:vector>
  </HeadingPairs>
  <TitlesOfParts>
    <vt:vector size="6" baseType="lpstr">
      <vt:lpstr>Arial</vt:lpstr>
      <vt:lpstr>Calibri</vt:lpstr>
      <vt:lpstr>Calibri Light</vt:lpstr>
      <vt:lpstr>Tema do Office</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Ferreira</dc:creator>
  <cp:lastModifiedBy>Luciana Oliveira Militão</cp:lastModifiedBy>
  <cp:revision>6</cp:revision>
  <dcterms:created xsi:type="dcterms:W3CDTF">2025-03-31T20:37:47Z</dcterms:created>
  <dcterms:modified xsi:type="dcterms:W3CDTF">2026-09-30T10:06:27Z</dcterms:modified>
</cp:coreProperties>
</file>